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9424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41264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91472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0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08208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5971032"/>
            <a:ext cx="0" cy="219456"/>
          </a:xfrm>
          <a:prstGeom prst="line">
            <a:avLst/>
          </a:prstGeom>
          <a:noFill/>
          <a:ln w="30480">
            <a:solidFill>
              <a:srgbClr val="153E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5961888"/>
            <a:ext cx="219456" cy="219456"/>
          </a:xfrm>
          <a:prstGeom prst="ellipse">
            <a:avLst/>
          </a:prstGeom>
          <a:solidFill>
            <a:srgbClr val="EF7A1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FB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ESTRATÉGICA · MOVIMENTO NACIONAL PELA SEGURANÇA FERROVIÁRIA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18745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VLI enxerga
</a:t>
            </a:r>
            <a:pPr indent="0" marL="0">
              <a:lnSpc>
                <a:spcPts val="5200"/>
              </a:lnSpc>
              <a:buNone/>
            </a:pPr>
            <a:r>
              <a:rPr lang="en-US" sz="4600" dirty="0">
                <a:solidFill>
                  <a:srgbClr val="E4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 D, 23 de setembro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68580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construímos, nosso diferencial e onde queremos concentrar força — para decidirmos, juntos, o papel da VLI no comitê das concessionárias.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" y="4526280"/>
            <a:ext cx="896112" cy="365760"/>
          </a:xfrm>
          <a:prstGeom prst="roundRect">
            <a:avLst>
              <a:gd name="adj" fmla="val 50000"/>
            </a:avLst>
          </a:prstGeom>
          <a:ln w="12700">
            <a:solidFill>
              <a:srgbClr val="2C59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52628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09928" y="4526280"/>
            <a:ext cx="813816" cy="365760"/>
          </a:xfrm>
          <a:prstGeom prst="roundRect">
            <a:avLst>
              <a:gd name="adj" fmla="val 50000"/>
            </a:avLst>
          </a:prstGeom>
          <a:ln w="12700">
            <a:solidFill>
              <a:srgbClr val="2C59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09928" y="452628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51760" y="4526280"/>
            <a:ext cx="896112" cy="365760"/>
          </a:xfrm>
          <a:prstGeom prst="roundRect">
            <a:avLst>
              <a:gd name="adj" fmla="val 50000"/>
            </a:avLst>
          </a:prstGeom>
          <a:ln w="12700">
            <a:solidFill>
              <a:srgbClr val="2C59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452628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75888" y="4526280"/>
            <a:ext cx="813816" cy="365760"/>
          </a:xfrm>
          <a:prstGeom prst="roundRect">
            <a:avLst>
              <a:gd name="adj" fmla="val 50000"/>
            </a:avLst>
          </a:prstGeom>
          <a:ln w="12700">
            <a:solidFill>
              <a:srgbClr val="2C59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452628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4526280"/>
            <a:ext cx="896112" cy="365760"/>
          </a:xfrm>
          <a:prstGeom prst="roundRect">
            <a:avLst>
              <a:gd name="adj" fmla="val 50000"/>
            </a:avLst>
          </a:prstGeom>
          <a:ln w="12700">
            <a:solidFill>
              <a:srgbClr val="2C59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52628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VISÃO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VLI chega ao Dia D como protagonista, apoiada em três pilares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74C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900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ações mapeadas para setembro, em 5 corredores. Nenhuma outra frente do movimento parte desse volume.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7A1D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651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9900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nos Trilhos: cultura, teatro e arte como ferramenta de conscientização. Formato exclusivo da VLI no movimento.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55864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0184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4E7D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2651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Ativação-âncora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0184" y="29900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concentra simulado autorizado, lei municipal pioneira e proximidade com a imprensa de BH.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82A4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0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00" kern="0" dirty="0">
                <a:solidFill>
                  <a:srgbClr val="6FB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spc="100" kern="0" dirty="0">
                <a:solidFill>
                  <a:srgbClr val="6FB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416052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material conjunto do comitê (release e peça compartilhada) tenha a VLI como uma das referências centrais de protagonismo, não apenas de adesão.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planejamento VLI, agosto de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ações mapeadas, em 5 corredores, para setembro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DD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BLITZ EDUCATIVAS, POR CORREDOR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445136" cy="502920"/>
          </a:xfrm>
          <a:prstGeom prst="roundRect">
            <a:avLst>
              <a:gd name="adj" fmla="val 7273"/>
            </a:avLst>
          </a:prstGeom>
          <a:solidFill>
            <a:srgbClr val="0074C1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2011680"/>
            <a:ext cx="3307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48056" y="2011680"/>
            <a:ext cx="2624866" cy="502920"/>
          </a:xfrm>
          <a:prstGeom prst="roundRect">
            <a:avLst>
              <a:gd name="adj" fmla="val 7273"/>
            </a:avLst>
          </a:prstGeom>
          <a:solidFill>
            <a:srgbClr val="2E8FD1"/>
          </a:solidFill>
          <a:ln/>
        </p:spPr>
      </p:sp>
      <p:sp>
        <p:nvSpPr>
          <p:cNvPr id="9" name="Text 7"/>
          <p:cNvSpPr/>
          <p:nvPr/>
        </p:nvSpPr>
        <p:spPr>
          <a:xfrm>
            <a:off x="4021208" y="2011680"/>
            <a:ext cx="24877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 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72922" y="2011680"/>
            <a:ext cx="2132704" cy="502920"/>
          </a:xfrm>
          <a:prstGeom prst="roundRect">
            <a:avLst>
              <a:gd name="adj" fmla="val 7273"/>
            </a:avLst>
          </a:prstGeom>
          <a:solidFill>
            <a:srgbClr val="5AA9DE"/>
          </a:solidFill>
          <a:ln/>
        </p:spPr>
      </p:sp>
      <p:sp>
        <p:nvSpPr>
          <p:cNvPr id="11" name="Text 9"/>
          <p:cNvSpPr/>
          <p:nvPr/>
        </p:nvSpPr>
        <p:spPr>
          <a:xfrm>
            <a:off x="6646074" y="2011680"/>
            <a:ext cx="1995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Minas-Bahia 13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05626" y="2011680"/>
            <a:ext cx="1476487" cy="502920"/>
          </a:xfrm>
          <a:prstGeom prst="roundRect">
            <a:avLst>
              <a:gd name="adj" fmla="val 7273"/>
            </a:avLst>
          </a:prstGeom>
          <a:solidFill>
            <a:srgbClr val="9ACDEE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778" y="2011680"/>
            <a:ext cx="13393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82113" y="2011680"/>
            <a:ext cx="1476487" cy="502920"/>
          </a:xfrm>
          <a:prstGeom prst="roundRect">
            <a:avLst>
              <a:gd name="adj" fmla="val 7273"/>
            </a:avLst>
          </a:prstGeom>
          <a:solidFill>
            <a:srgbClr val="CCE6F5"/>
          </a:solidFill>
          <a:ln/>
        </p:spPr>
      </p:sp>
      <p:sp>
        <p:nvSpPr>
          <p:cNvPr id="15" name="Text 13"/>
          <p:cNvSpPr/>
          <p:nvPr/>
        </p:nvSpPr>
        <p:spPr>
          <a:xfrm>
            <a:off x="10255265" y="2011680"/>
            <a:ext cx="13393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Minas-Rio 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AÇÕES DO SEGURANÇA NOS TRILHOS · CULTURA, TEATRO, ARTE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200400"/>
            <a:ext cx="11155680" cy="502920"/>
          </a:xfrm>
          <a:prstGeom prst="roundRect">
            <a:avLst>
              <a:gd name="adj" fmla="val 7273"/>
            </a:avLst>
          </a:prstGeom>
          <a:solidFill>
            <a:srgbClr val="EF7A1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004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ações distribuídas nas cidades do programa, culminando em setembro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9776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A2E45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40416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709160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9A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MAPEADAS AO TODO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5212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das 143 ações será conjunta entre blitz e Segurança nos Trilhos, não simplesmente somada.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planejamento VLI por corredor, agosto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B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CRIATIVO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nos Trilhos: cultura e arte como intervenção de segurança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40968" y="1691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0F2E44"/>
          </a:solidFill>
          <a:ln w="12700">
            <a:solidFill>
              <a:srgbClr val="2C59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2528" y="1947672"/>
            <a:ext cx="731520" cy="731520"/>
          </a:xfrm>
          <a:prstGeom prst="ellipse">
            <a:avLst/>
          </a:prstGeom>
          <a:solidFill>
            <a:srgbClr val="0074C1"/>
          </a:solidFill>
          <a:ln/>
        </p:spPr>
      </p:sp>
      <p:sp>
        <p:nvSpPr>
          <p:cNvPr id="6" name="Text 4"/>
          <p:cNvSpPr/>
          <p:nvPr/>
        </p:nvSpPr>
        <p:spPr>
          <a:xfrm>
            <a:off x="1340968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Percussão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40968" y="3063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o ritmo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78528" y="1691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0F2E44"/>
          </a:solidFill>
          <a:ln w="12700">
            <a:solidFill>
              <a:srgbClr val="2C59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30088" y="1947672"/>
            <a:ext cx="731520" cy="731520"/>
          </a:xfrm>
          <a:prstGeom prst="ellipse">
            <a:avLst/>
          </a:prstGeom>
          <a:solidFill>
            <a:srgbClr val="EF7A1D"/>
          </a:solidFill>
          <a:ln/>
        </p:spPr>
      </p:sp>
      <p:sp>
        <p:nvSpPr>
          <p:cNvPr id="10" name="Text 8"/>
          <p:cNvSpPr/>
          <p:nvPr/>
        </p:nvSpPr>
        <p:spPr>
          <a:xfrm>
            <a:off x="4678528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8528" y="3063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 a 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6088" y="1691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0F2E44"/>
          </a:solidFill>
          <a:ln w="12700">
            <a:solidFill>
              <a:srgbClr val="2C59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67648" y="1947672"/>
            <a:ext cx="731520" cy="731520"/>
          </a:xfrm>
          <a:prstGeom prst="ellipse">
            <a:avLst/>
          </a:prstGeom>
          <a:solidFill>
            <a:srgbClr val="0A4E7D"/>
          </a:solidFill>
          <a:ln/>
        </p:spPr>
      </p:sp>
      <p:sp>
        <p:nvSpPr>
          <p:cNvPr id="14" name="Text 12"/>
          <p:cNvSpPr/>
          <p:nvPr/>
        </p:nvSpPr>
        <p:spPr>
          <a:xfrm>
            <a:off x="8016088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Puxador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6088" y="3063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 o cortejo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40968" y="365760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074C1"/>
          </a:solidFill>
          <a:ln/>
        </p:spPr>
      </p:sp>
      <p:sp>
        <p:nvSpPr>
          <p:cNvPr id="17" name="Text 15"/>
          <p:cNvSpPr/>
          <p:nvPr/>
        </p:nvSpPr>
        <p:spPr>
          <a:xfrm>
            <a:off x="1340968" y="36576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1168" y="365760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074C1"/>
          </a:solidFill>
          <a:ln/>
        </p:spPr>
      </p:sp>
      <p:sp>
        <p:nvSpPr>
          <p:cNvPr id="19" name="Text 17"/>
          <p:cNvSpPr/>
          <p:nvPr/>
        </p:nvSpPr>
        <p:spPr>
          <a:xfrm>
            <a:off x="2941168" y="36576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OLHE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41368" y="365760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F7A1D"/>
          </a:solidFill>
          <a:ln/>
        </p:spPr>
      </p:sp>
      <p:sp>
        <p:nvSpPr>
          <p:cNvPr id="21" name="Text 19"/>
          <p:cNvSpPr/>
          <p:nvPr/>
        </p:nvSpPr>
        <p:spPr>
          <a:xfrm>
            <a:off x="4541368" y="36576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ESCUTE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434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 cênica itinerante: três atores caracterizados interagem com o público de forma lúdica, percorrendo o território e reforçando as três regras de ouro da segurança ferroviária.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4343400"/>
            <a:ext cx="0" cy="1005840"/>
          </a:xfrm>
          <a:prstGeom prst="line">
            <a:avLst/>
          </a:prstGeom>
          <a:noFill/>
          <a:ln w="31750">
            <a:solidFill>
              <a:srgbClr val="EF7A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3434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"Todas as ações envolvem cultura, teatro, arte." — coordenação do Segurança nos Trilhos. Formato único entre as concessionárias do movimento.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detalhamento de ações do programa Segurança nos Trilhos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ATIVAÇÃO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formatos, cada um mirando um público diferente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830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0074C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56032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79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educativa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itinerante em espaços de circulação pública, percorrendo o território.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EM GERAL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9392" y="17830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0074C1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256032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679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na pista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07992" y="3017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Intervenções em autoescolas e locais de exame de motociclistas, duas por cidade.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07992" y="3703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A EXAME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55864" y="17830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0074C1"/>
          </a:solidFill>
          <a:ln/>
        </p:spPr>
      </p:sp>
      <p:sp>
        <p:nvSpPr>
          <p:cNvPr id="16" name="Shape 14"/>
          <p:cNvSpPr/>
          <p:nvPr/>
        </p:nvSpPr>
        <p:spPr>
          <a:xfrm>
            <a:off x="8055864" y="2560320"/>
            <a:ext cx="3520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679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na comunidade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84464" y="3017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parceiros locais, em festas, festivais e eventos temáticos próximos à linha férrea.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84464" y="3703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JOVENS, IDOSOS, MOTORISTAS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2519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A2E4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708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formatos juntos cobrem todo o território dos 5 corredores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4663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Circulação pública, exame de habilitação e eventos comunitários: três pontos de contato diferentes, mesma mensagem de segurança ferroviária.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detalhamento de ações do programa Segurança nos Trilhos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EXECUÇÃO, 23/09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reúne o que nenhuma outra cidade reúne sozinha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0058400" cy="0"/>
          </a:xfrm>
          <a:prstGeom prst="line">
            <a:avLst/>
          </a:prstGeom>
          <a:noFill/>
          <a:ln w="28575">
            <a:solidFill>
              <a:srgbClr val="DD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675120" cy="0"/>
          </a:xfrm>
          <a:prstGeom prst="line">
            <a:avLst/>
          </a:prstGeom>
          <a:noFill/>
          <a:ln w="28575">
            <a:solidFill>
              <a:srgbClr val="0074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7864" y="1837944"/>
            <a:ext cx="164592" cy="164592"/>
          </a:xfrm>
          <a:prstGeom prst="ellipse">
            <a:avLst/>
          </a:prstGeom>
          <a:solidFill>
            <a:srgbClr val="0074C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23944" y="1837944"/>
            <a:ext cx="164592" cy="164592"/>
          </a:xfrm>
          <a:prstGeom prst="ellipse">
            <a:avLst/>
          </a:prstGeom>
          <a:solidFill>
            <a:srgbClr val="0074C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Uberaba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41464" y="1837944"/>
            <a:ext cx="164592" cy="164592"/>
          </a:xfrm>
          <a:prstGeom prst="ellipse">
            <a:avLst/>
          </a:prstGeom>
          <a:solidFill>
            <a:srgbClr val="0074C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Divinópolis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158984" y="1837944"/>
            <a:ext cx="164592" cy="164592"/>
          </a:xfrm>
          <a:prstGeom prst="ellipse">
            <a:avLst/>
          </a:prstGeom>
          <a:solidFill>
            <a:srgbClr val="B9C6C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Aguaí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788920"/>
            <a:ext cx="2295144" cy="274320"/>
          </a:xfrm>
          <a:prstGeom prst="roundRect">
            <a:avLst>
              <a:gd name="adj" fmla="val 50000"/>
            </a:avLst>
          </a:prstGeom>
          <a:solidFill>
            <a:srgbClr val="DFF0E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889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 pelo corredor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lei municipal de segurança ferroviária do Brasil · CPN crítico · Segurança nos Trilhos ativo · proximidade com a imprensa de BH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606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7889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DFF0E3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regional viável via presença exclusiva da FCA no Triângulo Mineiro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2606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7889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DFF0E3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do corredor Leste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06840" y="2606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9720" y="2788920"/>
            <a:ext cx="1307592" cy="274320"/>
          </a:xfrm>
          <a:prstGeom prst="roundRect">
            <a:avLst>
              <a:gd name="adj" fmla="val 50000"/>
            </a:avLst>
          </a:prstGeom>
          <a:solidFill>
            <a:srgbClr val="FBEBD8"/>
          </a:solidFill>
          <a:ln/>
        </p:spPr>
      </p:sp>
      <p:sp>
        <p:nvSpPr>
          <p:cNvPr id="29" name="Text 27"/>
          <p:cNvSpPr/>
          <p:nvPr/>
        </p:nvSpPr>
        <p:spPr>
          <a:xfrm>
            <a:off x="9189720" y="278892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52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definição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8972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relevante, sem cobertura de imprensa local garantida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206240"/>
            <a:ext cx="7406640" cy="960120"/>
          </a:xfrm>
          <a:prstGeom prst="roundRect">
            <a:avLst>
              <a:gd name="adj" fmla="val 5714"/>
            </a:avLst>
          </a:prstGeom>
          <a:solidFill>
            <a:srgbClr val="F2F7F9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3159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2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ESSAS QUATRO CIDADES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1520" y="4572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Escolhidas por já terem histórico de ocorrências com terceiros, presença ativa da VLI e viabilidade real de execução até 23/09 — não por conveniência de agenda.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42062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0A2E45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321040" y="4645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a prefeitura de Betim para viabilizar a autorização operacional do simulado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atualização de planejamento VLI, agosto de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B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ATIVAÇÃO-ÂNCORA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Betim: simulado e cortejo do Segurança nos Trilhos, no mesmo 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0"/>
          </a:xfrm>
          <a:prstGeom prst="line">
            <a:avLst/>
          </a:prstGeom>
          <a:noFill/>
          <a:ln w="12700">
            <a:solidFill>
              <a:srgbClr val="2C59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123A55"/>
          </a:solidFill>
          <a:ln w="15875">
            <a:solidFill>
              <a:srgbClr val="EF7A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EF7A1D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8105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choque: encenação de um acidente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28346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0A4E7D"/>
          </a:solidFill>
          <a:ln w="15875">
            <a:solidFill>
              <a:srgbClr val="7FC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3090672"/>
            <a:ext cx="502920" cy="502920"/>
          </a:xfrm>
          <a:prstGeom prst="ellipse">
            <a:avLst/>
          </a:prstGeom>
          <a:solidFill>
            <a:srgbClr val="7FC3F0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2953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Cortejo do Segurança nos Trilhos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3264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cultural: cena, música, regras de ouro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606040"/>
            <a:ext cx="384048" cy="384048"/>
          </a:xfrm>
          <a:prstGeom prst="ellipse">
            <a:avLst/>
          </a:prstGeom>
          <a:solidFill>
            <a:srgbClr val="0F2E44"/>
          </a:solidFill>
          <a:ln w="19050">
            <a:solidFill>
              <a:srgbClr val="EF7A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FUNCIONA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camadas na mesma cobertura de imprensa: o choque do simulado e a resposta cultural do cortejo. Betim já realiza blitz e cortejo regularmente, geralmente no dia 22; a proposta é concentrar no dia 23.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3063240"/>
            <a:ext cx="507492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3063240"/>
            <a:ext cx="0" cy="868680"/>
          </a:xfrm>
          <a:prstGeom prst="line">
            <a:avLst/>
          </a:prstGeom>
          <a:noFill/>
          <a:ln w="31750">
            <a:solidFill>
              <a:srgbClr val="EF7A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31272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cobertura da Fantástico sobre acidentes na malha de Resende foi seguida por redução observada de acidentes na região metropolitana de Curitiba nas semanas posteriores.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593592" cy="822960"/>
          </a:xfrm>
          <a:prstGeom prst="roundRect">
            <a:avLst>
              <a:gd name="adj" fmla="val 555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7024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7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PIONEIRA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4526280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lei municipal de segurança ferroviária do Brasil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4160520"/>
            <a:ext cx="3593592" cy="822960"/>
          </a:xfrm>
          <a:prstGeom prst="roundRect">
            <a:avLst>
              <a:gd name="adj" fmla="val 555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427024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7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CPN CRÍTICO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62272" y="4526280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relevante de evasões nas cancelas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55864" y="4160520"/>
            <a:ext cx="3593592" cy="822960"/>
          </a:xfrm>
          <a:prstGeom prst="roundRect">
            <a:avLst>
              <a:gd name="adj" fmla="val 555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4270248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7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DE IMPRENSA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38744" y="4526280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Proximidade real com o grupo de mídia de BH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validação: negociação final com a prefeitura de Betim (20/08) e formato exato da combinação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CONJUNTO DO COMITÊ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release: o que pode ser unificado entre as empresas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noFill/>
          <a:ln w="12700">
            <a:solidFill>
              <a:srgbClr val="DD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37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COMBINADO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0074C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21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conjunto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395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Assinado por todas as empresas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EF7A1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Flyer / panfleto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264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única com a logo de todas as empresas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2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PROPOR AO COMITÊ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029968"/>
            <a:ext cx="1810512" cy="822960"/>
          </a:xfrm>
          <a:prstGeom prst="roundRect">
            <a:avLst>
              <a:gd name="adj" fmla="val 5556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1396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/ faixa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60520" y="241401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local da ação-âncora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961888" y="2029968"/>
            <a:ext cx="1810512" cy="822960"/>
          </a:xfrm>
          <a:prstGeom prst="roundRect">
            <a:avLst>
              <a:gd name="adj" fmla="val 5556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21396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educativa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9048" y="241401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Sinalização fixa nas PNs críticas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7900416" y="2029968"/>
            <a:ext cx="1810512" cy="822960"/>
          </a:xfrm>
          <a:prstGeom prst="roundRect">
            <a:avLst>
              <a:gd name="adj" fmla="val 5556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37576" y="21396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post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37576" y="241401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comum de rede social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023360" y="2980944"/>
            <a:ext cx="1810512" cy="822960"/>
          </a:xfrm>
          <a:prstGeom prst="roundRect">
            <a:avLst>
              <a:gd name="adj" fmla="val 5556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30906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 de coletiva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60520" y="336499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do Dia D, todas as logos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5961888" y="2980944"/>
            <a:ext cx="1810512" cy="822960"/>
          </a:xfrm>
          <a:prstGeom prst="roundRect">
            <a:avLst>
              <a:gd name="adj" fmla="val 5556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9048" y="30906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do movimento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9048" y="336499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comum para identificar a campanha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900416" y="2980944"/>
            <a:ext cx="1810512" cy="822960"/>
          </a:xfrm>
          <a:prstGeom prst="roundRect">
            <a:avLst>
              <a:gd name="adj" fmla="val 5556"/>
            </a:avLst>
          </a:prstGeom>
          <a:solidFill>
            <a:srgbClr val="F2F7F9"/>
          </a:solidFill>
          <a:ln w="9525">
            <a:solidFill>
              <a:srgbClr val="DDE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37576" y="30906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Colete de identificação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37576" y="336499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campo com identidade conjunta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502920" y="3977640"/>
            <a:ext cx="11155680" cy="896112"/>
          </a:xfrm>
          <a:prstGeom prst="roundRect">
            <a:avLst>
              <a:gd name="adj" fmla="val 6122"/>
            </a:avLst>
          </a:prstGeom>
          <a:solidFill>
            <a:srgbClr val="0A2E45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09651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da VLI: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o Segurança nos Trilhos como base visual e criativa desses materiais, não só como conteúdo próprio. Se o grupo cênico e as regras PARE/OLHE/ESCUTE aparecerem no flyer e no banner comuns, a VLI se sobressai mesmo dentro do material do setor.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planejamento VLI, agosto de 2026 · lista de materiais em aberto para validação do comitê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B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EXECUÇÃO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até 23 de setembro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marcos entre o alinhamento interno e a execução do movimento nacional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424160" cy="0"/>
          </a:xfrm>
          <a:prstGeom prst="line">
            <a:avLst/>
          </a:prstGeom>
          <a:noFill/>
          <a:ln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7FC3F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51460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5000"/>
            </a:srgbClr>
          </a:solidFill>
          <a:ln w="15875">
            <a:solidFill>
              <a:srgbClr val="7FC3F0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517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95351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a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Betim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5387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Viabilizar autorização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do simulado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38728" y="2121408"/>
            <a:ext cx="146304" cy="146304"/>
          </a:xfrm>
          <a:prstGeom prst="ellipse">
            <a:avLst/>
          </a:prstGeom>
          <a:solidFill>
            <a:srgbClr val="7FC3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51460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5000"/>
            </a:srgbClr>
          </a:solidFill>
          <a:ln w="15875">
            <a:solidFill>
              <a:srgbClr val="7FC3F0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6517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22/08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76472" y="295351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final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76472" y="35387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ações consolidadas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corredor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121408"/>
            <a:ext cx="146304" cy="146304"/>
          </a:xfrm>
          <a:prstGeom prst="ellipse">
            <a:avLst/>
          </a:prstGeom>
          <a:solidFill>
            <a:srgbClr val="7FC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251460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5000"/>
            </a:srgbClr>
          </a:solidFill>
          <a:ln w="15875">
            <a:solidFill>
              <a:srgbClr val="7FC3F0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6517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SEGUINTE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48272" y="295351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comitê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48272" y="35387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às demais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concessionárias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82328" y="2121408"/>
            <a:ext cx="146304" cy="146304"/>
          </a:xfrm>
          <a:prstGeom prst="ellipse">
            <a:avLst/>
          </a:prstGeom>
          <a:solidFill>
            <a:srgbClr val="EF7A1D"/>
          </a:solidFill>
          <a:ln/>
        </p:spPr>
      </p:sp>
      <p:sp>
        <p:nvSpPr>
          <p:cNvPr id="22" name="Shape 20"/>
          <p:cNvSpPr/>
          <p:nvPr/>
        </p:nvSpPr>
        <p:spPr>
          <a:xfrm>
            <a:off x="9555480" y="251460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EF7A1D">
              <a:alpha val="14000"/>
            </a:srgbClr>
          </a:solidFill>
          <a:ln w="15875">
            <a:solidFill>
              <a:srgbClr val="EF7A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0072" y="26517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7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23/09 · DIA 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20072" y="295351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do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Nacional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20072" y="35387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B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 como ação-âncora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B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VLI no Dia 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DA VLI AO COMITÊ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Betim como ação-âncora do Dia D, e o Segurança nos Trilhos como diferencial do setor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4754880" cy="0"/>
          </a:xfrm>
          <a:prstGeom prst="line">
            <a:avLst/>
          </a:prstGeom>
          <a:noFill/>
          <a:ln w="12700">
            <a:solidFill>
              <a:srgbClr val="DD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03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isso, a VLI entra no material conjunto (release e peça compartilhada) com uma ação concreta, autorizada e com apelo real de imprensa, além de um formato de atuação que nenhuma outra concessionária tem hoje.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COMBINADO NESTA VISÃO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2724912" cy="1234440"/>
          </a:xfrm>
          <a:prstGeom prst="roundRect">
            <a:avLst>
              <a:gd name="adj" fmla="val 4444"/>
            </a:avLst>
          </a:prstGeom>
          <a:solidFill>
            <a:srgbClr val="F2F7F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5661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405079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mapeadas, base do material do comitê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0712" y="3429000"/>
            <a:ext cx="2724912" cy="1234440"/>
          </a:xfrm>
          <a:prstGeom prst="roundRect">
            <a:avLst>
              <a:gd name="adj" fmla="val 4444"/>
            </a:avLst>
          </a:prstGeom>
          <a:solidFill>
            <a:srgbClr val="F2F7F9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35661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93592" y="405079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autorizado pelo corredor, 23/09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18504" y="3429000"/>
            <a:ext cx="2724912" cy="1234440"/>
          </a:xfrm>
          <a:prstGeom prst="roundRect">
            <a:avLst>
              <a:gd name="adj" fmla="val 4444"/>
            </a:avLst>
          </a:prstGeom>
          <a:solidFill>
            <a:srgbClr val="F2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6501384" y="35661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01384" y="405079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a prefeitura, próximo marco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26296" y="3429000"/>
            <a:ext cx="2724912" cy="1234440"/>
          </a:xfrm>
          <a:prstGeom prst="roundRect">
            <a:avLst>
              <a:gd name="adj" fmla="val 4444"/>
            </a:avLst>
          </a:prstGeom>
          <a:solidFill>
            <a:srgbClr val="F2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9409176" y="35661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409176" y="405079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conjuntos propostos ao setor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VLI. Atualizado conforme novos alinhamentos chegam.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COMPARTILHAR COM O COMITÊ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VLI quer atuar no Dia 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trazemos, como queremos participar, e o que propomos construir juntos com o setor.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0A2E4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9280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mapeadas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0A2E45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189280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10712" y="22860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corredores envolvidos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18504" y="178308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0A2E45"/>
          </a:solidFill>
          <a:ln/>
        </p:spPr>
      </p:sp>
      <p:sp>
        <p:nvSpPr>
          <p:cNvPr id="12" name="Text 10"/>
          <p:cNvSpPr/>
          <p:nvPr/>
        </p:nvSpPr>
        <p:spPr>
          <a:xfrm>
            <a:off x="6318504" y="189280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18504" y="22860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exclusivo: cultura e arte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226296" y="178308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EF7A1D"/>
          </a:solidFill>
          <a:ln/>
        </p:spPr>
      </p:sp>
      <p:sp>
        <p:nvSpPr>
          <p:cNvPr id="15" name="Text 13"/>
          <p:cNvSpPr/>
          <p:nvPr/>
        </p:nvSpPr>
        <p:spPr>
          <a:xfrm>
            <a:off x="9226296" y="189280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26296" y="22860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Betim, ação-âncora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3593592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45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" y="3044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2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TRAZEMOS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3337560"/>
            <a:ext cx="3191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próprio de cultura, teatro e arte pela segurança ferroviária, já em execução em cinco cidades.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9392" y="2880360"/>
            <a:ext cx="3593592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45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044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2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QUEREMOS PARTICIPAR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0" y="3337560"/>
            <a:ext cx="3191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uma ação-âncora concreta em setembro, integrada ao material conjunto do setor.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55864" y="2880360"/>
            <a:ext cx="3593592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45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57032" y="3044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2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PROPOMOS AO GRUPO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57032" y="3337560"/>
            <a:ext cx="3191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juntos o release, o flyer, o banner e os demais materiais comuns do Dia D, a partir do que cada empresa já tem pronto.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082A4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72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"Queremos um Dia D em que cada concessionária mostre sua força real, e a soma vire uma mobilização nacional de verdade."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para apresentação ao comitê das concessionárias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2026-08-17T14:07:28Z</dcterms:created>
  <dcterms:modified xsi:type="dcterms:W3CDTF">2026-08-17T14:07:28Z</dcterms:modified>
</cp:coreProperties>
</file>