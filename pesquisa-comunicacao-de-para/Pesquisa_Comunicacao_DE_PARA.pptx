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0A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66750"/>
            <a:ext cx="247649" cy="28575"/>
          </a:xfrm>
          <a:prstGeom prst="rect">
            <a:avLst/>
          </a:prstGeom>
          <a:solidFill>
            <a:srgbClr val="EF7A1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100" y="5715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1">
                <a:solidFill>
                  <a:srgbClr val="5A6672"/>
                </a:solidFill>
                <a:latin typeface="Calibri"/>
              </a:rPr>
              <a:t>DE/PARA DO FORMULÁRIO × METAS DO CICLO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6300"/>
            <a:ext cx="104775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3300" b="0">
                <a:solidFill>
                  <a:srgbClr val="1C2429"/>
                </a:solidFill>
                <a:latin typeface="Georgia"/>
              </a:rPr>
              <a:t>Pesquisa de Comunicação Interna: como medir a meta com precisão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52650"/>
            <a:ext cx="1047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50" b="0">
                <a:solidFill>
                  <a:srgbClr val="5A6672"/>
                </a:solidFill>
                <a:latin typeface="Calibri"/>
              </a:rPr>
              <a:t>Diagnóstico do formulário atual, pesquisa mínima de 6 perguntas, regras de apuração, amostra e plano até dezembro.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52750"/>
            <a:ext cx="3505200" cy="1905000"/>
          </a:xfrm>
          <a:prstGeom prst="rect">
            <a:avLst/>
          </a:prstGeom>
          <a:solidFill>
            <a:srgbClr val="F1F4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952750"/>
            <a:ext cx="57150" cy="1905000"/>
          </a:xfrm>
          <a:prstGeom prst="rect">
            <a:avLst/>
          </a:prstGeom>
          <a:solidFill>
            <a:srgbClr val="0E74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067050"/>
            <a:ext cx="3143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25" b="0">
                <a:solidFill>
                  <a:srgbClr val="0A4E79"/>
                </a:solidFill>
                <a:latin typeface="Georgia"/>
              </a:rPr>
              <a:t>Marcos 1 e 2 · Cultura e Estratégia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52800"/>
            <a:ext cx="31432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3150" b="0">
                <a:solidFill>
                  <a:srgbClr val="0A4E79"/>
                </a:solidFill>
                <a:latin typeface="Georgia"/>
              </a:rPr>
              <a:t>≥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943350"/>
            <a:ext cx="3143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87" b="0">
                <a:solidFill>
                  <a:srgbClr val="1C2429"/>
                </a:solidFill>
                <a:latin typeface="Calibri"/>
              </a:rPr>
              <a:t>nos pilares A (Awareness) e D (Desire), metodologia Prosci, aplicada a todo o público VLI.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67200" y="2952750"/>
            <a:ext cx="3505200" cy="1905000"/>
          </a:xfrm>
          <a:prstGeom prst="rect">
            <a:avLst/>
          </a:prstGeom>
          <a:solidFill>
            <a:srgbClr val="F1F4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67200" y="2952750"/>
            <a:ext cx="57150" cy="1905000"/>
          </a:xfrm>
          <a:prstGeom prst="rect">
            <a:avLst/>
          </a:prstGeom>
          <a:solidFill>
            <a:srgbClr val="0E74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3067050"/>
            <a:ext cx="3143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25" b="0">
                <a:solidFill>
                  <a:srgbClr val="0A4E79"/>
                </a:solidFill>
                <a:latin typeface="Georgia"/>
              </a:rPr>
              <a:t>Marco 3 · Nova matriz de canais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3352800"/>
            <a:ext cx="31432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3150" b="0">
                <a:solidFill>
                  <a:srgbClr val="0A4E79"/>
                </a:solidFill>
                <a:latin typeface="Georgia"/>
              </a:rPr>
              <a:t>≥ 85%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5800" y="3943350"/>
            <a:ext cx="3143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87" b="0">
                <a:solidFill>
                  <a:srgbClr val="1C2429"/>
                </a:solidFill>
                <a:latin typeface="Calibri"/>
              </a:rPr>
              <a:t>de satisfação e compreensão das mensagens validadas pela GA de Comunicação, antes e após a matriz.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77200" y="2952750"/>
            <a:ext cx="3505200" cy="1905000"/>
          </a:xfrm>
          <a:prstGeom prst="rect">
            <a:avLst/>
          </a:prstGeom>
          <a:solidFill>
            <a:srgbClr val="F1F4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77200" y="2952750"/>
            <a:ext cx="57150" cy="1905000"/>
          </a:xfrm>
          <a:prstGeom prst="rect">
            <a:avLst/>
          </a:prstGeom>
          <a:solidFill>
            <a:srgbClr val="EF7A1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3067050"/>
            <a:ext cx="3143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25" b="0">
                <a:solidFill>
                  <a:srgbClr val="0A4E79"/>
                </a:solidFill>
                <a:latin typeface="Georgia"/>
              </a:rPr>
              <a:t>Meta 2 · Líder Comunicador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3352800"/>
            <a:ext cx="31432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3150" b="0">
                <a:solidFill>
                  <a:srgbClr val="EF7A1D"/>
                </a:solidFill>
                <a:latin typeface="Georgia"/>
              </a:rPr>
              <a:t>≥ 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3943350"/>
            <a:ext cx="3143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87" b="0">
                <a:solidFill>
                  <a:srgbClr val="1C2429"/>
                </a:solidFill>
                <a:latin typeface="Calibri"/>
              </a:rPr>
              <a:t>face a face, para supervisores e gerentes. Com ≥ 80%, todo corredor precisa de ≥ 70%; senão, limite de 75%.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086350"/>
            <a:ext cx="11277600" cy="1238250"/>
          </a:xfrm>
          <a:prstGeom prst="rect">
            <a:avLst/>
          </a:prstGeom>
          <a:solidFill>
            <a:srgbClr val="FDF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086350"/>
            <a:ext cx="57150" cy="1238250"/>
          </a:xfrm>
          <a:prstGeom prst="rect">
            <a:avLst/>
          </a:prstGeom>
          <a:solidFill>
            <a:srgbClr val="EF7A1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200650"/>
            <a:ext cx="10858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1">
                <a:solidFill>
                  <a:srgbClr val="A4510E"/>
                </a:solidFill>
                <a:latin typeface="Calibri"/>
              </a:rPr>
              <a:t>VEREDITO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448300"/>
            <a:ext cx="10858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450"/>
              </a:spcAft>
            </a:pPr>
            <a:r>
              <a:rPr sz="1087" b="1">
                <a:solidFill>
                  <a:srgbClr val="1C2429"/>
                </a:solidFill>
                <a:latin typeface="Calibri"/>
              </a:rPr>
              <a:t>O formulário atual não consegue comprovar os marcos como estão escritos:</a:t>
            </a:r>
            <a:r>
              <a:rPr sz="1087" b="0">
                <a:solidFill>
                  <a:srgbClr val="1C2429"/>
                </a:solidFill>
                <a:latin typeface="Calibri"/>
              </a:rPr>
              <a:t> Cultura e Estratégia não têm itens separados, o pilar Desire quase não é medido, não há pergunta de compreensão das mensagens e a Meta 2 não identifica cargo nem corredor.</a:t>
            </a:r>
          </a:p>
          <a:p>
            <a:pPr algn="l">
              <a:lnSpc>
                <a:spcPct val="108000"/>
              </a:lnSpc>
              <a:spcAft>
                <a:spcPts val="450"/>
              </a:spcAft>
            </a:pPr>
            <a:r>
              <a:rPr sz="1087" b="1">
                <a:solidFill>
                  <a:srgbClr val="1C2429"/>
                </a:solidFill>
                <a:latin typeface="Calibri"/>
              </a:rPr>
              <a:t>A proposta:</a:t>
            </a:r>
            <a:r>
              <a:rPr sz="1087" b="0">
                <a:solidFill>
                  <a:srgbClr val="1C2429"/>
                </a:solidFill>
                <a:latin typeface="Calibri"/>
              </a:rPr>
              <a:t> 6 perguntas pontuadas (7 para líderes), cada uma ligada a um marco, mais regras de cálculo e amostra fechadas antes do campo.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0A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04800"/>
            <a:ext cx="247649" cy="28575"/>
          </a:xfrm>
          <a:prstGeom prst="rect">
            <a:avLst/>
          </a:prstGeom>
          <a:solidFill>
            <a:srgbClr val="EF7A1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100" y="20955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1">
                <a:solidFill>
                  <a:srgbClr val="5A6672"/>
                </a:solidFill>
                <a:latin typeface="Calibri"/>
              </a:rPr>
              <a:t>DIAGNÓSTICO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150"/>
            <a:ext cx="1127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25" b="0">
                <a:solidFill>
                  <a:srgbClr val="1C2429"/>
                </a:solidFill>
                <a:latin typeface="Georgia"/>
              </a:rPr>
              <a:t>O que o formulário atual não mede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722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5A6672"/>
                </a:solidFill>
                <a:latin typeface="Calibri"/>
              </a:rPr>
              <a:t>Comunicação Interna VLI · Pesquisa de dezembro/2026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2300" y="657225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5A6672"/>
                </a:solidFill>
                <a:latin typeface="Calibri"/>
              </a:rPr>
              <a:t>2 /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1">
                <a:solidFill>
                  <a:srgbClr val="5A6672"/>
                </a:solidFill>
                <a:latin typeface="Calibri"/>
              </a:rPr>
              <a:t>DE  →  PARA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95400"/>
            <a:ext cx="68580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352550"/>
            <a:ext cx="30480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9F342B"/>
                </a:solidFill>
                <a:latin typeface="Calibri"/>
              </a:rPr>
              <a:t>DE </a:t>
            </a:r>
            <a:r>
              <a:rPr sz="1050" b="0">
                <a:solidFill>
                  <a:srgbClr val="9F342B"/>
                </a:solidFill>
                <a:latin typeface="Calibri"/>
              </a:rPr>
              <a:t>Pergunta única mistura Estratégia, Cultura e Segurança, e “entender” com “engajar”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300" y="1352550"/>
            <a:ext cx="285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50" b="0">
                <a:solidFill>
                  <a:srgbClr val="EF7A1D"/>
                </a:solidFill>
                <a:latin typeface="Calibr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8099" y="1352550"/>
            <a:ext cx="34671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1D7A54"/>
                </a:solidFill>
                <a:latin typeface="Calibri"/>
              </a:rPr>
              <a:t>PARA </a:t>
            </a:r>
            <a:r>
              <a:rPr sz="1050" b="0">
                <a:solidFill>
                  <a:srgbClr val="1C2429"/>
                </a:solidFill>
                <a:latin typeface="Calibri"/>
              </a:rPr>
              <a:t>1 pergunta por pilar (A e D) e por tema; Segurança fora do 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114550"/>
            <a:ext cx="68580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71700"/>
            <a:ext cx="30480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9F342B"/>
                </a:solidFill>
                <a:latin typeface="Calibri"/>
              </a:rPr>
              <a:t>DE </a:t>
            </a:r>
            <a:r>
              <a:rPr sz="1050" b="0">
                <a:solidFill>
                  <a:srgbClr val="9F342B"/>
                </a:solidFill>
                <a:latin typeface="Calibri"/>
              </a:rPr>
              <a:t>Marcações A/D trocadas: resposta aberta (A), uso de canal (D), “o que se espera de você” (D)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3300" y="2171700"/>
            <a:ext cx="285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50" b="0">
                <a:solidFill>
                  <a:srgbClr val="EF7A1D"/>
                </a:solidFill>
                <a:latin typeface="Calibr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8099" y="2171700"/>
            <a:ext cx="34671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1D7A54"/>
                </a:solidFill>
                <a:latin typeface="Calibri"/>
              </a:rPr>
              <a:t>PARA </a:t>
            </a:r>
            <a:r>
              <a:rPr sz="1050" b="0">
                <a:solidFill>
                  <a:srgbClr val="1C2429"/>
                </a:solidFill>
                <a:latin typeface="Calibri"/>
              </a:rPr>
              <a:t>Resposta aberta e uso de canal viram diagnóstico; Awareness e Desire só em escala 1–5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933700"/>
            <a:ext cx="68580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990850"/>
            <a:ext cx="30480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9F342B"/>
                </a:solidFill>
                <a:latin typeface="Calibri"/>
              </a:rPr>
              <a:t>DE </a:t>
            </a:r>
            <a:r>
              <a:rPr sz="1050" b="0">
                <a:solidFill>
                  <a:srgbClr val="9F342B"/>
                </a:solidFill>
                <a:latin typeface="Calibri"/>
              </a:rPr>
              <a:t>Satisfação reescrita só para “novos canais”: quebra a comparação com a pesquisa anterior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3300" y="2990850"/>
            <a:ext cx="285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50" b="0">
                <a:solidFill>
                  <a:srgbClr val="EF7A1D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8099" y="2990850"/>
            <a:ext cx="34671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1D7A54"/>
                </a:solidFill>
                <a:latin typeface="Calibri"/>
              </a:rPr>
              <a:t>PARA </a:t>
            </a:r>
            <a:r>
              <a:rPr sz="1050" b="0">
                <a:solidFill>
                  <a:srgbClr val="1C2429"/>
                </a:solidFill>
                <a:latin typeface="Calibri"/>
              </a:rPr>
              <a:t>Redação original mantida nas duas ondas, com a lista da nova matriz no enunciado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52850"/>
            <a:ext cx="68580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810000"/>
            <a:ext cx="30480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9F342B"/>
                </a:solidFill>
                <a:latin typeface="Calibri"/>
              </a:rPr>
              <a:t>DE </a:t>
            </a:r>
            <a:r>
              <a:rPr sz="1050" b="0">
                <a:solidFill>
                  <a:srgbClr val="9F342B"/>
                </a:solidFill>
                <a:latin typeface="Calibri"/>
              </a:rPr>
              <a:t>Compreensão das mensagens validadas pela GA não é medida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43300" y="3810000"/>
            <a:ext cx="285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50" b="0">
                <a:solidFill>
                  <a:srgbClr val="EF7A1D"/>
                </a:solidFill>
                <a:latin typeface="Calibr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8099" y="3810000"/>
            <a:ext cx="34671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1D7A54"/>
                </a:solidFill>
                <a:latin typeface="Calibri"/>
              </a:rPr>
              <a:t>PARA </a:t>
            </a:r>
            <a:r>
              <a:rPr sz="1050" b="0">
                <a:solidFill>
                  <a:srgbClr val="1C2429"/>
                </a:solidFill>
                <a:latin typeface="Calibri"/>
              </a:rPr>
              <a:t>Quiz com gabarito da GA (marque todas as principais mensagens)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572000"/>
            <a:ext cx="68580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629150"/>
            <a:ext cx="30480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9F342B"/>
                </a:solidFill>
                <a:latin typeface="Calibri"/>
              </a:rPr>
              <a:t>DE </a:t>
            </a:r>
            <a:r>
              <a:rPr sz="1050" b="0">
                <a:solidFill>
                  <a:srgbClr val="9F342B"/>
                </a:solidFill>
                <a:latin typeface="Calibri"/>
              </a:rPr>
              <a:t>Face a face em 1 pergunta; cargo e corredor sem padrão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3300" y="4629150"/>
            <a:ext cx="285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50" b="0">
                <a:solidFill>
                  <a:srgbClr val="EF7A1D"/>
                </a:solidFill>
                <a:latin typeface="Calibr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8099" y="4629150"/>
            <a:ext cx="34671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1D7A54"/>
                </a:solidFill>
                <a:latin typeface="Calibri"/>
              </a:rPr>
              <a:t>PARA </a:t>
            </a:r>
            <a:r>
              <a:rPr sz="1050" b="0">
                <a:solidFill>
                  <a:srgbClr val="1C2429"/>
                </a:solidFill>
                <a:latin typeface="Calibri"/>
              </a:rPr>
              <a:t>Matriz por canal; cargo e corredor obrigatórios, com as 4 opções exatas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391150"/>
            <a:ext cx="68580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448300"/>
            <a:ext cx="30480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9F342B"/>
                </a:solidFill>
                <a:latin typeface="Calibri"/>
              </a:rPr>
              <a:t>DE </a:t>
            </a:r>
            <a:r>
              <a:rPr sz="1050" b="0">
                <a:solidFill>
                  <a:srgbClr val="9F342B"/>
                </a:solidFill>
                <a:latin typeface="Calibri"/>
              </a:rPr>
              <a:t>Redações diferentes entre Staff e Liderança (“a VLI” × “a companhia”)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43300" y="5448300"/>
            <a:ext cx="285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50" b="0">
                <a:solidFill>
                  <a:srgbClr val="EF7A1D"/>
                </a:solidFill>
                <a:latin typeface="Calibri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8099" y="5448300"/>
            <a:ext cx="34671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1D7A54"/>
                </a:solidFill>
                <a:latin typeface="Calibri"/>
              </a:rPr>
              <a:t>PARA </a:t>
            </a:r>
            <a:r>
              <a:rPr sz="1050" b="0">
                <a:solidFill>
                  <a:srgbClr val="1C2429"/>
                </a:solidFill>
                <a:latin typeface="Calibri"/>
              </a:rPr>
              <a:t>Mesma redação e escala para todos: permite consolidar “todo o público”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210300"/>
            <a:ext cx="68580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0" y="1066800"/>
            <a:ext cx="396239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1">
                <a:solidFill>
                  <a:srgbClr val="5A6672"/>
                </a:solidFill>
                <a:latin typeface="Calibri"/>
              </a:rPr>
              <a:t>ITENS POR CONSTRUTO (ANTES → DEPOIS)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0" y="1295400"/>
            <a:ext cx="3962399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1390650"/>
            <a:ext cx="1905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87" b="0">
                <a:solidFill>
                  <a:srgbClr val="1C2429"/>
                </a:solidFill>
                <a:latin typeface="Calibri"/>
              </a:rPr>
              <a:t>Cultura · Awareness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77400" y="1390650"/>
            <a:ext cx="381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9F342B"/>
                </a:solidFill>
                <a:latin typeface="Calibri"/>
              </a:rPr>
              <a:t>1*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1390650"/>
            <a:ext cx="228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0">
                <a:solidFill>
                  <a:srgbClr val="EF7A1D"/>
                </a:solidFill>
                <a:latin typeface="Calibri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25100" y="1390650"/>
            <a:ext cx="14097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1D7A54"/>
                </a:solidFill>
                <a:latin typeface="Calibri"/>
              </a:rP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0" y="1885950"/>
            <a:ext cx="3962399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1924049"/>
            <a:ext cx="1905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87" b="0">
                <a:solidFill>
                  <a:srgbClr val="1C2429"/>
                </a:solidFill>
                <a:latin typeface="Calibri"/>
              </a:rPr>
              <a:t>Cultura · Desire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77400" y="1924049"/>
            <a:ext cx="381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9F342B"/>
                </a:solidFill>
                <a:latin typeface="Calibri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0" y="1924049"/>
            <a:ext cx="228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0">
                <a:solidFill>
                  <a:srgbClr val="EF7A1D"/>
                </a:solidFill>
                <a:latin typeface="Calibri"/>
              </a:rPr>
              <a:t>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25100" y="1924049"/>
            <a:ext cx="14097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1D7A54"/>
                </a:solidFill>
                <a:latin typeface="Calibri"/>
              </a:rPr>
              <a:t>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0" y="2419350"/>
            <a:ext cx="3962399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2400" y="2457450"/>
            <a:ext cx="1905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87" b="0">
                <a:solidFill>
                  <a:srgbClr val="1C2429"/>
                </a:solidFill>
                <a:latin typeface="Calibri"/>
              </a:rPr>
              <a:t>Estratégia · Awareness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7400" y="2457450"/>
            <a:ext cx="381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9F342B"/>
                </a:solidFill>
                <a:latin typeface="Calibri"/>
              </a:rPr>
              <a:t>1*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0" y="2457450"/>
            <a:ext cx="228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0">
                <a:solidFill>
                  <a:srgbClr val="EF7A1D"/>
                </a:solidFill>
                <a:latin typeface="Calibri"/>
              </a:rPr>
              <a:t>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25100" y="2457450"/>
            <a:ext cx="14097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1D7A54"/>
                </a:solidFill>
                <a:latin typeface="Calibri"/>
              </a:rPr>
              <a:t>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772400" y="2952750"/>
            <a:ext cx="3962399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0" y="2990850"/>
            <a:ext cx="1905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87" b="0">
                <a:solidFill>
                  <a:srgbClr val="1C2429"/>
                </a:solidFill>
                <a:latin typeface="Calibri"/>
              </a:rPr>
              <a:t>Estratégia · Desire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77400" y="2990850"/>
            <a:ext cx="381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9F342B"/>
                </a:solidFill>
                <a:latin typeface="Calibri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990850"/>
            <a:ext cx="228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0">
                <a:solidFill>
                  <a:srgbClr val="EF7A1D"/>
                </a:solidFill>
                <a:latin typeface="Calibri"/>
              </a:rPr>
              <a:t>→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25100" y="2990850"/>
            <a:ext cx="14097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1D7A54"/>
                </a:solidFill>
                <a:latin typeface="Calibri"/>
              </a:rPr>
              <a:t>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0" y="3486150"/>
            <a:ext cx="3962399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0" y="3524250"/>
            <a:ext cx="1905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87" b="0">
                <a:solidFill>
                  <a:srgbClr val="1C2429"/>
                </a:solidFill>
                <a:latin typeface="Calibri"/>
              </a:rPr>
              <a:t>Compreensão das mensagens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77400" y="3524250"/>
            <a:ext cx="381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9F342B"/>
                </a:solidFill>
                <a:latin typeface="Calibri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8400" y="3524250"/>
            <a:ext cx="228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0">
                <a:solidFill>
                  <a:srgbClr val="EF7A1D"/>
                </a:solidFill>
                <a:latin typeface="Calibri"/>
              </a:rPr>
              <a:t>→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25100" y="3524250"/>
            <a:ext cx="14097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1D7A54"/>
                </a:solidFill>
                <a:latin typeface="Calibri"/>
              </a:rPr>
              <a:t>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0" y="4019549"/>
            <a:ext cx="3962399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0" y="4057650"/>
            <a:ext cx="1905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87" b="0">
                <a:solidFill>
                  <a:srgbClr val="1C2429"/>
                </a:solidFill>
                <a:latin typeface="Calibri"/>
              </a:rPr>
              <a:t>Satisfação, nova matriz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77400" y="4057650"/>
            <a:ext cx="381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9F342B"/>
                </a:solidFill>
                <a:latin typeface="Calibri"/>
              </a:rP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58400" y="4057650"/>
            <a:ext cx="228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0">
                <a:solidFill>
                  <a:srgbClr val="EF7A1D"/>
                </a:solidFill>
                <a:latin typeface="Calibri"/>
              </a:rPr>
              <a:t>→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25100" y="4057650"/>
            <a:ext cx="14097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37" b="1">
                <a:solidFill>
                  <a:srgbClr val="1D7A54"/>
                </a:solidFill>
                <a:latin typeface="Calibri"/>
              </a:rPr>
              <a:t>1 (mesma redação)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772400" y="4552950"/>
            <a:ext cx="3962399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772400" y="4591050"/>
            <a:ext cx="1905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87" b="0">
                <a:solidFill>
                  <a:srgbClr val="1C2429"/>
                </a:solidFill>
                <a:latin typeface="Calibri"/>
              </a:rPr>
              <a:t>Face a face (líderes)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77400" y="4591050"/>
            <a:ext cx="381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9F342B"/>
                </a:solidFill>
                <a:latin typeface="Calibri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4591050"/>
            <a:ext cx="228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0">
                <a:solidFill>
                  <a:srgbClr val="EF7A1D"/>
                </a:solidFill>
                <a:latin typeface="Calibri"/>
              </a:rPr>
              <a:t>→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25100" y="4591050"/>
            <a:ext cx="14097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37" b="1">
                <a:solidFill>
                  <a:srgbClr val="1D7A54"/>
                </a:solidFill>
                <a:latin typeface="Calibri"/>
              </a:rPr>
              <a:t>matriz por canal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772400" y="5086350"/>
            <a:ext cx="3962399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772400" y="5162550"/>
            <a:ext cx="3962399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5A6672"/>
                </a:solidFill>
                <a:latin typeface="Calibri"/>
              </a:rPr>
              <a:t>* item misto, não separável por tema. Fonte: formulário Nova_pesquisa (DE/PARA original).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0A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04800"/>
            <a:ext cx="247649" cy="28575"/>
          </a:xfrm>
          <a:prstGeom prst="rect">
            <a:avLst/>
          </a:prstGeom>
          <a:solidFill>
            <a:srgbClr val="EF7A1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100" y="20955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1">
                <a:solidFill>
                  <a:srgbClr val="5A6672"/>
                </a:solidFill>
                <a:latin typeface="Calibri"/>
              </a:rPr>
              <a:t>A PESQUISA MONTADA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150"/>
            <a:ext cx="1127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25" b="0">
                <a:solidFill>
                  <a:srgbClr val="1C2429"/>
                </a:solidFill>
                <a:latin typeface="Georgia"/>
              </a:rPr>
              <a:t>6 perguntas pontuadas para todos, +1 para líderes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722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5A6672"/>
                </a:solidFill>
                <a:latin typeface="Calibri"/>
              </a:rPr>
              <a:t>Comunicação Interna VLI · Pesquisa de dezembro/2026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2300" y="657225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5A6672"/>
                </a:solidFill>
                <a:latin typeface="Calibri"/>
              </a:rPr>
              <a:t>3 /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8700"/>
            <a:ext cx="3238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81050" y="1028700"/>
            <a:ext cx="5391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1">
                <a:solidFill>
                  <a:srgbClr val="5A6672"/>
                </a:solidFill>
                <a:latin typeface="Calibri"/>
              </a:rPr>
              <a:t>PERGUNTA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028700"/>
            <a:ext cx="3143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1">
                <a:solidFill>
                  <a:srgbClr val="5A6672"/>
                </a:solidFill>
                <a:latin typeface="Calibri"/>
              </a:rPr>
              <a:t>RESPOSTA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15450" y="10287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1">
                <a:solidFill>
                  <a:srgbClr val="5A6672"/>
                </a:solidFill>
                <a:latin typeface="Calibri"/>
              </a:rPr>
              <a:t>MEDE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1028700"/>
            <a:ext cx="99059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1">
                <a:solidFill>
                  <a:srgbClr val="5A6672"/>
                </a:solidFill>
                <a:latin typeface="Calibri"/>
              </a:rPr>
              <a:t>MARCO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257300"/>
            <a:ext cx="112776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295400"/>
            <a:ext cx="3238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0A4E79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150" y="1295400"/>
            <a:ext cx="5295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1C2429"/>
                </a:solidFill>
                <a:latin typeface="Calibri"/>
              </a:rPr>
              <a:t>Eu entendo por que a VLI precisa seguir a estratégia do Conexão 2030.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0300" y="1295400"/>
            <a:ext cx="30480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Concordância 1–5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53550" y="1295400"/>
            <a:ext cx="13525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Estratégia · Awareness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2300" y="1295400"/>
            <a:ext cx="9525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12" b="1">
                <a:solidFill>
                  <a:srgbClr val="1D7A54"/>
                </a:solidFill>
                <a:latin typeface="Calibri"/>
              </a:rPr>
              <a:t>Marco 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1809750"/>
            <a:ext cx="112776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1809750"/>
            <a:ext cx="3238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0A4E79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150" y="1809750"/>
            <a:ext cx="5295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1C2429"/>
                </a:solidFill>
                <a:latin typeface="Calibri"/>
              </a:rPr>
              <a:t>Eu quero contribuir para que a VLI alcance a sua estratégia.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0300" y="1809750"/>
            <a:ext cx="30480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Concordância 1–5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53550" y="1809750"/>
            <a:ext cx="13525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Estratégia · Desire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2300" y="1809750"/>
            <a:ext cx="9525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12" b="1">
                <a:solidFill>
                  <a:srgbClr val="1D7A54"/>
                </a:solidFill>
                <a:latin typeface="Calibri"/>
              </a:rPr>
              <a:t>Marco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324100"/>
            <a:ext cx="112776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324100"/>
            <a:ext cx="3238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0A4E79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150" y="2324100"/>
            <a:ext cx="5295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1C2429"/>
                </a:solidFill>
                <a:latin typeface="Calibri"/>
              </a:rPr>
              <a:t>Eu entendo por que colocar o cliente no centro é importante para o resultado da VLI.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0300" y="2324100"/>
            <a:ext cx="30480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Concordância 1–5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53550" y="2324100"/>
            <a:ext cx="13525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Cultura · Awareness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2300" y="2324100"/>
            <a:ext cx="9525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12" b="1">
                <a:solidFill>
                  <a:srgbClr val="1D7A54"/>
                </a:solidFill>
                <a:latin typeface="Calibri"/>
              </a:rPr>
              <a:t>Marco 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838450"/>
            <a:ext cx="112776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2838450"/>
            <a:ext cx="3238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0A4E79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150" y="2838450"/>
            <a:ext cx="5295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1C2429"/>
                </a:solidFill>
                <a:latin typeface="Calibri"/>
              </a:rPr>
              <a:t>Eu quero colocar o cliente no centro nas minhas decisões do dia a dia.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0300" y="2838450"/>
            <a:ext cx="30480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Concordância 1–5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53550" y="2838450"/>
            <a:ext cx="13525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Cultura · Desire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2300" y="2838450"/>
            <a:ext cx="9525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12" b="1">
                <a:solidFill>
                  <a:srgbClr val="1D7A54"/>
                </a:solidFill>
                <a:latin typeface="Calibri"/>
              </a:rPr>
              <a:t>Marco 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352800"/>
            <a:ext cx="112776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352800"/>
            <a:ext cx="3238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0A4E79"/>
                </a:solidFill>
                <a:latin typeface="Calibr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9150" y="3352800"/>
            <a:ext cx="52959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1C2429"/>
                </a:solidFill>
                <a:latin typeface="Calibri"/>
              </a:rPr>
              <a:t>Qual seu nível de satisfação com os canais de Comunicação Interna da VLI? [lista da nova matriz no enunciado]. Mesma redação da pesquisa “antes”.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0300" y="3352800"/>
            <a:ext cx="30480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Satisfação 1–5 + “Não conheço / não uso”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53550" y="3352800"/>
            <a:ext cx="13525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Satisfação, antes × depois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2300" y="3352800"/>
            <a:ext cx="9525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12" b="1">
                <a:solidFill>
                  <a:srgbClr val="1D7A54"/>
                </a:solidFill>
                <a:latin typeface="Calibri"/>
              </a:rPr>
              <a:t>Marco 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076699"/>
            <a:ext cx="112776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4076699"/>
            <a:ext cx="32385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0A4E79"/>
                </a:solidFill>
                <a:latin typeface="Calibri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9150" y="4076699"/>
            <a:ext cx="52959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1C2429"/>
                </a:solidFill>
                <a:latin typeface="Calibri"/>
              </a:rPr>
              <a:t>Quais destas são as principais mensagens da VLI hoje? (marque todas)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0300" y="4076699"/>
            <a:ext cx="3048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Múltipla escolha com gabarito da GA (mensagens + distratores). Pontua % de acerto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53550" y="4076699"/>
            <a:ext cx="135255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Compreensão das mensagens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82300" y="4076699"/>
            <a:ext cx="952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12" b="1">
                <a:solidFill>
                  <a:srgbClr val="1D7A54"/>
                </a:solidFill>
                <a:latin typeface="Calibri"/>
              </a:rPr>
              <a:t>Marco 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4705350"/>
            <a:ext cx="112776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7200" y="4705350"/>
            <a:ext cx="11277600" cy="628650"/>
          </a:xfrm>
          <a:prstGeom prst="rect">
            <a:avLst/>
          </a:prstGeom>
          <a:solidFill>
            <a:srgbClr val="FDF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4705350"/>
            <a:ext cx="32385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0A4E79"/>
                </a:solidFill>
                <a:latin typeface="Calibri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9150" y="4705350"/>
            <a:ext cx="52959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1C2429"/>
                </a:solidFill>
                <a:latin typeface="Calibri"/>
              </a:rPr>
              <a:t>Só supervisores e gerentes: satisfação com cada canal face a face [Impulsiona Líder, Diálogos de Negócio, CCF…].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0300" y="4705350"/>
            <a:ext cx="3048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Matriz por canal, 1–5 + “Não conheço / não uso”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53550" y="4705350"/>
            <a:ext cx="135255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Face a face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82300" y="4705350"/>
            <a:ext cx="952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12" b="1">
                <a:solidFill>
                  <a:srgbClr val="1D7A54"/>
                </a:solidFill>
                <a:latin typeface="Calibri"/>
              </a:rPr>
              <a:t>Meta 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5334000"/>
            <a:ext cx="112776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7200" y="5334000"/>
            <a:ext cx="11277600" cy="628650"/>
          </a:xfrm>
          <a:prstGeom prst="rect">
            <a:avLst/>
          </a:prstGeom>
          <a:solidFill>
            <a:srgbClr val="F1F4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5334000"/>
            <a:ext cx="32385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0A4E79"/>
                </a:solidFill>
                <a:latin typeface="Calibri"/>
              </a:rPr>
              <a:t>+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150" y="5334000"/>
            <a:ext cx="52959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1C2429"/>
                </a:solidFill>
                <a:latin typeface="Calibri"/>
              </a:rPr>
              <a:t>Filtros obrigatórios, não pontuam: corredor (Norte, Leste, Sudeste, Minas Rio/Minas Bahia) e cargo. Opcional: 1 pergunta aberta.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10300" y="5334000"/>
            <a:ext cx="3048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Lista fechada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53550" y="5334000"/>
            <a:ext cx="135255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Segmentação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82300" y="5334000"/>
            <a:ext cx="952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12" b="1">
                <a:solidFill>
                  <a:srgbClr val="1D7A54"/>
                </a:solidFill>
                <a:latin typeface="Calibri"/>
              </a:rPr>
              <a:t>Gatilho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5962650"/>
            <a:ext cx="112776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057900"/>
            <a:ext cx="112776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25"/>
              </a:spcAft>
            </a:pPr>
            <a:r>
              <a:rPr sz="975" b="1">
                <a:solidFill>
                  <a:srgbClr val="1C2429"/>
                </a:solidFill>
                <a:latin typeface="Calibri"/>
              </a:rPr>
              <a:t>Escala única 1–5</a:t>
            </a:r>
            <a:r>
              <a:rPr sz="975" b="0">
                <a:solidFill>
                  <a:srgbClr val="1C2429"/>
                </a:solidFill>
                <a:latin typeface="Calibri"/>
              </a:rPr>
              <a:t> (1 = discordo totalmente … 5 = concordo totalmente) nas perguntas 1 a 4. Perguntas 1–4 numa única tela de matriz; tempo estimado: ~3 minutos.</a:t>
            </a:r>
          </a:p>
          <a:p>
            <a:pPr algn="l">
              <a:lnSpc>
                <a:spcPct val="108000"/>
              </a:lnSpc>
              <a:spcAft>
                <a:spcPts val="225"/>
              </a:spcAft>
            </a:pPr>
            <a:r>
              <a:rPr sz="975" b="1">
                <a:solidFill>
                  <a:srgbClr val="1C2429"/>
                </a:solidFill>
                <a:latin typeface="Calibri"/>
              </a:rPr>
              <a:t>Precisão vem da amostra, não do nº de perguntas.</a:t>
            </a:r>
            <a:r>
              <a:rPr sz="975" b="0">
                <a:solidFill>
                  <a:srgbClr val="1C2429"/>
                </a:solidFill>
                <a:latin typeface="Calibri"/>
              </a:rPr>
              <a:t> Se for exigido medir a confiabilidade dos pilares, incluir um 2º item por pilar (10 perguntas no total).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0A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04800"/>
            <a:ext cx="247649" cy="28575"/>
          </a:xfrm>
          <a:prstGeom prst="rect">
            <a:avLst/>
          </a:prstGeom>
          <a:solidFill>
            <a:srgbClr val="EF7A1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100" y="20955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1">
                <a:solidFill>
                  <a:srgbClr val="5A6672"/>
                </a:solidFill>
                <a:latin typeface="Calibri"/>
              </a:rPr>
              <a:t>REGRAS DE APURAÇÃO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150"/>
            <a:ext cx="1127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25" b="0">
                <a:solidFill>
                  <a:srgbClr val="1C2429"/>
                </a:solidFill>
                <a:latin typeface="Georgia"/>
              </a:rPr>
              <a:t>Como cada marco será calculado (registrar antes do campo)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722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5A6672"/>
                </a:solidFill>
                <a:latin typeface="Calibri"/>
              </a:rPr>
              <a:t>Comunicação Interna VLI · Pesquisa de dezembro/2026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2300" y="657225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5A6672"/>
                </a:solidFill>
                <a:latin typeface="Calibri"/>
              </a:rPr>
              <a:t>4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66800"/>
            <a:ext cx="3619500" cy="4190999"/>
          </a:xfrm>
          <a:prstGeom prst="rect">
            <a:avLst/>
          </a:prstGeom>
          <a:solidFill>
            <a:srgbClr val="F1F4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66800"/>
            <a:ext cx="3619500" cy="57150"/>
          </a:xfrm>
          <a:prstGeom prst="rect">
            <a:avLst/>
          </a:prstGeom>
          <a:solidFill>
            <a:srgbClr val="0E74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1219200"/>
            <a:ext cx="3238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0">
                <a:solidFill>
                  <a:srgbClr val="0A4E79"/>
                </a:solidFill>
                <a:latin typeface="Georgia"/>
              </a:rPr>
              <a:t>Marcos 1 e 2 · Cultura e Estratégia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752600"/>
            <a:ext cx="3238500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162" b="1">
                <a:solidFill>
                  <a:srgbClr val="1C2429"/>
                </a:solidFill>
                <a:latin typeface="Calibri"/>
              </a:rPr>
              <a:t>Score do pilar</a:t>
            </a:r>
            <a:r>
              <a:rPr sz="1162" b="0">
                <a:solidFill>
                  <a:srgbClr val="1C2429"/>
                </a:solidFill>
                <a:latin typeface="Calibri"/>
              </a:rPr>
              <a:t> = média das respostas (1–5) das perguntas do pilar, ponderada pelo peso de cada estrato (corredor × posição).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162" b="1">
                <a:solidFill>
                  <a:srgbClr val="1C2429"/>
                </a:solidFill>
                <a:latin typeface="Calibri"/>
              </a:rPr>
              <a:t>Atinge</a:t>
            </a:r>
            <a:r>
              <a:rPr sz="1162" b="0">
                <a:solidFill>
                  <a:srgbClr val="1C2429"/>
                </a:solidFill>
                <a:latin typeface="Calibri"/>
              </a:rPr>
              <a:t> quando A ≥ 3,0 e D ≥ 3,0 do tema (Cultura = Marco 1; Estratégia = Marco 2).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162" b="1">
                <a:solidFill>
                  <a:srgbClr val="1C2429"/>
                </a:solidFill>
                <a:latin typeface="Calibri"/>
              </a:rPr>
              <a:t>Cuidado:</a:t>
            </a:r>
            <a:r>
              <a:rPr sz="1162" b="0">
                <a:solidFill>
                  <a:srgbClr val="1C2429"/>
                </a:solidFill>
                <a:latin typeface="Calibri"/>
              </a:rPr>
              <a:t> avaliar A e D separadamente; a média dos dois pode esconder um pilar abaixo de 3.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67200" y="1066800"/>
            <a:ext cx="3619500" cy="4190999"/>
          </a:xfrm>
          <a:prstGeom prst="rect">
            <a:avLst/>
          </a:prstGeom>
          <a:solidFill>
            <a:srgbClr val="F1F4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67200" y="1066800"/>
            <a:ext cx="3619500" cy="57150"/>
          </a:xfrm>
          <a:prstGeom prst="rect">
            <a:avLst/>
          </a:prstGeom>
          <a:solidFill>
            <a:srgbClr val="0E74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7700" y="1219200"/>
            <a:ext cx="3238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0">
                <a:solidFill>
                  <a:srgbClr val="0A4E79"/>
                </a:solidFill>
                <a:latin typeface="Georgia"/>
              </a:rPr>
              <a:t>Marco 3 · Nova matriz de canais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7700" y="1752600"/>
            <a:ext cx="3238500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162" b="1">
                <a:solidFill>
                  <a:srgbClr val="1C2429"/>
                </a:solidFill>
                <a:latin typeface="Calibri"/>
              </a:rPr>
              <a:t>Satisfação</a:t>
            </a:r>
            <a:r>
              <a:rPr sz="1162" b="0">
                <a:solidFill>
                  <a:srgbClr val="1C2429"/>
                </a:solidFill>
                <a:latin typeface="Calibri"/>
              </a:rPr>
              <a:t> = % de notas 4–5 na pergunta 5. “Não conheço” sai do denominador e é reportado à parte.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162" b="1">
                <a:solidFill>
                  <a:srgbClr val="1C2429"/>
                </a:solidFill>
                <a:latin typeface="Calibri"/>
              </a:rPr>
              <a:t>Compreensão</a:t>
            </a:r>
            <a:r>
              <a:rPr sz="1162" b="0">
                <a:solidFill>
                  <a:srgbClr val="1C2429"/>
                </a:solidFill>
                <a:latin typeface="Calibri"/>
              </a:rPr>
              <a:t> = % de acerto na pergunta 6, gabarito da GA.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162" b="1">
                <a:solidFill>
                  <a:srgbClr val="1C2429"/>
                </a:solidFill>
                <a:latin typeface="Calibri"/>
              </a:rPr>
              <a:t>Atinge</a:t>
            </a:r>
            <a:r>
              <a:rPr sz="1162" b="0">
                <a:solidFill>
                  <a:srgbClr val="1C2429"/>
                </a:solidFill>
                <a:latin typeface="Calibri"/>
              </a:rPr>
              <a:t> com ≥ 85% (confirmar se vale para as duas partes). Antes × depois: pergunta 5 com a mesma redação nas duas ondas.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77200" y="1066800"/>
            <a:ext cx="3657600" cy="4190999"/>
          </a:xfrm>
          <a:prstGeom prst="rect">
            <a:avLst/>
          </a:prstGeom>
          <a:solidFill>
            <a:srgbClr val="FDF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1066800"/>
            <a:ext cx="3657600" cy="57150"/>
          </a:xfrm>
          <a:prstGeom prst="rect">
            <a:avLst/>
          </a:prstGeom>
          <a:solidFill>
            <a:srgbClr val="EF7A1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699" y="1219200"/>
            <a:ext cx="32766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0">
                <a:solidFill>
                  <a:srgbClr val="A4510E"/>
                </a:solidFill>
                <a:latin typeface="Georgia"/>
              </a:rPr>
              <a:t>Meta 2 · Líder Comunicador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699" y="1543050"/>
            <a:ext cx="3276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12" b="0">
                <a:solidFill>
                  <a:srgbClr val="1C2429"/>
                </a:solidFill>
                <a:latin typeface="Calibri"/>
              </a:rPr>
              <a:t>Público: supervisores e gerentes. Índice = % de notas 4–5 nos canais face a face (pergunta 7).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67699" y="2247900"/>
            <a:ext cx="3276600" cy="476250"/>
          </a:xfrm>
          <a:prstGeom prst="rect">
            <a:avLst/>
          </a:prstGeom>
          <a:solidFill>
            <a:srgbClr val="F8E9E7"/>
          </a:solidFill>
          <a:ln w="9525">
            <a:solidFill>
              <a:srgbClr val="9F342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2950" y="2247900"/>
            <a:ext cx="30861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12" b="0">
                <a:solidFill>
                  <a:srgbClr val="1C2429"/>
                </a:solidFill>
                <a:latin typeface="Calibri"/>
              </a:rPr>
              <a:t>Índice geral &lt; 75%: meta não atingida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67699" y="2838450"/>
            <a:ext cx="3276600" cy="476250"/>
          </a:xfrm>
          <a:prstGeom prst="rect">
            <a:avLst/>
          </a:prstGeom>
          <a:solidFill>
            <a:srgbClr val="E6F3EC"/>
          </a:solidFill>
          <a:ln w="9525">
            <a:solidFill>
              <a:srgbClr val="1D7A5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2950" y="2838450"/>
            <a:ext cx="30861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12" b="0">
                <a:solidFill>
                  <a:srgbClr val="1C2429"/>
                </a:solidFill>
                <a:latin typeface="Calibri"/>
              </a:rPr>
              <a:t>Índice geral ≥ 75%: meta atingida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67699" y="3429000"/>
            <a:ext cx="3276600" cy="476250"/>
          </a:xfrm>
          <a:prstGeom prst="rect">
            <a:avLst/>
          </a:prstGeom>
          <a:solidFill>
            <a:srgbClr val="F1F4F7"/>
          </a:solidFill>
          <a:ln w="9525">
            <a:solidFill>
              <a:srgbClr val="0A4E7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2950" y="3429000"/>
            <a:ext cx="30861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12" b="0">
                <a:solidFill>
                  <a:srgbClr val="1C2429"/>
                </a:solidFill>
                <a:latin typeface="Calibri"/>
              </a:rPr>
              <a:t>Índice geral ≥ 80%: avaliar cada corredor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67699" y="4019549"/>
            <a:ext cx="3276600" cy="533400"/>
          </a:xfrm>
          <a:prstGeom prst="rect">
            <a:avLst/>
          </a:prstGeom>
          <a:solidFill>
            <a:srgbClr val="E6F3EC"/>
          </a:solidFill>
          <a:ln w="9525">
            <a:solidFill>
              <a:srgbClr val="1D7A5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2950" y="4019549"/>
            <a:ext cx="30861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12" b="0">
                <a:solidFill>
                  <a:srgbClr val="1C2429"/>
                </a:solidFill>
                <a:latin typeface="Calibri"/>
              </a:rPr>
              <a:t>Todos os corredores ≥ 70%: vale o resultado acima de 80%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67699" y="4648200"/>
            <a:ext cx="3276600" cy="533400"/>
          </a:xfrm>
          <a:prstGeom prst="rect">
            <a:avLst/>
          </a:prstGeom>
          <a:solidFill>
            <a:srgbClr val="F8E9E7"/>
          </a:solidFill>
          <a:ln w="9525">
            <a:solidFill>
              <a:srgbClr val="9F342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2950" y="4648200"/>
            <a:ext cx="30861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12" b="0">
                <a:solidFill>
                  <a:srgbClr val="1C2429"/>
                </a:solidFill>
                <a:latin typeface="Calibri"/>
              </a:rPr>
              <a:t>Algum corredor &lt; 70%: atingimento limitado a 75%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448300"/>
            <a:ext cx="1127760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700" y="5524500"/>
            <a:ext cx="1095375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450"/>
              </a:spcAft>
            </a:pPr>
            <a:r>
              <a:rPr sz="1012" b="1">
                <a:solidFill>
                  <a:srgbClr val="1C2429"/>
                </a:solidFill>
                <a:latin typeface="Calibri"/>
              </a:rPr>
              <a:t>Definições a registrar por escrito antes do envio:</a:t>
            </a:r>
            <a:r>
              <a:rPr sz="1012" b="0">
                <a:solidFill>
                  <a:srgbClr val="1C2429"/>
                </a:solidFill>
                <a:latin typeface="Calibri"/>
              </a:rPr>
              <a:t> (1) satisfação = % de notas 4–5; (2) “não conheço” fora do denominador; (3) o “70” do gatilho é 70% e não nota 70 de 0–100; (4) corredores são os 4 listados; (5) ponderação por estrato.</a:t>
            </a:r>
          </a:p>
          <a:p>
            <a:pPr algn="l">
              <a:lnSpc>
                <a:spcPct val="108000"/>
              </a:lnSpc>
              <a:spcAft>
                <a:spcPts val="450"/>
              </a:spcAft>
            </a:pPr>
            <a:r>
              <a:rPr sz="1012" b="1">
                <a:solidFill>
                  <a:srgbClr val="1C2429"/>
                </a:solidFill>
                <a:latin typeface="Calibri"/>
              </a:rPr>
              <a:t>Não alterar a redação das perguntas depois do pré-teste:</a:t>
            </a:r>
            <a:r>
              <a:rPr sz="1012" b="0">
                <a:solidFill>
                  <a:srgbClr val="1C2429"/>
                </a:solidFill>
                <a:latin typeface="Calibri"/>
              </a:rPr>
              <a:t> muda a série e abre contestação na apuração.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0A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04800"/>
            <a:ext cx="247649" cy="28575"/>
          </a:xfrm>
          <a:prstGeom prst="rect">
            <a:avLst/>
          </a:prstGeom>
          <a:solidFill>
            <a:srgbClr val="EF7A1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100" y="20955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1">
                <a:solidFill>
                  <a:srgbClr val="5A6672"/>
                </a:solidFill>
                <a:latin typeface="Calibri"/>
              </a:rPr>
              <a:t>AMOSTRA E PRECISÃO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150"/>
            <a:ext cx="1127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25" b="0">
                <a:solidFill>
                  <a:srgbClr val="1C2429"/>
                </a:solidFill>
                <a:latin typeface="Georgia"/>
              </a:rPr>
              <a:t>A precisão da Meta 2 depende da taxa de resposta por corredor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722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5A6672"/>
                </a:solidFill>
                <a:latin typeface="Calibri"/>
              </a:rPr>
              <a:t>Comunicação Interna VLI · Pesquisa de dezembro/2026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2300" y="657225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5A6672"/>
                </a:solidFill>
                <a:latin typeface="Calibri"/>
              </a:rPr>
              <a:t>5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66800"/>
            <a:ext cx="4953000" cy="3143250"/>
          </a:xfrm>
          <a:prstGeom prst="rect">
            <a:avLst/>
          </a:prstGeom>
          <a:solidFill>
            <a:srgbClr val="F1F4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66800"/>
            <a:ext cx="4953000" cy="57150"/>
          </a:xfrm>
          <a:prstGeom prst="rect">
            <a:avLst/>
          </a:prstGeom>
          <a:solidFill>
            <a:srgbClr val="0E74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1219200"/>
            <a:ext cx="4572000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0">
                <a:solidFill>
                  <a:srgbClr val="0A4E79"/>
                </a:solidFill>
                <a:latin typeface="Georgia"/>
              </a:rPr>
              <a:t>Todo o público (Marcos 1 a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543050"/>
            <a:ext cx="4572000" cy="2571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750"/>
              </a:spcAft>
            </a:pPr>
            <a:r>
              <a:rPr sz="1125" b="1">
                <a:solidFill>
                  <a:srgbClr val="1C2429"/>
                </a:solidFill>
                <a:latin typeface="Calibri"/>
              </a:rPr>
              <a:t>Fórmula:</a:t>
            </a:r>
            <a:r>
              <a:rPr sz="1125" b="0">
                <a:solidFill>
                  <a:srgbClr val="1C2429"/>
                </a:solidFill>
                <a:latin typeface="Calibri"/>
              </a:rPr>
              <a:t> n₀ = Z²·p(1−p)/e²  e  n = n₀ / (1 + (n₀−1)/N).</a:t>
            </a:r>
          </a:p>
          <a:p>
            <a:pPr algn="l">
              <a:lnSpc>
                <a:spcPct val="108000"/>
              </a:lnSpc>
              <a:spcAft>
                <a:spcPts val="750"/>
              </a:spcAft>
            </a:pPr>
            <a:r>
              <a:rPr sz="1125" b="0">
                <a:solidFill>
                  <a:srgbClr val="1C2429"/>
                </a:solidFill>
                <a:latin typeface="Calibri"/>
              </a:rPr>
              <a:t>Com 95% de confiança e ±5%: n₀ = 384. Exemplos ilustrativos (o N real da VLI deve ser informado): N = 5.000 → n = 357; N = 10.000 → n = 370.</a:t>
            </a:r>
          </a:p>
          <a:p>
            <a:pPr algn="l">
              <a:lnSpc>
                <a:spcPct val="108000"/>
              </a:lnSpc>
              <a:spcAft>
                <a:spcPts val="750"/>
              </a:spcAft>
            </a:pPr>
            <a:r>
              <a:rPr sz="1125" b="0">
                <a:solidFill>
                  <a:srgbClr val="1C2429"/>
                </a:solidFill>
                <a:latin typeface="Calibri"/>
              </a:rPr>
              <a:t>Margem com n = 370 e resultado de 85%: </a:t>
            </a:r>
            <a:r>
              <a:rPr sz="1125" b="1">
                <a:solidFill>
                  <a:srgbClr val="1C2429"/>
                </a:solidFill>
                <a:latin typeface="Calibri"/>
              </a:rPr>
              <a:t>±3,6 pontos percentuais</a:t>
            </a:r>
            <a:r>
              <a:rPr sz="1125" b="0">
                <a:solidFill>
                  <a:srgbClr val="1C2429"/>
                </a:solidFill>
                <a:latin typeface="Calibri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750"/>
              </a:spcAft>
            </a:pPr>
            <a:r>
              <a:rPr sz="1125" b="0">
                <a:solidFill>
                  <a:srgbClr val="1C2429"/>
                </a:solidFill>
                <a:latin typeface="Calibri"/>
              </a:rPr>
              <a:t>Amostra </a:t>
            </a:r>
            <a:r>
              <a:rPr sz="1125" b="1">
                <a:solidFill>
                  <a:srgbClr val="1C2429"/>
                </a:solidFill>
                <a:latin typeface="Calibri"/>
              </a:rPr>
              <a:t>estratificada por corredor e posição</a:t>
            </a:r>
            <a:r>
              <a:rPr sz="1125" b="0">
                <a:solidFill>
                  <a:srgbClr val="1C2429"/>
                </a:solidFill>
                <a:latin typeface="Calibri"/>
              </a:rPr>
              <a:t>; convidar mais que n, conforme a taxa de resposta histórica.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1066800"/>
            <a:ext cx="6019800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1">
                <a:solidFill>
                  <a:srgbClr val="5A6672"/>
                </a:solidFill>
                <a:latin typeface="Calibri"/>
              </a:rPr>
              <a:t>MARGEM DE ERRO NO CORREDOR (±pp, 95%, resultado de 70%)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0" y="1333500"/>
            <a:ext cx="60198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15000" y="139065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Líderes no corredor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0" y="1390650"/>
            <a:ext cx="13716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75" b="1">
                <a:solidFill>
                  <a:srgbClr val="5A6672"/>
                </a:solidFill>
                <a:latin typeface="Calibri"/>
              </a:rPr>
              <a:t>50% respondem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1390650"/>
            <a:ext cx="13716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75" b="1">
                <a:solidFill>
                  <a:srgbClr val="5A6672"/>
                </a:solidFill>
                <a:latin typeface="Calibri"/>
              </a:rPr>
              <a:t>70% respondem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3200" y="1390650"/>
            <a:ext cx="13716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75" b="1">
                <a:solidFill>
                  <a:srgbClr val="5A6672"/>
                </a:solidFill>
                <a:latin typeface="Calibri"/>
              </a:rPr>
              <a:t>90% respondem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1809750"/>
            <a:ext cx="19050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0A4E79"/>
                </a:solidFill>
                <a:latin typeface="Calibri"/>
              </a:rPr>
              <a:t>N = 60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77150" y="1847850"/>
            <a:ext cx="1257300" cy="419100"/>
          </a:xfrm>
          <a:prstGeom prst="rect">
            <a:avLst/>
          </a:prstGeom>
          <a:solidFill>
            <a:srgbClr val="F8E9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0" y="1809750"/>
            <a:ext cx="13716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9F342B"/>
                </a:solidFill>
                <a:latin typeface="Calibri"/>
              </a:rPr>
              <a:t>±11,7</a:t>
            </a:r>
            <a:r>
              <a:rPr sz="1125" b="0">
                <a:solidFill>
                  <a:srgbClr val="5A6672"/>
                </a:solidFill>
                <a:latin typeface="Calibri"/>
              </a:rPr>
              <a:t>  (n=30)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48750" y="1847850"/>
            <a:ext cx="1257300" cy="419100"/>
          </a:xfrm>
          <a:prstGeom prst="rect">
            <a:avLst/>
          </a:prstGeom>
          <a:solidFill>
            <a:srgbClr val="FDF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91600" y="1809750"/>
            <a:ext cx="13716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EF7A1D"/>
                </a:solidFill>
                <a:latin typeface="Calibri"/>
              </a:rPr>
              <a:t>±7,7</a:t>
            </a:r>
            <a:r>
              <a:rPr sz="1125" b="0">
                <a:solidFill>
                  <a:srgbClr val="5A6672"/>
                </a:solidFill>
                <a:latin typeface="Calibri"/>
              </a:rPr>
              <a:t>  (n=42)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420350" y="1847850"/>
            <a:ext cx="1257300" cy="419100"/>
          </a:xfrm>
          <a:prstGeom prst="rect">
            <a:avLst/>
          </a:prstGeom>
          <a:solidFill>
            <a:srgbClr val="E6F3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63200" y="1809750"/>
            <a:ext cx="13716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1D7A54"/>
                </a:solidFill>
                <a:latin typeface="Calibri"/>
              </a:rPr>
              <a:t>±3,9</a:t>
            </a:r>
            <a:r>
              <a:rPr sz="1125" b="0">
                <a:solidFill>
                  <a:srgbClr val="5A6672"/>
                </a:solidFill>
                <a:latin typeface="Calibri"/>
              </a:rPr>
              <a:t>  (n=54)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000" y="2343150"/>
            <a:ext cx="19050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0A4E79"/>
                </a:solidFill>
                <a:latin typeface="Calibri"/>
              </a:rPr>
              <a:t>N = 100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77150" y="2381250"/>
            <a:ext cx="1257300" cy="419100"/>
          </a:xfrm>
          <a:prstGeom prst="rect">
            <a:avLst/>
          </a:prstGeom>
          <a:solidFill>
            <a:srgbClr val="F8E9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0" y="2343150"/>
            <a:ext cx="13716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9F342B"/>
                </a:solidFill>
                <a:latin typeface="Calibri"/>
              </a:rPr>
              <a:t>±9,0</a:t>
            </a:r>
            <a:r>
              <a:rPr sz="1125" b="0">
                <a:solidFill>
                  <a:srgbClr val="5A6672"/>
                </a:solidFill>
                <a:latin typeface="Calibri"/>
              </a:rPr>
              <a:t>  (n=50)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48750" y="2381250"/>
            <a:ext cx="1257300" cy="419100"/>
          </a:xfrm>
          <a:prstGeom prst="rect">
            <a:avLst/>
          </a:prstGeom>
          <a:solidFill>
            <a:srgbClr val="FDF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91600" y="2343150"/>
            <a:ext cx="13716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EF7A1D"/>
                </a:solidFill>
                <a:latin typeface="Calibri"/>
              </a:rPr>
              <a:t>±5,9</a:t>
            </a:r>
            <a:r>
              <a:rPr sz="1125" b="0">
                <a:solidFill>
                  <a:srgbClr val="5A6672"/>
                </a:solidFill>
                <a:latin typeface="Calibri"/>
              </a:rPr>
              <a:t>  (n=70)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20350" y="2381250"/>
            <a:ext cx="1257300" cy="419100"/>
          </a:xfrm>
          <a:prstGeom prst="rect">
            <a:avLst/>
          </a:prstGeom>
          <a:solidFill>
            <a:srgbClr val="E6F3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63200" y="2343150"/>
            <a:ext cx="13716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1D7A54"/>
                </a:solidFill>
                <a:latin typeface="Calibri"/>
              </a:rPr>
              <a:t>±3,0</a:t>
            </a:r>
            <a:r>
              <a:rPr sz="1125" b="0">
                <a:solidFill>
                  <a:srgbClr val="5A6672"/>
                </a:solidFill>
                <a:latin typeface="Calibri"/>
              </a:rPr>
              <a:t>  (n=90)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0" y="2876550"/>
            <a:ext cx="19050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0A4E79"/>
                </a:solidFill>
                <a:latin typeface="Calibri"/>
              </a:rPr>
              <a:t>N = 200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77150" y="2914650"/>
            <a:ext cx="1257300" cy="419100"/>
          </a:xfrm>
          <a:prstGeom prst="rect">
            <a:avLst/>
          </a:prstGeom>
          <a:solidFill>
            <a:srgbClr val="FDF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20000" y="2876550"/>
            <a:ext cx="13716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EF7A1D"/>
                </a:solidFill>
                <a:latin typeface="Calibri"/>
              </a:rPr>
              <a:t>±6,4</a:t>
            </a:r>
            <a:r>
              <a:rPr sz="1125" b="0">
                <a:solidFill>
                  <a:srgbClr val="5A6672"/>
                </a:solidFill>
                <a:latin typeface="Calibri"/>
              </a:rPr>
              <a:t>  (n=100)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48750" y="2914650"/>
            <a:ext cx="1257300" cy="419100"/>
          </a:xfrm>
          <a:prstGeom prst="rect">
            <a:avLst/>
          </a:prstGeom>
          <a:solidFill>
            <a:srgbClr val="E6F3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91600" y="2876550"/>
            <a:ext cx="13716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1D7A54"/>
                </a:solidFill>
                <a:latin typeface="Calibri"/>
              </a:rPr>
              <a:t>±4,2</a:t>
            </a:r>
            <a:r>
              <a:rPr sz="1125" b="0">
                <a:solidFill>
                  <a:srgbClr val="5A6672"/>
                </a:solidFill>
                <a:latin typeface="Calibri"/>
              </a:rPr>
              <a:t>  (n=140)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20350" y="2914650"/>
            <a:ext cx="1257300" cy="419100"/>
          </a:xfrm>
          <a:prstGeom prst="rect">
            <a:avLst/>
          </a:prstGeom>
          <a:solidFill>
            <a:srgbClr val="E6F3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63200" y="2876550"/>
            <a:ext cx="13716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1D7A54"/>
                </a:solidFill>
                <a:latin typeface="Calibri"/>
              </a:rPr>
              <a:t>±2,1</a:t>
            </a:r>
            <a:r>
              <a:rPr sz="1125" b="0">
                <a:solidFill>
                  <a:srgbClr val="5A6672"/>
                </a:solidFill>
                <a:latin typeface="Calibri"/>
              </a:rPr>
              <a:t>  (n=180)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15000" y="3448050"/>
            <a:ext cx="6019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5A6672"/>
                </a:solidFill>
                <a:latin typeface="Calibri"/>
              </a:rPr>
              <a:t>Verde ≤ 5 pp · laranja 5 a 8 pp · vermelho &gt; 8 pp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400550"/>
            <a:ext cx="11277600" cy="1962150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7700" y="4495800"/>
            <a:ext cx="1095375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75"/>
              </a:spcAft>
            </a:pPr>
            <a:r>
              <a:rPr sz="1162" b="1">
                <a:solidFill>
                  <a:srgbClr val="1C2429"/>
                </a:solidFill>
                <a:latin typeface="Calibri"/>
              </a:rPr>
              <a:t>O que isso significa:</a:t>
            </a:r>
            <a:r>
              <a:rPr sz="1162" b="0">
                <a:solidFill>
                  <a:srgbClr val="1C2429"/>
                </a:solidFill>
                <a:latin typeface="Calibri"/>
              </a:rPr>
              <a:t> um corredor com poucas respostas não prova 70%. Com 100 líderes e só 50 respostas, a margem é ±9,0 pp: um corredor que “mede” 70% pode estar entre 61% e 79%.</a:t>
            </a:r>
          </a:p>
          <a:p>
            <a:pPr algn="l">
              <a:lnSpc>
                <a:spcPct val="108000"/>
              </a:lnSpc>
              <a:spcAft>
                <a:spcPts val="675"/>
              </a:spcAft>
            </a:pPr>
            <a:r>
              <a:rPr sz="1162" b="1">
                <a:solidFill>
                  <a:srgbClr val="1C2429"/>
                </a:solidFill>
                <a:latin typeface="Calibri"/>
              </a:rPr>
              <a:t>Recomendação:</a:t>
            </a:r>
            <a:r>
              <a:rPr sz="1162" b="0">
                <a:solidFill>
                  <a:srgbClr val="1C2429"/>
                </a:solidFill>
                <a:latin typeface="Calibri"/>
              </a:rPr>
              <a:t> tratar supervisores e gerentes como </a:t>
            </a:r>
            <a:r>
              <a:rPr sz="1162" b="1">
                <a:solidFill>
                  <a:srgbClr val="1C2429"/>
                </a:solidFill>
                <a:latin typeface="Calibri"/>
              </a:rPr>
              <a:t>censo</a:t>
            </a:r>
            <a:r>
              <a:rPr sz="1162" b="0">
                <a:solidFill>
                  <a:srgbClr val="1C2429"/>
                </a:solidFill>
                <a:latin typeface="Calibri"/>
              </a:rPr>
              <a:t> (convidar todos) e perseguir ≥ 80% de resposta em cada corredor, com acompanhamento diário da taxa por corredor durante o campo.</a:t>
            </a:r>
          </a:p>
          <a:p>
            <a:pPr algn="l">
              <a:lnSpc>
                <a:spcPct val="108000"/>
              </a:lnSpc>
              <a:spcAft>
                <a:spcPts val="675"/>
              </a:spcAft>
            </a:pPr>
            <a:r>
              <a:rPr sz="1162" b="1">
                <a:solidFill>
                  <a:srgbClr val="1C2429"/>
                </a:solidFill>
                <a:latin typeface="Calibri"/>
              </a:rPr>
              <a:t>Qualidade dos dados:</a:t>
            </a:r>
            <a:r>
              <a:rPr sz="1162" b="0">
                <a:solidFill>
                  <a:srgbClr val="1C2429"/>
                </a:solidFill>
                <a:latin typeface="Calibri"/>
              </a:rPr>
              <a:t> descartar respostas muito rápidas (menos de 1/3 da mediana) e padrão de resposta uniforme em toda a matriz; registrar quantas foram removidas.</a:t>
            </a:r>
          </a:p>
          <a:p>
            <a:pPr algn="l">
              <a:lnSpc>
                <a:spcPct val="108000"/>
              </a:lnSpc>
              <a:spcAft>
                <a:spcPts val="675"/>
              </a:spcAft>
            </a:pPr>
            <a:r>
              <a:rPr sz="1162" b="1">
                <a:solidFill>
                  <a:srgbClr val="1C2429"/>
                </a:solidFill>
                <a:latin typeface="Calibri"/>
              </a:rPr>
              <a:t>Os valores acima são ilustrativos:</a:t>
            </a:r>
            <a:r>
              <a:rPr sz="1162" b="0">
                <a:solidFill>
                  <a:srgbClr val="1C2429"/>
                </a:solidFill>
                <a:latin typeface="Calibri"/>
              </a:rPr>
              <a:t> substituir pelos N reais de cada corredor (RH) antes de fechar a amostra.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0A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04800"/>
            <a:ext cx="247649" cy="28575"/>
          </a:xfrm>
          <a:prstGeom prst="rect">
            <a:avLst/>
          </a:prstGeom>
          <a:solidFill>
            <a:srgbClr val="EF7A1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100" y="20955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1">
                <a:solidFill>
                  <a:srgbClr val="5A6672"/>
                </a:solidFill>
                <a:latin typeface="Calibri"/>
              </a:rPr>
              <a:t>RECOMENDAÇÕES E PLANO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150"/>
            <a:ext cx="1127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25" b="0">
                <a:solidFill>
                  <a:srgbClr val="1C2429"/>
                </a:solidFill>
                <a:latin typeface="Georgia"/>
              </a:rPr>
              <a:t>Seis recomendações e o caminho até dezembro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722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5A6672"/>
                </a:solidFill>
                <a:latin typeface="Calibri"/>
              </a:rPr>
              <a:t>Comunicação Interna VLI · Pesquisa de dezembro/2026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2300" y="657225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5A6672"/>
                </a:solidFill>
                <a:latin typeface="Calibri"/>
              </a:rPr>
              <a:t>6 /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6680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1">
                <a:solidFill>
                  <a:srgbClr val="5A6672"/>
                </a:solidFill>
                <a:latin typeface="Calibri"/>
              </a:rPr>
              <a:t>RECOMENDAÇÕES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95400"/>
            <a:ext cx="57150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352550"/>
            <a:ext cx="3429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800" b="0">
                <a:solidFill>
                  <a:srgbClr val="EF7A1D"/>
                </a:solidFill>
                <a:latin typeface="Georg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50" y="1352550"/>
            <a:ext cx="53149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87" b="1">
                <a:solidFill>
                  <a:srgbClr val="1C2429"/>
                </a:solidFill>
                <a:latin typeface="Calibri"/>
              </a:rPr>
              <a:t>Uma pergunta por marco, </a:t>
            </a:r>
            <a:r>
              <a:rPr sz="1087" b="0">
                <a:solidFill>
                  <a:srgbClr val="1C2429"/>
                </a:solidFill>
                <a:latin typeface="Calibri"/>
              </a:rPr>
              <a:t>mesma escala e mesma redação para todos os públicos: consolida e prova cada marco.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24075"/>
            <a:ext cx="57150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1700"/>
            <a:ext cx="3429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800" b="0">
                <a:solidFill>
                  <a:srgbClr val="EF7A1D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2171700"/>
            <a:ext cx="53149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87" b="1">
                <a:solidFill>
                  <a:srgbClr val="1C2429"/>
                </a:solidFill>
                <a:latin typeface="Calibri"/>
              </a:rPr>
              <a:t>Repetir a pergunta 5 </a:t>
            </a:r>
            <a:r>
              <a:rPr sz="1087" b="0">
                <a:solidFill>
                  <a:srgbClr val="1C2429"/>
                </a:solidFill>
                <a:latin typeface="Calibri"/>
              </a:rPr>
              <a:t>com a redação da pesquisa “antes”: sem isso não existe comparação antes × depois.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3225"/>
            <a:ext cx="57150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90850"/>
            <a:ext cx="3429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800" b="0">
                <a:solidFill>
                  <a:srgbClr val="EF7A1D"/>
                </a:solidFill>
                <a:latin typeface="Georg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2990850"/>
            <a:ext cx="53149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87" b="1">
                <a:solidFill>
                  <a:srgbClr val="1C2429"/>
                </a:solidFill>
                <a:latin typeface="Calibri"/>
              </a:rPr>
              <a:t>Corredor e cargo obrigatórios: </a:t>
            </a:r>
            <a:r>
              <a:rPr sz="1087" b="0">
                <a:solidFill>
                  <a:srgbClr val="1C2429"/>
                </a:solidFill>
                <a:latin typeface="Calibri"/>
              </a:rPr>
              <a:t>habilitam o gatilho da Meta 2 (cada corredor ≥ 70%).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62374"/>
            <a:ext cx="57150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810000"/>
            <a:ext cx="3429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800" b="0">
                <a:solidFill>
                  <a:srgbClr val="EF7A1D"/>
                </a:solidFill>
                <a:latin typeface="Georg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3810000"/>
            <a:ext cx="53149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87" b="1">
                <a:solidFill>
                  <a:srgbClr val="1C2429"/>
                </a:solidFill>
                <a:latin typeface="Calibri"/>
              </a:rPr>
              <a:t>Amostra por corredor; </a:t>
            </a:r>
            <a:r>
              <a:rPr sz="1087" b="0">
                <a:solidFill>
                  <a:srgbClr val="1C2429"/>
                </a:solidFill>
                <a:latin typeface="Calibri"/>
              </a:rPr>
              <a:t>censo de supervisores e gerentes e acompanhamento diário da taxa de resposta.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581525"/>
            <a:ext cx="57150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629150"/>
            <a:ext cx="3429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800" b="0">
                <a:solidFill>
                  <a:srgbClr val="EF7A1D"/>
                </a:solidFill>
                <a:latin typeface="Georgia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7250" y="4629150"/>
            <a:ext cx="53149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87" b="1">
                <a:solidFill>
                  <a:srgbClr val="1C2429"/>
                </a:solidFill>
                <a:latin typeface="Calibri"/>
              </a:rPr>
              <a:t>Registrar as regras de cálculo </a:t>
            </a:r>
            <a:r>
              <a:rPr sz="1087" b="0">
                <a:solidFill>
                  <a:srgbClr val="1C2429"/>
                </a:solidFill>
                <a:latin typeface="Calibri"/>
              </a:rPr>
              <a:t>(slide 4) antes do envio, com aval do responsável pela meta.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400675"/>
            <a:ext cx="57150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448300"/>
            <a:ext cx="3429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800" b="0">
                <a:solidFill>
                  <a:srgbClr val="EF7A1D"/>
                </a:solidFill>
                <a:latin typeface="Georgia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" y="5448300"/>
            <a:ext cx="53149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87" b="1">
                <a:solidFill>
                  <a:srgbClr val="1C2429"/>
                </a:solidFill>
                <a:latin typeface="Calibri"/>
              </a:rPr>
              <a:t>Pré-teste em outubro </a:t>
            </a:r>
            <a:r>
              <a:rPr sz="1087" b="0">
                <a:solidFill>
                  <a:srgbClr val="1C2429"/>
                </a:solidFill>
                <a:latin typeface="Calibri"/>
              </a:rPr>
              <a:t>com 10–15 pessoas de corredores diferentes, e listas fechadas (canais, mensagens da GA).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219825"/>
            <a:ext cx="57150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72250" y="1066800"/>
            <a:ext cx="51625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1">
                <a:solidFill>
                  <a:srgbClr val="5A6672"/>
                </a:solidFill>
                <a:latin typeface="Calibri"/>
              </a:rPr>
              <a:t>CALENDÁRIO PROPOSTO (A CONFIRMAR)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72250" y="1295400"/>
            <a:ext cx="516255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72250" y="1390650"/>
            <a:ext cx="57150" cy="1104900"/>
          </a:xfrm>
          <a:prstGeom prst="rect">
            <a:avLst/>
          </a:prstGeom>
          <a:solidFill>
            <a:srgbClr val="0E74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2750" y="1390650"/>
            <a:ext cx="1524000" cy="1104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0A4E79"/>
                </a:solidFill>
                <a:latin typeface="Calibri"/>
              </a:rPr>
              <a:t>Out · 6 a 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6750" y="1390650"/>
            <a:ext cx="3448050" cy="1104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1C2429"/>
                </a:solidFill>
                <a:latin typeface="Calibri"/>
              </a:rPr>
              <a:t>Pré-teste; fechar listas (canais, mensagens da GA, corredores); registrar definições de cálculo.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72250" y="2628900"/>
            <a:ext cx="57150" cy="1104900"/>
          </a:xfrm>
          <a:prstGeom prst="rect">
            <a:avLst/>
          </a:prstGeom>
          <a:solidFill>
            <a:srgbClr val="0E74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2750" y="2628900"/>
            <a:ext cx="1524000" cy="1104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0A4E79"/>
                </a:solidFill>
                <a:latin typeface="Calibri"/>
              </a:rPr>
              <a:t>Nov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6750" y="2628900"/>
            <a:ext cx="3448050" cy="1104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1C2429"/>
                </a:solidFill>
                <a:latin typeface="Calibri"/>
              </a:rPr>
              <a:t>Configurar a ferramenta (ramificação por cargo, “não conheço”, obrigatórias); fechar amostra com N real; comunicar patrocinadores.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72250" y="3867150"/>
            <a:ext cx="57150" cy="1104900"/>
          </a:xfrm>
          <a:prstGeom prst="rect">
            <a:avLst/>
          </a:prstGeom>
          <a:solidFill>
            <a:srgbClr val="0E74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2750" y="3867150"/>
            <a:ext cx="1524000" cy="1104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0A4E79"/>
                </a:solidFill>
                <a:latin typeface="Calibri"/>
              </a:rPr>
              <a:t>Dez · 1 a 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86750" y="3867150"/>
            <a:ext cx="3448050" cy="1104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1C2429"/>
                </a:solidFill>
                <a:latin typeface="Calibri"/>
              </a:rPr>
              <a:t>Campo, com lembretes e acompanhamento da taxa por corredor.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72250" y="5105400"/>
            <a:ext cx="57150" cy="1104900"/>
          </a:xfrm>
          <a:prstGeom prst="rect">
            <a:avLst/>
          </a:prstGeom>
          <a:solidFill>
            <a:srgbClr val="0E74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2750" y="5105400"/>
            <a:ext cx="1524000" cy="1104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0A4E79"/>
                </a:solidFill>
                <a:latin typeface="Calibri"/>
              </a:rPr>
              <a:t>Dez · até 31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86750" y="5105400"/>
            <a:ext cx="3448050" cy="1104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1C2429"/>
                </a:solidFill>
                <a:latin typeface="Calibri"/>
              </a:rPr>
              <a:t>Apuração, ficha técnica, export bruto e relatório final (evidências da meta).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0A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04800"/>
            <a:ext cx="247649" cy="28575"/>
          </a:xfrm>
          <a:prstGeom prst="rect">
            <a:avLst/>
          </a:prstGeom>
          <a:solidFill>
            <a:srgbClr val="EF7A1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100" y="20955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1">
                <a:solidFill>
                  <a:srgbClr val="5A6672"/>
                </a:solidFill>
                <a:latin typeface="Calibri"/>
              </a:rPr>
              <a:t>DECISÕES PENDENTES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150"/>
            <a:ext cx="1127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25" b="0">
                <a:solidFill>
                  <a:srgbClr val="1C2429"/>
                </a:solidFill>
                <a:latin typeface="Georgia"/>
              </a:rPr>
              <a:t>O que precisa ser fechado para a pesquisa poder ir a campo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722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5A6672"/>
                </a:solidFill>
                <a:latin typeface="Calibri"/>
              </a:rPr>
              <a:t>Comunicação Interna VLI · Pesquisa de dezembro/2026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2300" y="657225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5A6672"/>
                </a:solidFill>
                <a:latin typeface="Calibri"/>
              </a:rPr>
              <a:t>7 /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8700"/>
            <a:ext cx="3429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1">
                <a:solidFill>
                  <a:srgbClr val="5A6672"/>
                </a:solidFill>
                <a:latin typeface="Calibri"/>
              </a:rPr>
              <a:t>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" y="1028700"/>
            <a:ext cx="609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1">
                <a:solidFill>
                  <a:srgbClr val="5A6672"/>
                </a:solidFill>
                <a:latin typeface="Calibri"/>
              </a:rPr>
              <a:t>PENDÊNCIA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8500" y="1028700"/>
            <a:ext cx="209549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1">
                <a:solidFill>
                  <a:srgbClr val="5A6672"/>
                </a:solidFill>
                <a:latin typeface="Calibri"/>
              </a:rPr>
              <a:t>QUEM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9250" y="1028700"/>
            <a:ext cx="24955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1">
                <a:solidFill>
                  <a:srgbClr val="5A6672"/>
                </a:solidFill>
                <a:latin typeface="Calibri"/>
              </a:rPr>
              <a:t>SE FICAR EM ABERTO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257300"/>
            <a:ext cx="112776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295400"/>
            <a:ext cx="3429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0A4E79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150" y="1295400"/>
            <a:ext cx="60960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1C2429"/>
                </a:solidFill>
                <a:latin typeface="Calibri"/>
              </a:rPr>
              <a:t>Nomes dos novos canais e dos canais classificados como “face a face”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8500" y="1295400"/>
            <a:ext cx="2095499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Comunicação Interna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9250" y="1295400"/>
            <a:ext cx="24955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9F342B"/>
                </a:solidFill>
                <a:latin typeface="Calibri"/>
              </a:rPr>
              <a:t>Perguntas 5 e 7 não fecham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1800225"/>
            <a:ext cx="112776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809750"/>
            <a:ext cx="3429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0A4E79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150" y="1809750"/>
            <a:ext cx="60960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1C2429"/>
                </a:solidFill>
                <a:latin typeface="Calibri"/>
              </a:rPr>
              <a:t>Mensagens principais validadas pela GA de Comunicação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1809750"/>
            <a:ext cx="2095499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GA de Comunicação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9250" y="1809750"/>
            <a:ext cx="24955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9F342B"/>
                </a:solidFill>
                <a:latin typeface="Calibri"/>
              </a:rPr>
              <a:t>Pergunta 6 não pode ser montada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314575"/>
            <a:ext cx="112776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324100"/>
            <a:ext cx="3429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0A4E79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150" y="2324100"/>
            <a:ext cx="60960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1C2429"/>
                </a:solidFill>
                <a:latin typeface="Calibri"/>
              </a:rPr>
              <a:t>Pesquisa “antes”: redação, escala, público e resultado por corredor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0" y="2324100"/>
            <a:ext cx="2095499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Comunicação / Gestão de Mudanças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9250" y="2324100"/>
            <a:ext cx="24955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9F342B"/>
                </a:solidFill>
                <a:latin typeface="Calibri"/>
              </a:rPr>
              <a:t>Sem baseline não há antes × depois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828925"/>
            <a:ext cx="112776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838450"/>
            <a:ext cx="3429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0A4E79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150" y="2838450"/>
            <a:ext cx="60960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1C2429"/>
                </a:solidFill>
                <a:latin typeface="Calibri"/>
              </a:rPr>
              <a:t>Definição formal do 85%, do gatilho de 70% e do tratamento de “não conheço”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0" y="2838450"/>
            <a:ext cx="2095499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Responsável pela meta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9250" y="2838450"/>
            <a:ext cx="24955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9F342B"/>
                </a:solidFill>
                <a:latin typeface="Calibri"/>
              </a:rPr>
              <a:t>Maior risco de contestação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343275"/>
            <a:ext cx="112776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3352800"/>
            <a:ext cx="3429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0A4E79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9150" y="3352800"/>
            <a:ext cx="60960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1C2429"/>
                </a:solidFill>
                <a:latin typeface="Calibri"/>
              </a:rPr>
              <a:t>Lista de corredores (4 ou 5?) e público fora de corredor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0" y="3352800"/>
            <a:ext cx="2095499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RH / Dir. Gente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250" y="3352800"/>
            <a:ext cx="24955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9F342B"/>
                </a:solidFill>
                <a:latin typeface="Calibri"/>
              </a:rPr>
              <a:t>Gatilho da Meta 2 indefinido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857625"/>
            <a:ext cx="112776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867150"/>
            <a:ext cx="3429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0A4E79"/>
                </a:solidFill>
                <a:latin typeface="Calibr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9150" y="3867150"/>
            <a:ext cx="60960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1C2429"/>
                </a:solidFill>
                <a:latin typeface="Calibri"/>
              </a:rPr>
              <a:t>Total de empregados e de líderes por corredor e posição (N)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8500" y="3867150"/>
            <a:ext cx="2095499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RH / Dir. Gente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9250" y="3867150"/>
            <a:ext cx="24955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9F342B"/>
                </a:solidFill>
                <a:latin typeface="Calibri"/>
              </a:rPr>
              <a:t>Sem N não há amostra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371975"/>
            <a:ext cx="112776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381500"/>
            <a:ext cx="3429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0A4E79"/>
                </a:solidFill>
                <a:latin typeface="Calibr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" y="4381500"/>
            <a:ext cx="60960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1C2429"/>
                </a:solidFill>
                <a:latin typeface="Calibri"/>
              </a:rPr>
              <a:t>Cadastro da Meta 2 (não consta na planilha KPI_41204 enviada)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0" y="4381500"/>
            <a:ext cx="2095499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Responsável pela meta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9250" y="4381500"/>
            <a:ext cx="24955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9F342B"/>
                </a:solidFill>
                <a:latin typeface="Calibri"/>
              </a:rPr>
              <a:t>Pode haver regras não vistas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886325"/>
            <a:ext cx="112776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4895850"/>
            <a:ext cx="3429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0A4E79"/>
                </a:solidFill>
                <a:latin typeface="Calibr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9150" y="4895850"/>
            <a:ext cx="60960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1C2429"/>
                </a:solidFill>
                <a:latin typeface="Calibri"/>
              </a:rPr>
              <a:t>Quais cargos são “Líder Comunicador” (só supervisores e gerentes?)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8500" y="4895850"/>
            <a:ext cx="2095499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Comunicação Interna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9250" y="4895850"/>
            <a:ext cx="24955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9F342B"/>
                </a:solidFill>
                <a:latin typeface="Calibri"/>
              </a:rPr>
              <a:t>Público da Meta 2 impreciso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400675"/>
            <a:ext cx="112776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5410200"/>
            <a:ext cx="3429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25" b="1">
                <a:solidFill>
                  <a:srgbClr val="0A4E79"/>
                </a:solidFill>
                <a:latin typeface="Calibri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150" y="5410200"/>
            <a:ext cx="60960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1C2429"/>
                </a:solidFill>
                <a:latin typeface="Calibri"/>
              </a:rPr>
              <a:t>Validar os itens de Awareness e Desire com o material Prosci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48500" y="5410200"/>
            <a:ext cx="2095499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Gestão de Mudanças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250" y="5410200"/>
            <a:ext cx="24955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9F342B"/>
                </a:solidFill>
                <a:latin typeface="Calibri"/>
              </a:rPr>
              <a:t>Aderência à metodologia citada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5915025"/>
            <a:ext cx="11277600" cy="9525"/>
          </a:xfrm>
          <a:prstGeom prst="rect">
            <a:avLst/>
          </a:prstGeom>
          <a:solidFill>
            <a:srgbClr val="D4DC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019800"/>
            <a:ext cx="1127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75" b="0">
                <a:solidFill>
                  <a:srgbClr val="5A6672"/>
                </a:solidFill>
                <a:latin typeface="Calibri"/>
              </a:rPr>
              <a:t>Os itens de Awareness e Desire são adaptações. O questionário garante a medição da meta, não o resultado: o resultado depende da percepção real das pessoas.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