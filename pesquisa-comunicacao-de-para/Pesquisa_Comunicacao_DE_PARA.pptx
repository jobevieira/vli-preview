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6675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5715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DE/PARA DO FORMULÁRIO × METAS DO CICLO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6300"/>
            <a:ext cx="10477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300" b="0">
                <a:solidFill>
                  <a:srgbClr val="1C2429"/>
                </a:solidFill>
                <a:latin typeface="Georgia"/>
              </a:rPr>
              <a:t>Pesquisa de Comunicação Interna: como medir a meta com precisão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265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5A6672"/>
                </a:solidFill>
                <a:latin typeface="Calibri"/>
              </a:rPr>
              <a:t>Diagnóstico do formulário atual, pesquisa mínima de 6 perguntas, regras de apuração, amostra e plano até dezembro.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52750"/>
            <a:ext cx="3505200" cy="1905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52750"/>
            <a:ext cx="57150" cy="19050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7050"/>
            <a:ext cx="314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0">
                <a:solidFill>
                  <a:srgbClr val="0A4E79"/>
                </a:solidFill>
                <a:latin typeface="Georgia"/>
              </a:rPr>
              <a:t>Marcos 1 e 2 · Cultura e Estratégia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52800"/>
            <a:ext cx="3143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50" b="0">
                <a:solidFill>
                  <a:srgbClr val="0A4E79"/>
                </a:solidFill>
                <a:latin typeface="Georgia"/>
              </a:rPr>
              <a:t>≥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43350"/>
            <a:ext cx="3143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nos pilares A (Awareness) e D (Desire), metodologia Prosci, aplicada a todo o público VLI.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2952750"/>
            <a:ext cx="3505200" cy="1905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7200" y="2952750"/>
            <a:ext cx="57150" cy="19050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3067050"/>
            <a:ext cx="314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0">
                <a:solidFill>
                  <a:srgbClr val="0A4E79"/>
                </a:solidFill>
                <a:latin typeface="Georgia"/>
              </a:rPr>
              <a:t>Marco 3 · Nova matriz de canais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3352800"/>
            <a:ext cx="3143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50" b="0">
                <a:solidFill>
                  <a:srgbClr val="0A4E79"/>
                </a:solidFill>
                <a:latin typeface="Georgia"/>
              </a:rPr>
              <a:t>≥ 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800" y="3943350"/>
            <a:ext cx="3143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de satisfação e compreensão das mensagens validadas pela GA de Comunicação, antes e após a matriz.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0" y="2952750"/>
            <a:ext cx="3505200" cy="1905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2952750"/>
            <a:ext cx="57150" cy="1905000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0" y="3067050"/>
            <a:ext cx="314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0">
                <a:solidFill>
                  <a:srgbClr val="0A4E79"/>
                </a:solidFill>
                <a:latin typeface="Georgia"/>
              </a:rPr>
              <a:t>Meta 2 · Líder Comunicador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352800"/>
            <a:ext cx="3143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50" b="0">
                <a:solidFill>
                  <a:srgbClr val="EF7A1D"/>
                </a:solidFill>
                <a:latin typeface="Georgia"/>
              </a:rPr>
              <a:t>≥ 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3943350"/>
            <a:ext cx="3143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face a face, para supervisores e gerentes. Com ≥ 80%, todo corredor precisa de ≥ 70%; senão, limite de 75%.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86350"/>
            <a:ext cx="11277600" cy="1238250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86350"/>
            <a:ext cx="57150" cy="1238250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006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A4510E"/>
                </a:solidFill>
                <a:latin typeface="Calibri"/>
              </a:rPr>
              <a:t>VEREDITO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48300"/>
            <a:ext cx="1085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O formulário atual não consegue comprovar os marcos como estão escritos:</a:t>
            </a:r>
            <a:r>
              <a:rPr sz="1087" b="0">
                <a:solidFill>
                  <a:srgbClr val="1C2429"/>
                </a:solidFill>
                <a:latin typeface="Calibri"/>
              </a:rPr>
              <a:t> Cultura e Estratégia não têm itens separados, o pilar Desire quase não é medido, não há pergunta de compreensão das mensagens e a Meta 2 não identifica cargo nem corredor.</a:t>
            </a:r>
          </a:p>
          <a:p>
            <a:pPr algn="l">
              <a:lnSpc>
                <a:spcPct val="108000"/>
              </a:lnSpc>
              <a:spcAft>
                <a:spcPts val="45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A proposta:</a:t>
            </a:r>
            <a:r>
              <a:rPr sz="1087" b="0">
                <a:solidFill>
                  <a:srgbClr val="1C2429"/>
                </a:solidFill>
                <a:latin typeface="Calibri"/>
              </a:rPr>
              <a:t> 6 perguntas pontuadas (7 para líderes), cada uma ligada a um marco, mais regras de cálculo e amostra fechadas antes do campo.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O que o formulário atual não mede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68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DE  →  PARA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9540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255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Pergunta única mistura Estratégia, Cultura e Segurança, e “entender” com “engajar”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135255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8099" y="135255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1 pergunta por pilar (A e D) e por tema; Segurança fora do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1455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7170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Marcações A/D trocadas: resposta aberta (A), uso de canal (D), “o que se espera de você” 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217170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099" y="217170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Resposta aberta e uso de canal viram diagnóstico; Awareness e Desire só em escala 1–5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3370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9085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Satisfação reescrita só para “novos canais”: quebra a comparação com a pesquisa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299085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8099" y="299085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Redação original mantida nas duas ondas, com a lista da nova matriz no enunciado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285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1000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Compreensão das mensagens validadas pela GA não é medida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3300" y="381000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8099" y="381000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Quiz com gabarito da GA (marque todas as principais mensagens)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2915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Face a face em 1 pergunta; cargo e corredor sem padrão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3300" y="462915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8099" y="462915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Matriz por canal; posição (líder ou não) e corredor obrigatórios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115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4830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9F342B"/>
                </a:solidFill>
                <a:latin typeface="Calibri"/>
              </a:rPr>
              <a:t>DE </a:t>
            </a:r>
            <a:r>
              <a:rPr sz="1050" b="0">
                <a:solidFill>
                  <a:srgbClr val="9F342B"/>
                </a:solidFill>
                <a:latin typeface="Calibri"/>
              </a:rPr>
              <a:t>Redações diferentes entre Staff e Liderança (“a VLI” × “a companhia”)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3300" y="5448300"/>
            <a:ext cx="285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8099" y="544830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1D7A54"/>
                </a:solidFill>
                <a:latin typeface="Calibri"/>
              </a:rPr>
              <a:t>PARA </a:t>
            </a:r>
            <a:r>
              <a:rPr sz="1050" b="0">
                <a:solidFill>
                  <a:srgbClr val="1C2429"/>
                </a:solidFill>
                <a:latin typeface="Calibri"/>
              </a:rPr>
              <a:t>Mesma redação e escala para todos: permite consolidar “todo o público”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0300"/>
            <a:ext cx="6858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066800"/>
            <a:ext cx="39623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ITENS POR CONSTRUTO (ANTES → DEPOIS)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129540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3906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Cultura · Awareness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400" y="13906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1*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13906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5100" y="13906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8859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1924049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Cultura · Desire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7400" y="1924049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1924049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5100" y="1924049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24193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24574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Estratégia · Awareness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7400" y="24574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1*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24574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25100" y="24574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29527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29908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Estratégia · Desire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7400" y="29908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9908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25100" y="29908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34861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35242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Compreensão das mensagens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77400" y="35242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35242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25100" y="35242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019549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40576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Satisfação, nova matriz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7400" y="40576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0576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25100" y="40576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37" b="1">
                <a:solidFill>
                  <a:srgbClr val="1D7A54"/>
                </a:solidFill>
                <a:latin typeface="Calibri"/>
              </a:rPr>
              <a:t>1 (mesma redação)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45529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459105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0">
                <a:solidFill>
                  <a:srgbClr val="1C2429"/>
                </a:solidFill>
                <a:latin typeface="Calibri"/>
              </a:rPr>
              <a:t>Face a face (líderes)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7400" y="4591050"/>
            <a:ext cx="38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9F342B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459105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EF7A1D"/>
                </a:solidFill>
                <a:latin typeface="Calibri"/>
              </a:rP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25100" y="4591050"/>
            <a:ext cx="1409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37" b="1">
                <a:solidFill>
                  <a:srgbClr val="1D7A54"/>
                </a:solidFill>
                <a:latin typeface="Calibri"/>
              </a:rPr>
              <a:t>matriz por canal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5086350"/>
            <a:ext cx="3962399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0" y="5162550"/>
            <a:ext cx="39623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* item misto, não separável por tema. Fonte: formulário Nova_pesquisa (DE/PARA original).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A PESQUISA MONTADA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6 perguntas pontuadas para todos, +1 para líderes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3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87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81050" y="1028700"/>
            <a:ext cx="5391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PERGUNTA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028700"/>
            <a:ext cx="3143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5450" y="1028700"/>
            <a:ext cx="1428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MEDE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1028700"/>
            <a:ext cx="9905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MARCO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5730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295400"/>
            <a:ext cx="3238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1295400"/>
            <a:ext cx="5295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Eu entendo por que a VLI precisa seguir a estratégia do Conexão 2030.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1295400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Concordância 1–5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3550" y="1295400"/>
            <a:ext cx="13525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Estratégia ·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2300" y="1295400"/>
            <a:ext cx="95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0975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809750"/>
            <a:ext cx="3238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1809750"/>
            <a:ext cx="5295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Eu quero contribuir para que a VLI alcance a sua estratégia.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300" y="1809750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Concordância 1–5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3550" y="1809750"/>
            <a:ext cx="13525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Estratégia · Desire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2300" y="1809750"/>
            <a:ext cx="95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2410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24100"/>
            <a:ext cx="3238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2324100"/>
            <a:ext cx="5295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Eu entendo por que colocar o cliente no centro é importante para o resultado da VLI.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300" y="2324100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Concordância 1–5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3550" y="2324100"/>
            <a:ext cx="13525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Cultura · 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2300" y="2324100"/>
            <a:ext cx="95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3845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838450"/>
            <a:ext cx="3238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" y="2838450"/>
            <a:ext cx="52959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Eu quero colocar o cliente no centro nas minhas decisões do dia a dia.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0300" y="2838450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Concordância 1–5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3550" y="2838450"/>
            <a:ext cx="13525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Cultura · Desire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2300" y="2838450"/>
            <a:ext cx="95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5280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52800"/>
            <a:ext cx="3238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" y="3352800"/>
            <a:ext cx="5295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Qual seu nível de satisfação com os canais de Comunicação Interna da VLI? [lista da nova matriz no enunciado]. Mesma redação da pesquisa “antes”.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300" y="3352800"/>
            <a:ext cx="3048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Satisfação 1–5 + “Não conheço / não uso”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3550" y="3352800"/>
            <a:ext cx="13525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Satisfação, antes × depois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2300" y="3352800"/>
            <a:ext cx="9525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076699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076699"/>
            <a:ext cx="3238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" y="4076699"/>
            <a:ext cx="5295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Quais destas são as principais mensagens da VLI hoje? (marque todas)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0300" y="4076699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Múltipla escolha com gabarito da GA (mensagens + distratores). Pontua % de acerto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3550" y="4076699"/>
            <a:ext cx="13525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Compreensão das mensagens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2300" y="4076699"/>
            <a:ext cx="95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Marco 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70535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705350"/>
            <a:ext cx="11277600" cy="628650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705350"/>
            <a:ext cx="3238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50" y="4705350"/>
            <a:ext cx="5295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Só quem lidera pessoas (qualquer cargo): satisfação com cada canal face a face [Impulsiona Líder, Diálogos de Negócio, CCF…].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0300" y="4705350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Matriz por canal, 1–5 + “Não conheço / não uso”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3550" y="4705350"/>
            <a:ext cx="13525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Face a 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2300" y="4705350"/>
            <a:ext cx="95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Meta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33400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334000"/>
            <a:ext cx="11277600" cy="62865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334000"/>
            <a:ext cx="3238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150" y="5334000"/>
            <a:ext cx="5295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Filtros obrigatórios, não pontuam: corredor (Norte, Leste, Sudeste, Minas Rio/Minas Bahia) e posição (sem equipe, ou líder de qualquer cargo). Opcional: 1 pergunta aberta.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0300" y="5334000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Lista fechada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3550" y="5334000"/>
            <a:ext cx="13525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Segmentação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2300" y="5334000"/>
            <a:ext cx="95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1">
                <a:solidFill>
                  <a:srgbClr val="1D7A54"/>
                </a:solidFill>
                <a:latin typeface="Calibri"/>
              </a:rPr>
              <a:t>Gatilho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96265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057900"/>
            <a:ext cx="11277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25"/>
              </a:spcAft>
            </a:pPr>
            <a:r>
              <a:rPr sz="975" b="1">
                <a:solidFill>
                  <a:srgbClr val="1C2429"/>
                </a:solidFill>
                <a:latin typeface="Calibri"/>
              </a:rPr>
              <a:t>Escala única 1–5</a:t>
            </a:r>
            <a:r>
              <a:rPr sz="975" b="0">
                <a:solidFill>
                  <a:srgbClr val="1C2429"/>
                </a:solidFill>
                <a:latin typeface="Calibri"/>
              </a:rPr>
              <a:t> (1 = discordo totalmente … 5 = concordo totalmente) nas perguntas 1 a 4. Perguntas 1–4 numa única tela de matriz; tempo estimado: ~3 minutos.</a:t>
            </a:r>
          </a:p>
          <a:p>
            <a:pPr algn="l">
              <a:lnSpc>
                <a:spcPct val="108000"/>
              </a:lnSpc>
              <a:spcAft>
                <a:spcPts val="225"/>
              </a:spcAft>
            </a:pPr>
            <a:r>
              <a:rPr sz="975" b="1">
                <a:solidFill>
                  <a:srgbClr val="1C2429"/>
                </a:solidFill>
                <a:latin typeface="Calibri"/>
              </a:rPr>
              <a:t>Precisão vem da amostra, não do nº de perguntas.</a:t>
            </a:r>
            <a:r>
              <a:rPr sz="975" b="0">
                <a:solidFill>
                  <a:srgbClr val="1C2429"/>
                </a:solidFill>
                <a:latin typeface="Calibri"/>
              </a:rPr>
              <a:t> Se for exigido medir a confiabilidade dos pilares, incluir um 2º item por pilar (10 perguntas no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REGRAS DE APURAÇÃO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Como cada marco será calculado (registrar antes do campo)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66800"/>
            <a:ext cx="3619500" cy="4190999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66800"/>
            <a:ext cx="3619500" cy="5715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1219200"/>
            <a:ext cx="3238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0A4E79"/>
                </a:solidFill>
                <a:latin typeface="Georgia"/>
              </a:rPr>
              <a:t>Marcos 1 e 2 · Cultura e Estratégia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752600"/>
            <a:ext cx="3238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Score do pilar</a:t>
            </a:r>
            <a:r>
              <a:rPr sz="1162" b="0">
                <a:solidFill>
                  <a:srgbClr val="1C2429"/>
                </a:solidFill>
                <a:latin typeface="Calibri"/>
              </a:rPr>
              <a:t> = média das respostas (1–5) das perguntas do pilar, ponderada pelo peso de cada estrato (corredor × posição).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Atinge</a:t>
            </a:r>
            <a:r>
              <a:rPr sz="1162" b="0">
                <a:solidFill>
                  <a:srgbClr val="1C2429"/>
                </a:solidFill>
                <a:latin typeface="Calibri"/>
              </a:rPr>
              <a:t> quando A ≥ 3,0 e D ≥ 3,0 do tema (Cultura = Marco 1; Estratégia = Marco 2).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Cuidado:</a:t>
            </a:r>
            <a:r>
              <a:rPr sz="1162" b="0">
                <a:solidFill>
                  <a:srgbClr val="1C2429"/>
                </a:solidFill>
                <a:latin typeface="Calibri"/>
              </a:rPr>
              <a:t> avaliar A e D separadamente; a média dos dois pode esconder um pilar abaixo de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1066800"/>
            <a:ext cx="3619500" cy="4190999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7200" y="1066800"/>
            <a:ext cx="3619500" cy="5715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7700" y="1219200"/>
            <a:ext cx="3238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0A4E79"/>
                </a:solidFill>
                <a:latin typeface="Georgia"/>
              </a:rPr>
              <a:t>Marco 3 · Nova matriz de canais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0" y="1752600"/>
            <a:ext cx="3238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Satisfação</a:t>
            </a:r>
            <a:r>
              <a:rPr sz="1162" b="0">
                <a:solidFill>
                  <a:srgbClr val="1C2429"/>
                </a:solidFill>
                <a:latin typeface="Calibri"/>
              </a:rPr>
              <a:t> = % de notas 4–5 na pergunta 5. “Não conheço” sai do denominador e é reportado à parte.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Compreensão</a:t>
            </a:r>
            <a:r>
              <a:rPr sz="1162" b="0">
                <a:solidFill>
                  <a:srgbClr val="1C2429"/>
                </a:solidFill>
                <a:latin typeface="Calibri"/>
              </a:rPr>
              <a:t> = % de acerto na pergunta 6, gabarito da GA.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Atinge</a:t>
            </a:r>
            <a:r>
              <a:rPr sz="1162" b="0">
                <a:solidFill>
                  <a:srgbClr val="1C2429"/>
                </a:solidFill>
                <a:latin typeface="Calibri"/>
              </a:rPr>
              <a:t> com ≥ 85% (confirmar se vale para as duas partes). Antes × depois: pergunta 5 com a mesma redação nas duas ondas.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7200" y="1066800"/>
            <a:ext cx="3657600" cy="4190999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066800"/>
            <a:ext cx="3657600" cy="57150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699" y="1219200"/>
            <a:ext cx="3276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A4510E"/>
                </a:solidFill>
                <a:latin typeface="Georgia"/>
              </a:rPr>
              <a:t>Meta 2 · Líder Comunicador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699" y="1543050"/>
            <a:ext cx="3276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Público: líderes de qualquer cargo (a meta cita supervisores e gerentes). Índice = % de notas 4–5 nos canais face a face (pergunta 7).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7699" y="2247900"/>
            <a:ext cx="3276600" cy="476250"/>
          </a:xfrm>
          <a:prstGeom prst="rect">
            <a:avLst/>
          </a:prstGeom>
          <a:solidFill>
            <a:srgbClr val="F8E9E7"/>
          </a:solidFill>
          <a:ln w="9525">
            <a:solidFill>
              <a:srgbClr val="9F34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2950" y="2247900"/>
            <a:ext cx="30861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Índice geral &lt; 75%: meta não atingida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7699" y="2838450"/>
            <a:ext cx="3276600" cy="476250"/>
          </a:xfrm>
          <a:prstGeom prst="rect">
            <a:avLst/>
          </a:prstGeom>
          <a:solidFill>
            <a:srgbClr val="E6F3EC"/>
          </a:solidFill>
          <a:ln w="9525">
            <a:solidFill>
              <a:srgbClr val="1D7A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2950" y="2838450"/>
            <a:ext cx="30861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Índice geral ≥ 75%: meta atingida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7699" y="3429000"/>
            <a:ext cx="3276600" cy="476250"/>
          </a:xfrm>
          <a:prstGeom prst="rect">
            <a:avLst/>
          </a:prstGeom>
          <a:solidFill>
            <a:srgbClr val="F1F4F7"/>
          </a:solidFill>
          <a:ln w="9525">
            <a:solidFill>
              <a:srgbClr val="0A4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2950" y="3429000"/>
            <a:ext cx="30861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Índice geral ≥ 80%: avaliar cada corredor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7699" y="4019549"/>
            <a:ext cx="3276600" cy="533400"/>
          </a:xfrm>
          <a:prstGeom prst="rect">
            <a:avLst/>
          </a:prstGeom>
          <a:solidFill>
            <a:srgbClr val="E6F3EC"/>
          </a:solidFill>
          <a:ln w="9525">
            <a:solidFill>
              <a:srgbClr val="1D7A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2950" y="4019549"/>
            <a:ext cx="30861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Todos os corredores ≥ 70%: vale o resultado acima de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7699" y="4648200"/>
            <a:ext cx="3276600" cy="533400"/>
          </a:xfrm>
          <a:prstGeom prst="rect">
            <a:avLst/>
          </a:prstGeom>
          <a:solidFill>
            <a:srgbClr val="F8E9E7"/>
          </a:solidFill>
          <a:ln w="9525">
            <a:solidFill>
              <a:srgbClr val="9F34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2950" y="4648200"/>
            <a:ext cx="30861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12" b="0">
                <a:solidFill>
                  <a:srgbClr val="1C2429"/>
                </a:solidFill>
                <a:latin typeface="Calibri"/>
              </a:rPr>
              <a:t>Algum corredor &lt; 70%: atingimento limitado a 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48300"/>
            <a:ext cx="112776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" y="5524500"/>
            <a:ext cx="109537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</a:pPr>
            <a:r>
              <a:rPr sz="1012" b="1">
                <a:solidFill>
                  <a:srgbClr val="1C2429"/>
                </a:solidFill>
                <a:latin typeface="Calibri"/>
              </a:rPr>
              <a:t>Definições a registrar por escrito antes do envio:</a:t>
            </a:r>
            <a:r>
              <a:rPr sz="1012" b="0">
                <a:solidFill>
                  <a:srgbClr val="1C2429"/>
                </a:solidFill>
                <a:latin typeface="Calibri"/>
              </a:rPr>
              <a:t> (1) satisfação = % de notas 4–5; (2) “não conheço” fora do denominador; (3) o “70” do gatilho é 70% e não nota 70 de 0–100; (4) corredores são os 4 listados; (5) ponderação por estrato.</a:t>
            </a:r>
          </a:p>
          <a:p>
            <a:pPr algn="l">
              <a:lnSpc>
                <a:spcPct val="108000"/>
              </a:lnSpc>
              <a:spcAft>
                <a:spcPts val="450"/>
              </a:spcAft>
            </a:pPr>
            <a:r>
              <a:rPr sz="1012" b="1">
                <a:solidFill>
                  <a:srgbClr val="1C2429"/>
                </a:solidFill>
                <a:latin typeface="Calibri"/>
              </a:rPr>
              <a:t>Não alterar a redação das perguntas depois do pré-teste:</a:t>
            </a:r>
            <a:r>
              <a:rPr sz="1012" b="0">
                <a:solidFill>
                  <a:srgbClr val="1C2429"/>
                </a:solidFill>
                <a:latin typeface="Calibri"/>
              </a:rPr>
              <a:t> muda a série e abre contestação na apuração.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AMOSTRA E PRECISÃO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A precisão da Meta 2 depende da taxa de resposta por corredor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66800"/>
            <a:ext cx="4953000" cy="314325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66800"/>
            <a:ext cx="4953000" cy="5715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1219200"/>
            <a:ext cx="4572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0A4E79"/>
                </a:solidFill>
                <a:latin typeface="Georgia"/>
              </a:rPr>
              <a:t>Todo o público (Marcos 1 a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43050"/>
            <a:ext cx="45720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50"/>
              </a:spcAft>
            </a:pPr>
            <a:r>
              <a:rPr sz="1125" b="1">
                <a:solidFill>
                  <a:srgbClr val="1C2429"/>
                </a:solidFill>
                <a:latin typeface="Calibri"/>
              </a:rPr>
              <a:t>Fórmula:</a:t>
            </a:r>
            <a:r>
              <a:rPr sz="1125" b="0">
                <a:solidFill>
                  <a:srgbClr val="1C2429"/>
                </a:solidFill>
                <a:latin typeface="Calibri"/>
              </a:rPr>
              <a:t> n₀ = Z²·p(1−p)/e²  e  n = n₀ / (1 + (n₀−1)/N).</a:t>
            </a:r>
          </a:p>
          <a:p>
            <a:pPr algn="l">
              <a:lnSpc>
                <a:spcPct val="108000"/>
              </a:lnSpc>
              <a:spcAft>
                <a:spcPts val="750"/>
              </a:spcAft>
            </a:pPr>
            <a:r>
              <a:rPr sz="1125" b="0">
                <a:solidFill>
                  <a:srgbClr val="1C2429"/>
                </a:solidFill>
                <a:latin typeface="Calibri"/>
              </a:rPr>
              <a:t>Com 95% de confiança e ±5%: n₀ = 384. Exemplos ilustrativos (o N real da VLI deve ser informado): N = 5.000 → n = 357; N = 10.000 → n = 370.</a:t>
            </a:r>
          </a:p>
          <a:p>
            <a:pPr algn="l">
              <a:lnSpc>
                <a:spcPct val="108000"/>
              </a:lnSpc>
              <a:spcAft>
                <a:spcPts val="750"/>
              </a:spcAft>
            </a:pPr>
            <a:r>
              <a:rPr sz="1125" b="0">
                <a:solidFill>
                  <a:srgbClr val="1C2429"/>
                </a:solidFill>
                <a:latin typeface="Calibri"/>
              </a:rPr>
              <a:t>Margem com n = 370 e resultado de 85%: </a:t>
            </a:r>
            <a:r>
              <a:rPr sz="1125" b="1">
                <a:solidFill>
                  <a:srgbClr val="1C2429"/>
                </a:solidFill>
                <a:latin typeface="Calibri"/>
              </a:rPr>
              <a:t>±3,6 pontos percentuais</a:t>
            </a:r>
            <a:r>
              <a:rPr sz="1125" b="0">
                <a:solidFill>
                  <a:srgbClr val="1C2429"/>
                </a:solidFill>
                <a:latin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750"/>
              </a:spcAft>
            </a:pPr>
            <a:r>
              <a:rPr sz="1125" b="0">
                <a:solidFill>
                  <a:srgbClr val="1C2429"/>
                </a:solidFill>
                <a:latin typeface="Calibri"/>
              </a:rPr>
              <a:t>Amostra </a:t>
            </a:r>
            <a:r>
              <a:rPr sz="1125" b="1">
                <a:solidFill>
                  <a:srgbClr val="1C2429"/>
                </a:solidFill>
                <a:latin typeface="Calibri"/>
              </a:rPr>
              <a:t>estratificada por corredor e posição</a:t>
            </a:r>
            <a:r>
              <a:rPr sz="1125" b="0">
                <a:solidFill>
                  <a:srgbClr val="1C2429"/>
                </a:solidFill>
                <a:latin typeface="Calibri"/>
              </a:rPr>
              <a:t>; convidar mais que n, conforme a taxa de resposta histórica.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066800"/>
            <a:ext cx="60198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MARGEM DE ERRO NO CORREDOR (±pp, 95%, resultado de 70%)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333500"/>
            <a:ext cx="60198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3906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Líderes no corredor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1390650"/>
            <a:ext cx="1371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50% respondem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1390650"/>
            <a:ext cx="1371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70% respondem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3200" y="1390650"/>
            <a:ext cx="1371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90% respondem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809750"/>
            <a:ext cx="1905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N = 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7150" y="1847850"/>
            <a:ext cx="1257300" cy="419100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0" y="18097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9F342B"/>
                </a:solidFill>
                <a:latin typeface="Calibri"/>
              </a:rPr>
              <a:t>±11,7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(n=30)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0" y="1847850"/>
            <a:ext cx="1257300" cy="419100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1600" y="18097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EF7A1D"/>
                </a:solidFill>
                <a:latin typeface="Calibri"/>
              </a:rPr>
              <a:t>±7,7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(n=42)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0350" y="1847850"/>
            <a:ext cx="1257300" cy="4191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0" y="18097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±3,9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(n=54)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343150"/>
            <a:ext cx="1905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N =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7150" y="2381250"/>
            <a:ext cx="1257300" cy="419100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0" y="23431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9F342B"/>
                </a:solidFill>
                <a:latin typeface="Calibri"/>
              </a:rPr>
              <a:t>±9,0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(n=50)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8750" y="2381250"/>
            <a:ext cx="1257300" cy="419100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1600" y="23431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EF7A1D"/>
                </a:solidFill>
                <a:latin typeface="Calibri"/>
              </a:rPr>
              <a:t>±5,9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(n=70)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0350" y="2381250"/>
            <a:ext cx="1257300" cy="4191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3200" y="23431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±3,0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(n=90)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2876550"/>
            <a:ext cx="1905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0A4E79"/>
                </a:solidFill>
                <a:latin typeface="Calibri"/>
              </a:rPr>
              <a:t>N = 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77150" y="2914650"/>
            <a:ext cx="1257300" cy="419100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0000" y="28765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EF7A1D"/>
                </a:solidFill>
                <a:latin typeface="Calibri"/>
              </a:rPr>
              <a:t>±6,4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(n=100)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8750" y="2914650"/>
            <a:ext cx="1257300" cy="4191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1600" y="28765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±4,2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(n=140)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0350" y="2914650"/>
            <a:ext cx="1257300" cy="4191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63200" y="2876550"/>
            <a:ext cx="13716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1D7A54"/>
                </a:solidFill>
                <a:latin typeface="Calibri"/>
              </a:rPr>
              <a:t>±2,1</a:t>
            </a:r>
            <a:r>
              <a:rPr sz="1125" b="0">
                <a:solidFill>
                  <a:srgbClr val="5A6672"/>
                </a:solidFill>
                <a:latin typeface="Calibri"/>
              </a:rPr>
              <a:t>  (n=180)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3448050"/>
            <a:ext cx="6019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Verde ≤ 5 pp · laranja 5 a 8 pp · vermelho &gt; 8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00550"/>
            <a:ext cx="112776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700" y="4495800"/>
            <a:ext cx="1095375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75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O que isso significa:</a:t>
            </a:r>
            <a:r>
              <a:rPr sz="1162" b="0">
                <a:solidFill>
                  <a:srgbClr val="1C2429"/>
                </a:solidFill>
                <a:latin typeface="Calibri"/>
              </a:rPr>
              <a:t> um corredor com poucas respostas não prova 70%. Com 100 líderes e só 50 respostas, a margem é ±9,0 pp: um corredor que “mede” 70% pode estar entre 61% e 79%.</a:t>
            </a:r>
          </a:p>
          <a:p>
            <a:pPr algn="l">
              <a:lnSpc>
                <a:spcPct val="108000"/>
              </a:lnSpc>
              <a:spcAft>
                <a:spcPts val="675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Recomendação:</a:t>
            </a:r>
            <a:r>
              <a:rPr sz="1162" b="0">
                <a:solidFill>
                  <a:srgbClr val="1C2429"/>
                </a:solidFill>
                <a:latin typeface="Calibri"/>
              </a:rPr>
              <a:t> tratar os líderes como </a:t>
            </a:r>
            <a:r>
              <a:rPr sz="1162" b="1">
                <a:solidFill>
                  <a:srgbClr val="1C2429"/>
                </a:solidFill>
                <a:latin typeface="Calibri"/>
              </a:rPr>
              <a:t>censo</a:t>
            </a:r>
            <a:r>
              <a:rPr sz="1162" b="0">
                <a:solidFill>
                  <a:srgbClr val="1C2429"/>
                </a:solidFill>
                <a:latin typeface="Calibri"/>
              </a:rPr>
              <a:t> (convidar todos) e perseguir ≥ 80% de resposta em cada corredor, com acompanhamento diário da taxa por corredor durante o campo.</a:t>
            </a:r>
          </a:p>
          <a:p>
            <a:pPr algn="l">
              <a:lnSpc>
                <a:spcPct val="108000"/>
              </a:lnSpc>
              <a:spcAft>
                <a:spcPts val="675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Qualidade dos dados:</a:t>
            </a:r>
            <a:r>
              <a:rPr sz="1162" b="0">
                <a:solidFill>
                  <a:srgbClr val="1C2429"/>
                </a:solidFill>
                <a:latin typeface="Calibri"/>
              </a:rPr>
              <a:t> descartar respostas muito rápidas (menos de 1/3 da mediana) e padrão de resposta uniforme em toda a matriz; registrar quantas foram removidas.</a:t>
            </a:r>
          </a:p>
          <a:p>
            <a:pPr algn="l">
              <a:lnSpc>
                <a:spcPct val="108000"/>
              </a:lnSpc>
              <a:spcAft>
                <a:spcPts val="675"/>
              </a:spcAft>
            </a:pPr>
            <a:r>
              <a:rPr sz="1162" b="1">
                <a:solidFill>
                  <a:srgbClr val="1C2429"/>
                </a:solidFill>
                <a:latin typeface="Calibri"/>
              </a:rPr>
              <a:t>Os valores acima são ilustrativos:</a:t>
            </a:r>
            <a:r>
              <a:rPr sz="1162" b="0">
                <a:solidFill>
                  <a:srgbClr val="1C2429"/>
                </a:solidFill>
                <a:latin typeface="Calibri"/>
              </a:rPr>
              <a:t> substituir pelos N reais de cada corredor (RH) antes de fechar a amostra.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RECOMENDAÇÕES E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Seis recomendações e o caminho até dezembro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6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68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RECOMENDAÇÕES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95400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255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35255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Uma pergunta por marco, </a:t>
            </a:r>
            <a:r>
              <a:rPr sz="1087" b="0">
                <a:solidFill>
                  <a:srgbClr val="1C2429"/>
                </a:solidFill>
                <a:latin typeface="Calibri"/>
              </a:rPr>
              <a:t>mesma escala e mesma redação para todos os públicos: consolida e prova cada marco.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24075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170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17170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Repetir a pergunta 5 </a:t>
            </a:r>
            <a:r>
              <a:rPr sz="1087" b="0">
                <a:solidFill>
                  <a:srgbClr val="1C2429"/>
                </a:solidFill>
                <a:latin typeface="Calibri"/>
              </a:rPr>
              <a:t>com a redação da pesquisa “antes”: sem isso não existe comparação antes × depois.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3225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9085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99085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Corredor e cargo obrigatórios: </a:t>
            </a:r>
            <a:r>
              <a:rPr sz="1087" b="0">
                <a:solidFill>
                  <a:srgbClr val="1C2429"/>
                </a:solidFill>
                <a:latin typeface="Calibri"/>
              </a:rPr>
              <a:t>habilitam o gatilho da Meta 2 (cada corredor ≥ 70%).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62374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000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81000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Amostra por corredor; </a:t>
            </a:r>
            <a:r>
              <a:rPr sz="1087" b="0">
                <a:solidFill>
                  <a:srgbClr val="1C2429"/>
                </a:solidFill>
                <a:latin typeface="Calibri"/>
              </a:rPr>
              <a:t>censo dos líderes e acompanhamento diário da taxa de resposta.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81525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2915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462915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Registrar as regras de cálculo </a:t>
            </a:r>
            <a:r>
              <a:rPr sz="1087" b="0">
                <a:solidFill>
                  <a:srgbClr val="1C2429"/>
                </a:solidFill>
                <a:latin typeface="Calibri"/>
              </a:rPr>
              <a:t>(slide 4) antes do envio, com aval do responsável pela meta.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00675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48300"/>
            <a:ext cx="342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800" b="0">
                <a:solidFill>
                  <a:srgbClr val="EF7A1D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5448300"/>
            <a:ext cx="53149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87" b="1">
                <a:solidFill>
                  <a:srgbClr val="1C2429"/>
                </a:solidFill>
                <a:latin typeface="Calibri"/>
              </a:rPr>
              <a:t>Pré-teste em outubro </a:t>
            </a:r>
            <a:r>
              <a:rPr sz="1087" b="0">
                <a:solidFill>
                  <a:srgbClr val="1C2429"/>
                </a:solidFill>
                <a:latin typeface="Calibri"/>
              </a:rPr>
              <a:t>com 10–15 pessoas de corredores diferentes, e listas fechadas (canais, mensagens da GA).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9825"/>
            <a:ext cx="57150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2250" y="1066800"/>
            <a:ext cx="5162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CALENDÁRIO PROPOSTO (A CONFIRMAR)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72250" y="1295400"/>
            <a:ext cx="516255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72250" y="1390650"/>
            <a:ext cx="57150" cy="11049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2750" y="1390650"/>
            <a:ext cx="152400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Out · 6 a 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0" y="1390650"/>
            <a:ext cx="344805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Pré-teste; fechar listas (canais, mensagens da GA, corredores); registrar definições de cálculo.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2250" y="2628900"/>
            <a:ext cx="57150" cy="11049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2750" y="2628900"/>
            <a:ext cx="152400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0" y="2628900"/>
            <a:ext cx="344805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Configurar a ferramenta (ramificação por cargo, “não conheço”, obrigatórias); fechar amostra com N real; comunicar patrocinadores.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2250" y="3867150"/>
            <a:ext cx="57150" cy="11049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2750" y="3867150"/>
            <a:ext cx="152400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Dez · 1 a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0" y="3867150"/>
            <a:ext cx="344805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Campo, com lembretes e acompanhamento da taxa por corredor.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72250" y="5105400"/>
            <a:ext cx="57150" cy="1104900"/>
          </a:xfrm>
          <a:prstGeom prst="rect">
            <a:avLst/>
          </a:prstGeom>
          <a:solidFill>
            <a:srgbClr val="0E74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2750" y="5105400"/>
            <a:ext cx="152400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Dez · até 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750" y="5105400"/>
            <a:ext cx="3448050" cy="110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Apuração, ficha técnica, export bruto e relatório final (evidências da meta).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A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4800"/>
            <a:ext cx="247649" cy="28575"/>
          </a:xfrm>
          <a:prstGeom prst="rect">
            <a:avLst/>
          </a:prstGeom>
          <a:solidFill>
            <a:srgbClr val="EF7A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2095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1">
                <a:solidFill>
                  <a:srgbClr val="5A6672"/>
                </a:solidFill>
                <a:latin typeface="Calibri"/>
              </a:rPr>
              <a:t>DECISÕES PENDENTES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15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25" b="0">
                <a:solidFill>
                  <a:srgbClr val="1C2429"/>
                </a:solidFill>
                <a:latin typeface="Georgia"/>
              </a:rPr>
              <a:t>O que precisa ser fechado para a pesquisa poder ir a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2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Comunicação Interna VLI · Pesquisa de dezembro/2026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572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5A6672"/>
                </a:solidFill>
                <a:latin typeface="Calibri"/>
              </a:rP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8700"/>
            <a:ext cx="342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028700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PENDÊNCIA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1028700"/>
            <a:ext cx="2095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QUEM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0" y="10287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5A6672"/>
                </a:solidFill>
                <a:latin typeface="Calibri"/>
              </a:rPr>
              <a:t>SE FICAR EM ABERTO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57300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129540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Nomes dos novos canais e dos canais classificados como “face a face”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0" y="129540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Comunicação Interna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0" y="129540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Perguntas 5 e 7 não fecham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0022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0975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180975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Mensagens principais validadas pela GA de Comunicação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180975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GA de Comunicação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0" y="180975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Pergunta 6 não pode ser montada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1457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2410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32410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Pesquisa “antes”: redação, escala, público e resultado por corredor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0" y="232410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Comunicação / Gestão de Mudanças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232410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Sem baseline não há antes × depois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2892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3845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283845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Definição formal do 85%, do gatilho de 70% e do tratamento de “não conheço”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0" y="283845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Responsável pela 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0" y="283845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Maior risco de contestação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4327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5280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50" y="335280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Lista de corredores (4 ou 5?) e público fora de corredor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0" y="335280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RH / Dir. Gente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250" y="335280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Gatilho da Meta 2 indefinido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5762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86715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" y="386715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Total de empregados e de líderes por corredor e posição (N)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8500" y="386715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RH / Dir. Gente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9250" y="386715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Sem N não há amostra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7197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8150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438150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Cadastro da Meta 2 (não consta na planilha KPI_41204 enviada)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0" y="438150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Responsável pela meta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9250" y="438150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Pode haver regras não vistas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8632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89585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150" y="489585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Meta 2 cita supervisores e gerentes, mas a pergunta 7 vai a qualquer líder: a apuração conta todos os líderes ou só esses cargos?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8500" y="489585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Responsável pela meta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9250" y="489585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Público da Meta 2 impreciso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0067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410200"/>
            <a:ext cx="3429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25" b="1">
                <a:solidFill>
                  <a:srgbClr val="0A4E79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" y="5410200"/>
            <a:ext cx="6096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1C2429"/>
                </a:solidFill>
                <a:latin typeface="Calibri"/>
              </a:rPr>
              <a:t>Validar os itens de Awareness e Desire com o material Prosci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8500" y="5410200"/>
            <a:ext cx="2095499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Gestão de Mudanças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9250" y="5410200"/>
            <a:ext cx="24955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9F342B"/>
                </a:solidFill>
                <a:latin typeface="Calibri"/>
              </a:rPr>
              <a:t>Aderência à metodologia citada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15025"/>
            <a:ext cx="11277600" cy="9525"/>
          </a:xfrm>
          <a:prstGeom prst="rect">
            <a:avLst/>
          </a:prstGeom>
          <a:solidFill>
            <a:srgbClr val="D4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0198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75" b="0">
                <a:solidFill>
                  <a:srgbClr val="5A6672"/>
                </a:solidFill>
                <a:latin typeface="Calibri"/>
              </a:rPr>
              <a:t>Os itens de Awareness e Desire são adaptações. O questionário garante a medição da meta, não o resultado: o resultado depende da percepção real das pessoas.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