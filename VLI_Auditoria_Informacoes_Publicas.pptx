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438617da-ab1c-2dde-e9ed-cf8218cbd5e0}">
          <p14:sldIdLst>
            <p14:sldId id="256"/>
          </p14:sldIdLst>
        </p14:section>
        <p14:section name="Resumo" id="{793f54f7-2c6c-4dcd-c461-8085fa31993f}">
          <p14:sldIdLst>
            <p14:sldId id="257"/>
            <p14:sldId id="258"/>
            <p14:sldId id="259"/>
            <p14:sldId id="260"/>
          </p14:sldIdLst>
        </p14:section>
        <p14:section name="Números do site" id="{613fbad7-4fab-049c-63ba-1c1884ccde79}">
          <p14:sldIdLst>
            <p14:sldId id="261"/>
            <p14:sldId id="262"/>
            <p14:sldId id="263"/>
            <p14:sldId id="264"/>
          </p14:sldIdLst>
        </p14:section>
        <p14:section name="Governança" id="{5d08ff20-baf2-9231-758e-5250f9f85280}">
          <p14:sldIdLst>
            <p14:sldId id="265"/>
            <p14:sldId id="266"/>
            <p14:sldId id="267"/>
          </p14:sldIdLst>
        </p14:section>
        <p14:section name="Financeiro" id="{cd1a8d83-9d59-fd93-18bd-a81a45ed8298}">
          <p14:sldIdLst>
            <p14:sldId id="268"/>
          </p14:sldIdLst>
        </p14:section>
        <p14:section name="FCA e FNS" id="{edff2fcb-d367-39c2-606c-7d53e1339713}">
          <p14:sldIdLst>
            <p14:sldId id="269"/>
            <p14:sldId id="270"/>
            <p14:sldId id="271"/>
          </p14:sldIdLst>
        </p14:section>
        <p14:section name="Presença digital" id="{c73ecd61-5f36-9938-5c95-9f8f93278cd5}">
          <p14:sldIdLst>
            <p14:sldId id="272"/>
            <p14:sldId id="273"/>
          </p14:sldIdLst>
        </p14:section>
        <p14:section name="Conclusões" id="{f6bcb83c-f883-baf9-27d0-70a849247575}">
          <p14:sldIdLst>
            <p14:sldId id="274"/>
            <p14:sldId id="275"/>
            <p14:sldId id="276"/>
            <p14:sldId id="277"/>
          </p14:sldIdLst>
        </p14:section>
        <p14:section name="Anexo" id="{2affe222-f7fa-c1be-94a2-beda01cdc2bf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Itens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2B5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640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971B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7F4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789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CONFIRMADA</c:v>
                  </c:pt>
                  <c:pt idx="1">
                    <c:v>DEFASAGEM</c:v>
                  </c:pt>
                  <c:pt idx="2">
                    <c:v>ESCOPO</c:v>
                  </c:pt>
                  <c:pt idx="3">
                    <c:v>CONSISTENTE</c:v>
                  </c:pt>
                  <c:pt idx="4">
                    <c:v>NÃO CONCLUSIVO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42B5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3597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F3791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2B5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3791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1B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AA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7F4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Site PT</c:v>
                  </c:pt>
                  <c:pt idx="1">
                    <c:v>Site EN</c:v>
                  </c:pt>
                  <c:pt idx="2">
                    <c:v>Relat. 2024</c:v>
                  </c:pt>
                  <c:pt idx="3">
                    <c:v>FR 2025 (&gt;)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24</c:v>
                </c:pt>
                <c:pt idx="2">
                  <c:v>24</c:v>
                </c:pt>
                <c:pt idx="3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42B5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3597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F3791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2B5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3791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1B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AA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7F4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Site PT</c:v>
                  </c:pt>
                  <c:pt idx="1">
                    <c:v>Site EN</c:v>
                  </c:pt>
                  <c:pt idx="2">
                    <c:v>Relat. 2024</c:v>
                  </c:pt>
                  <c:pt idx="3">
                    <c:v>FR 2025 (&gt;)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584</c:v>
                </c:pt>
                <c:pt idx="1">
                  <c:v>800</c:v>
                </c:pt>
                <c:pt idx="2">
                  <c:v>800</c:v>
                </c:pt>
                <c:pt idx="3">
                  <c:v>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42B5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3597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1B7F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2B5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7F4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3791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AA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789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Relat. 2025</c:v>
                  </c:pt>
                  <c:pt idx="1">
                    <c:v>Site PT</c:v>
                  </c:pt>
                  <c:pt idx="2">
                    <c:v>Relat. 2024</c:v>
                  </c:pt>
                  <c:pt idx="3">
                    <c:v>Santander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42B5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3597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F3791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2B5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3791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AA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7F4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Site PT</c:v>
                  </c:pt>
                  <c:pt idx="1">
                    <c:v>Relat. 2024 (mais de)</c:v>
                  </c:pt>
                  <c:pt idx="2">
                    <c:v>Relat. 2025 (mais de)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7.6</c:v>
                </c:pt>
                <c:pt idx="2">
                  <c:v>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142B5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3597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971B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37919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1B7F4E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7AAAD4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6B7894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Brookfield 36,5%</c:v>
                </c:pt>
                <c:pt idx="1">
                  <c:v>Vale 29,6%</c:v>
                </c:pt>
                <c:pt idx="2">
                  <c:v>FI-FGTS 15,9%</c:v>
                </c:pt>
                <c:pt idx="3">
                  <c:v>Mitsui 10,0%</c:v>
                </c:pt>
                <c:pt idx="4">
                  <c:v>BNDESPar 8,0%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36.5</c:v>
                </c:pt>
                <c:pt idx="1">
                  <c:v>29.6</c:v>
                </c:pt>
                <c:pt idx="2">
                  <c:v>15.9</c:v>
                </c:pt>
                <c:pt idx="3">
                  <c:v>10</c:v>
                </c:pt>
                <c:pt idx="4">
                  <c:v>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3597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7AAAD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2B5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AA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AA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971B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4.565</c:v>
                </c:pt>
                <c:pt idx="1">
                  <c:v>4.989</c:v>
                </c:pt>
                <c:pt idx="2">
                  <c:v>5.261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200" u="none">
                  <a:solidFill>
                    <a:srgbClr val="142B5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3597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.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2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412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86200"/>
            <a:ext cx="8412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VLI | Auditoria de informações públicas | posição em 09/10/2026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li-logistica.com.br/wp-content/uploads/2025/08/RS2024_VLI_D6d.pdf" TargetMode="External"/><Relationship Id="rId2" Type="http://schemas.openxmlformats.org/officeDocument/2006/relationships/hyperlink" Target="https://www.vli-logistica.com.br/wp-content/uploads/2026/08/Formulario-de-referencia-VMM-2026.pdf" TargetMode="External"/><Relationship Id="rId3" Type="http://schemas.openxmlformats.org/officeDocument/2006/relationships/hyperlink" Target="https://www.vli-logistica.com.br/wp-content/uploads/2026/06/Fato-Relevante-FNS-2026.06.25.pdf" TargetMode="External"/><Relationship Id="rId4" Type="http://schemas.openxmlformats.org/officeDocument/2006/relationships/hyperlink" Target="https://www.vli-logistica.com.br/" TargetMode="External"/><Relationship Id="rId5" Type="http://schemas.openxmlformats.org/officeDocument/2006/relationships/hyperlink" Target="https://www.cbinsights.com/company/vli" TargetMode="Externa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li-logistica.com.br/wp-content/uploads/2025/08/RS2024_VLI_D6d.pdf" TargetMode="External"/><Relationship Id="rId2" Type="http://schemas.openxmlformats.org/officeDocument/2006/relationships/hyperlink" Target="https://www.gov.br/antt/pt-br/assuntos/ultimas-noticias/antt-e-ministerio-dos-transportes-avancam-na-renovacao-antecipada-da-fca-com-previsao-de-r-24-bilhoes-em-investimentos" TargetMode="External"/><Relationship Id="rId3" Type="http://schemas.openxmlformats.org/officeDocument/2006/relationships/hyperlink" Target="https://neofeed.com.br/economia/o-trunfo-logistico-de-r-1-bilhao-que-acelera-a-vli-no-mapa-ferroviario/es/" TargetMode="External"/><Relationship Id="rId4" Type="http://schemas.openxmlformats.org/officeDocument/2006/relationships/hyperlink" Target="https://www.otempo.com.br/economia/2026/5/22/governo-fecha-acordo-de-r-27-bi-com-fca-que-opera-em-minas-e-vai-retomar-3-1-mil-km-de-trilhos" TargetMode="External"/><Relationship Id="rId5" Type="http://schemas.openxmlformats.org/officeDocument/2006/relationships/hyperlink" Target="https://diariodocomercio.com.br/legislacao/antt-renovacao-ferrovia-fca/" TargetMode="Externa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ms.santander.com.br/sites/WPS/documentos/arq-relatorio-vli/26-04-09_194551_20260406-vli.pdf" TargetMode="External"/><Relationship Id="rId2" Type="http://schemas.openxmlformats.org/officeDocument/2006/relationships/hyperlink" Target="https://www.gov.br/antt/pt-br/assuntos/ultimas-noticias/antt-e-ministerio-dos-transportes-avancam-na-renovacao-antecipada-da-fca-com-previsao-de-r-24-bilhoes-em-investimentos" TargetMode="External"/><Relationship Id="rId3" Type="http://schemas.openxmlformats.org/officeDocument/2006/relationships/hyperlink" Target="https://diariodocomercio.com.br/economia/concessao-ferrovia-fca-minas-gerais/" TargetMode="External"/><Relationship Id="rId4" Type="http://schemas.openxmlformats.org/officeDocument/2006/relationships/hyperlink" Target="https://www.vli-logistica.com.br/wp-content/uploads/2026/08/Formulario-de-referencia-FCA-2026.pdf" TargetMode="External"/><Relationship Id="rId5" Type="http://schemas.openxmlformats.org/officeDocument/2006/relationships/hyperlink" Target="https://www.otempo.com.br/economia/2026/5/22/governo-fecha-acordo-de-r-27-bi-com-fca-que-opera-em-minas-e-vai-retomar-3-1-mil-km-de-trilhos" TargetMode="External"/><Relationship Id="rId6" Type="http://schemas.openxmlformats.org/officeDocument/2006/relationships/hyperlink" Target="https://www.otempo.com.br/economia/2026/7/21/governo-prorrogara-por-ate-2-anos-concessao-da-fca-apos-atraso-em-renovacao" TargetMode="External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li-logistica.com.br/quem-somos/" TargetMode="External"/><Relationship Id="rId2" Type="http://schemas.openxmlformats.org/officeDocument/2006/relationships/hyperlink" Target="https://www.vli-logistica.com.br/" TargetMode="External"/><Relationship Id="rId3" Type="http://schemas.openxmlformats.org/officeDocument/2006/relationships/hyperlink" Target="https://www.vli-logistica.com.br/en/about-us-en/" TargetMode="External"/><Relationship Id="rId4" Type="http://schemas.openxmlformats.org/officeDocument/2006/relationships/hyperlink" Target="https://www.vli-logistica.com.br/wp-content/uploads/2026/06/RS2025_-Versao-Final-10.06.26_compressed.pdf" TargetMode="Externa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li-logistica.com.br/" TargetMode="External"/><Relationship Id="rId2" Type="http://schemas.openxmlformats.org/officeDocument/2006/relationships/hyperlink" Target="https://www.vli-logistica.com.br/quem-somos/" TargetMode="External"/><Relationship Id="rId3" Type="http://schemas.openxmlformats.org/officeDocument/2006/relationships/hyperlink" Target="https://www.vli-logistica.com.br/en/home-en/" TargetMode="External"/><Relationship Id="rId4" Type="http://schemas.openxmlformats.org/officeDocument/2006/relationships/hyperlink" Target="https://www.vli-logistica.com.br/relacoes-com-investidores/" TargetMode="External"/><Relationship Id="rId5" Type="http://schemas.openxmlformats.org/officeDocument/2006/relationships/hyperlink" Target="https://www.vli-logistica.com.br/robots.txt" TargetMode="External"/><Relationship Id="rId6" Type="http://schemas.openxmlformats.org/officeDocument/2006/relationships/hyperlink" Target="https://www.vli-logistica.com.br/" TargetMode="External"/><Relationship Id="rId7" Type="http://schemas.openxmlformats.org/officeDocument/2006/relationships/hyperlink" Target="https://www.vli-logistica.com.br/en/home-en/" TargetMode="External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li-logistica.com.br/quem-somos/" TargetMode="External"/><Relationship Id="rId2" Type="http://schemas.openxmlformats.org/officeDocument/2006/relationships/hyperlink" Target="https://www.vli-logistica.com.br/wp-content/uploads/2025/08/RS2024_VLI_D6d.pdf" TargetMode="External"/><Relationship Id="rId3" Type="http://schemas.openxmlformats.org/officeDocument/2006/relationships/hyperlink" Target="https://www.vli-logistica.com.br/wp-content/uploads/2026/06/RS2025_-Versao-Final-10.06.26_compressed.pdf" TargetMode="External"/><Relationship Id="rId4" Type="http://schemas.openxmlformats.org/officeDocument/2006/relationships/hyperlink" Target="https://www.vli-logistica.com.br/wp-content/uploads/2026/08/Formulario-de-referencia-FCA-2026.pdf" TargetMode="External"/><Relationship Id="rId5" Type="http://schemas.openxmlformats.org/officeDocument/2006/relationships/hyperlink" Target="https://www.vli-logistica.com.br/quem-somos/" TargetMode="External"/><Relationship Id="rId6" Type="http://schemas.openxmlformats.org/officeDocument/2006/relationships/hyperlink" Target="https://www.vli-logistica.com.br/en/about-us-en/" TargetMode="External"/><Relationship Id="rId7" Type="http://schemas.openxmlformats.org/officeDocument/2006/relationships/hyperlink" Target="https://www.vli-logistica.com.br/wp-content/uploads/2025/08/RS2024_VLI_D6d.pdf" TargetMode="External"/><Relationship Id="rId8" Type="http://schemas.openxmlformats.org/officeDocument/2006/relationships/hyperlink" Target="https://www.vli-logistica.com.br/wp-content/uploads/2026/08/Formulario-de-referencia-VMM-2026.pdf" TargetMode="External"/><Relationship Id="rId9" Type="http://schemas.openxmlformats.org/officeDocument/2006/relationships/hyperlink" Target="https://www.vli-logistica.com.br/quem-somos/" TargetMode="External"/><Relationship Id="rId10" Type="http://schemas.openxmlformats.org/officeDocument/2006/relationships/hyperlink" Target="https://www.vli-logistica.com.br/en/about-us-en/" TargetMode="External"/><Relationship Id="rId11" Type="http://schemas.openxmlformats.org/officeDocument/2006/relationships/hyperlink" Target="https://www.vli-logistica.com.br/wp-content/uploads/2026/08/Formulario-de-referencia-VMM-2026.pdf" TargetMode="External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li-logistica.com.br/quem-somos/" TargetMode="External"/><Relationship Id="rId2" Type="http://schemas.openxmlformats.org/officeDocument/2006/relationships/hyperlink" Target="https://www.vli-logistica.com.br/en/about-us-en/" TargetMode="External"/><Relationship Id="rId3" Type="http://schemas.openxmlformats.org/officeDocument/2006/relationships/hyperlink" Target="https://www.vli-logistica.com.br/wp-content/uploads/2026/06/RS2025_-Versao-Final-10.06.26_compressed.pdf" TargetMode="External"/><Relationship Id="rId4" Type="http://schemas.openxmlformats.org/officeDocument/2006/relationships/hyperlink" Target="https://www.vli-logistica.com.br/quem-somos/" TargetMode="External"/><Relationship Id="rId5" Type="http://schemas.openxmlformats.org/officeDocument/2006/relationships/hyperlink" Target="https://www.vli-logistica.com.br/en/about-us-en/" TargetMode="External"/><Relationship Id="rId6" Type="http://schemas.openxmlformats.org/officeDocument/2006/relationships/hyperlink" Target="https://www.vli-logistica.com.br/wp-content/uploads/2025/08/RS2024_VLI_D6d.pdf" TargetMode="External"/><Relationship Id="rId7" Type="http://schemas.openxmlformats.org/officeDocument/2006/relationships/hyperlink" Target="https://www.vli-logistica.com.br/wp-content/uploads/2026/06/RS2025_-Versao-Final-10.06.26_compressed.pdf" TargetMode="External"/><Relationship Id="rId8" Type="http://schemas.openxmlformats.org/officeDocument/2006/relationships/hyperlink" Target="https://cms.santander.com.br/sites/WPS/documentos/arq-relatorio-vli/26-04-09_194551_20260406-vli.pdf" TargetMode="External"/><Relationship Id="rId9" Type="http://schemas.openxmlformats.org/officeDocument/2006/relationships/hyperlink" Target="https://www.vli-logistica.com.br/quem-somos/" TargetMode="External"/><Relationship Id="rId10" Type="http://schemas.openxmlformats.org/officeDocument/2006/relationships/hyperlink" Target="https://www.vli-logistica.com.br/wp-content/uploads/2026/06/RS2025_-Versao-Final-10.06.26_compressed.pdf" TargetMode="External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li-logistica.com.br/quem-somos/" TargetMode="External"/><Relationship Id="rId2" Type="http://schemas.openxmlformats.org/officeDocument/2006/relationships/hyperlink" Target="https://www.vli-logistica.com.br/relacoes-com-investidores/" TargetMode="External"/><Relationship Id="rId3" Type="http://schemas.openxmlformats.org/officeDocument/2006/relationships/hyperlink" Target="https://www.vli-logistica.com.br/wp-content/uploads/2026/06/RS2025_-Versao-Final-10.06.26_compressed.pdf" TargetMode="External"/><Relationship Id="rId4" Type="http://schemas.openxmlformats.org/officeDocument/2006/relationships/hyperlink" Target="https://www.vli-logistica.com.br/wp-content/uploads/2026/08/Formulario-de-referencia-VMM-2026.pdf" TargetMode="External"/><Relationship Id="rId5" Type="http://schemas.openxmlformats.org/officeDocument/2006/relationships/hyperlink" Target="https://www.vli-logistica.com.br/quem-somos/" TargetMode="External"/><Relationship Id="rId6" Type="http://schemas.openxmlformats.org/officeDocument/2006/relationships/hyperlink" Target="https://www.vli-logistica.com.br/wp-content/uploads/2026/06/RS2025_-Versao-Final-10.06.26_compressed.pdf" TargetMode="External"/><Relationship Id="rId7" Type="http://schemas.openxmlformats.org/officeDocument/2006/relationships/hyperlink" Target="https://cms.santander.com.br/sites/WPS/documentos/arq-relatorio-vli/26-04-09_194551_20260406-vli.pdf" TargetMode="External"/><Relationship Id="rId8" Type="http://schemas.openxmlformats.org/officeDocument/2006/relationships/hyperlink" Target="https://www.vli-logistica.com.br/quem-somos/" TargetMode="External"/><Relationship Id="rId9" Type="http://schemas.openxmlformats.org/officeDocument/2006/relationships/hyperlink" Target="https://www.vli-logistica.com.br/wp-content/uploads/2026/08/Formulario-de-referencia-VMM-2026.pdf" TargetMode="External"/><Relationship Id="rId10" Type="http://schemas.openxmlformats.org/officeDocument/2006/relationships/hyperlink" Target="https://cms.santander.com.br/sites/WPS/documentos/arq-relatorio-vli/26-04-09_194551_20260406-vli.pdf" TargetMode="External"/><Relationship Id="rId11" Type="http://schemas.openxmlformats.org/officeDocument/2006/relationships/hyperlink" Target="https://neofeed.com.br/economia/o-trunfo-logistico-de-r-1-bilhao-que-acelera-a-vli-no-mapa-ferroviario/es/" TargetMode="External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li-logistica.com.br/quem-somos/historia/" TargetMode="External"/><Relationship Id="rId2" Type="http://schemas.openxmlformats.org/officeDocument/2006/relationships/hyperlink" Target="https://www.vli-logistica.com.br/wp-content/uploads/2026/08/Formulario-de-referencia-FCA-2026.pdf" TargetMode="External"/><Relationship Id="rId3" Type="http://schemas.openxmlformats.org/officeDocument/2006/relationships/hyperlink" Target="https://cms.santander.com.br/sites/WPS/documentos/arq-relatorio-vli/26-04-09_194551_20260406-vli.pdf" TargetMode="External"/><Relationship Id="rId4" Type="http://schemas.openxmlformats.org/officeDocument/2006/relationships/hyperlink" Target="https://neofeed.com.br/economia/o-trunfo-logistico-de-r-1-bilhao-que-acelera-a-vli-no-mapa-ferroviario/es/" TargetMode="External"/><Relationship Id="rId5" Type="http://schemas.openxmlformats.org/officeDocument/2006/relationships/hyperlink" Target="https://www.vli-logistica.com.br/quem-somos/conselho-e-lideranca/" TargetMode="External"/><Relationship Id="rId6" Type="http://schemas.openxmlformats.org/officeDocument/2006/relationships/hyperlink" Target="https://www.vli-logistica.com.br/wp-content/uploads/2026/06/RS2025_-Versao-Final-10.06.26_compressed.pdf" TargetMode="External"/><Relationship Id="rId7" Type="http://schemas.openxmlformats.org/officeDocument/2006/relationships/hyperlink" Target="https://www.vli-logistica.com.br/en/about-us-en/board-of-directors-and-leadership-2/" TargetMode="External"/><Relationship Id="rId8" Type="http://schemas.openxmlformats.org/officeDocument/2006/relationships/hyperlink" Target="https://www.vli-logistica.com.br/quem-somos/conselho-e-lideranca/" TargetMode="External"/><Relationship Id="rId9" Type="http://schemas.openxmlformats.org/officeDocument/2006/relationships/hyperlink" Target="https://www.vli-logistica.com.br/fabricia-souza-e-a-nova-cfo-da-vli/" TargetMode="External"/><Relationship Id="rId10" Type="http://schemas.openxmlformats.org/officeDocument/2006/relationships/hyperlink" Target="https://www.vli-logistica.com.br/wp-content/uploads/2026/06/Fato-Relevante-FNS-2026.06.25.pdf" TargetMode="External"/><Relationship Id="rId11" Type="http://schemas.openxmlformats.org/officeDocument/2006/relationships/hyperlink" Target="https://acionista.com.br/vli-multimodal-anuncia-saida-de-diretor-presidente-em-2026/" TargetMode="External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li-logistica.com.br/wp-content/uploads/2026/08/Formulario-de-referencia-VMM-2026.pdf" TargetMode="External"/><Relationship Id="rId2" Type="http://schemas.openxmlformats.org/officeDocument/2006/relationships/hyperlink" Target="https://www.vli-logistica.com.br/wp-content/uploads/2025/08/RS2024_VLI_D6d.pdf" TargetMode="External"/><Relationship Id="rId3" Type="http://schemas.openxmlformats.org/officeDocument/2006/relationships/hyperlink" Target="https://www.vli-logistica.com.br/wp-content/uploads/2026/06/Fato-Relevante-FNS-2026.06.25.pdf" TargetMode="External"/><Relationship Id="rId4" Type="http://schemas.openxmlformats.org/officeDocument/2006/relationships/hyperlink" Target="https://www.vli-logistica.com.br/" TargetMode="External"/><Relationship Id="rId5" Type="http://schemas.openxmlformats.org/officeDocument/2006/relationships/hyperlink" Target="https://www.cbinsights.com/company/vli" TargetMode="External"/><Relationship Id="rId6" Type="http://schemas.openxmlformats.org/officeDocument/2006/relationships/hyperlink" Target="https://www.vli-logistica.com.br/quem-somos/historia/" TargetMode="External"/><Relationship Id="rId7" Type="http://schemas.openxmlformats.org/officeDocument/2006/relationships/hyperlink" Target="https://www.vli-logistica.com.br/wp-content/uploads/2026/08/Formulario-de-referencia-FCA-2026.pdf" TargetMode="External"/><Relationship Id="rId8" Type="http://schemas.openxmlformats.org/officeDocument/2006/relationships/hyperlink" Target="https://www.vli-logistica.com.br/relacoes-com-investidores/" TargetMode="External"/><Relationship Id="rId9" Type="http://schemas.openxmlformats.org/officeDocument/2006/relationships/hyperlink" Target="https://www.vli-logistica.com.br/relacoes-com-investidores/endividamentos/" TargetMode="External"/><Relationship Id="rId10" Type="http://schemas.openxmlformats.org/officeDocument/2006/relationships/hyperlink" Target="https://www.vli-logistica.com.br/relacoes-com-investidores/central-de-documentos/" TargetMode="External"/><Relationship Id="rId11" Type="http://schemas.openxmlformats.org/officeDocument/2006/relationships/hyperlink" Target="https://www.vli-logistica.com.br/relacoes-com-investidores/endividamentos/" TargetMode="External"/><Relationship Id="rId12" Type="http://schemas.openxmlformats.org/officeDocument/2006/relationships/hyperlink" Target="https://www.vli-logistica.com.br/relacoes-com-investidores/endividamentos/" TargetMode="External"/><Relationship Id="rId13" Type="http://schemas.openxmlformats.org/officeDocument/2006/relationships/hyperlink" Target="https://cms.santander.com.br/sites/WPS/documentos/arq-relatorio-vli/26-04-09_194551_20260406-vli.pdf" TargetMode="External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li-logistica.com.br/relacoes-com-investidores/endividamentos/" TargetMode="External"/><Relationship Id="rId2" Type="http://schemas.openxmlformats.org/officeDocument/2006/relationships/hyperlink" Target="https://www.vli-logistica.com.br/wp-content/uploads/2026/08/Formulario-de-referencia-VMM-2026.pdf" TargetMode="External"/><Relationship Id="rId3" Type="http://schemas.openxmlformats.org/officeDocument/2006/relationships/hyperlink" Target="https://forbes.com.br/forbes-money/2026/03/vli-eleva-em-4-movimentacao-em-ferrovias-em-2025-e-ve-lucro-crescer-mais-de-5/" TargetMode="External"/><Relationship Id="rId4" Type="http://schemas.openxmlformats.org/officeDocument/2006/relationships/hyperlink" Target="https://www.vli-logistica.com.br/wp-content/uploads/2026/08/Formulario-de-referencia-VMM-2026.pdf" TargetMode="External"/><Relationship Id="rId5" Type="http://schemas.openxmlformats.org/officeDocument/2006/relationships/hyperlink" Target="https://forbes.com.br/forbes-money/2026/03/vli-eleva-em-4-movimentacao-em-ferrovias-em-2025-e-ve-lucro-crescer-mais-de-5/" TargetMode="External"/><Relationship Id="rId6" Type="http://schemas.openxmlformats.org/officeDocument/2006/relationships/hyperlink" Target="https://www.vli-logistica.com.br/relacoes-com-investidores/" TargetMode="External"/><Relationship Id="rId7" Type="http://schemas.openxmlformats.org/officeDocument/2006/relationships/hyperlink" Target="https://www.vli-logistica.com.br/wp-content/uploads/2025/08/RS2024_VLI_D6d.pdf" TargetMode="External"/><Relationship Id="rId8" Type="http://schemas.openxmlformats.org/officeDocument/2006/relationships/hyperlink" Target="https://www.gov.br/antt/pt-br/assuntos/ultimas-noticias/antt-e-ministerio-dos-transportes-avancam-na-renovacao-antecipada-da-fca-com-previsao-de-r-24-bilhoes-em-investimentos" TargetMode="External"/><Relationship Id="rId9" Type="http://schemas.openxmlformats.org/officeDocument/2006/relationships/hyperlink" Target="https://neofeed.com.br/economia/o-trunfo-logistico-de-r-1-bilhao-que-acelera-a-vli-no-mapa-ferroviario/es/" TargetMode="External"/><Relationship Id="rId10" Type="http://schemas.openxmlformats.org/officeDocument/2006/relationships/hyperlink" Target="https://www.otempo.com.br/economia/2026/5/22/governo-fecha-acordo-de-r-27-bi-com-fca-que-opera-em-minas-e-vai-retomar-3-1-mil-km-de-trilhos" TargetMode="External"/><Relationship Id="rId11" Type="http://schemas.openxmlformats.org/officeDocument/2006/relationships/hyperlink" Target="https://diariodocomercio.com.br/legislacao/antt-renovacao-ferrovia-fca/" TargetMode="External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li-logistica.com.br/wp-content/uploads/2026/08/Formulario-de-referencia-FCA-2026.pdf" TargetMode="External"/><Relationship Id="rId2" Type="http://schemas.openxmlformats.org/officeDocument/2006/relationships/hyperlink" Target="https://www.otempo.com.br/economia/2026/5/22/governo-fecha-acordo-de-r-27-bi-com-fca-que-opera-em-minas-e-vai-retomar-3-1-mil-km-de-trilhos" TargetMode="External"/><Relationship Id="rId3" Type="http://schemas.openxmlformats.org/officeDocument/2006/relationships/hyperlink" Target="https://www.otempo.com.br/economia/2026/7/21/governo-prorrogara-por-ate-2-anos-concessao-da-fca-apos-atraso-em-renovacao" TargetMode="External"/><Relationship Id="rId4" Type="http://schemas.openxmlformats.org/officeDocument/2006/relationships/hyperlink" Target="https://cms.santander.com.br/sites/WPS/documentos/arq-relatorio-vli/26-04-09_194551_20260406-vli.pdf" TargetMode="External"/><Relationship Id="rId5" Type="http://schemas.openxmlformats.org/officeDocument/2006/relationships/hyperlink" Target="https://www.gov.br/antt/pt-br/assuntos/ultimas-noticias/antt-e-ministerio-dos-transportes-avancam-na-renovacao-antecipada-da-fca-com-previsao-de-r-24-bilhoes-em-investimentos" TargetMode="External"/><Relationship Id="rId6" Type="http://schemas.openxmlformats.org/officeDocument/2006/relationships/hyperlink" Target="https://diariodocomercio.com.br/economia/concessao-ferrovia-fca-minas-gerais/" TargetMode="External"/><Relationship Id="rId7" Type="http://schemas.openxmlformats.org/officeDocument/2006/relationships/hyperlink" Target="https://www.vli-logistica.com.br/wp-content/uploads/2025/08/RS2024_VLI_D6d.pdf" TargetMode="External"/><Relationship Id="rId8" Type="http://schemas.openxmlformats.org/officeDocument/2006/relationships/hyperlink" Target="https://oimparcial.com.br/noticias/2023/06/ferrovia-norte-sul-e-entregue-apos-36-anos-obra-deve-reduzir-preco-do-frete/" TargetMode="External"/><Relationship Id="rId9" Type="http://schemas.openxmlformats.org/officeDocument/2006/relationships/hyperlink" Target="https://www.vli-logistica.com.br/quem-somos/" TargetMode="External"/><Relationship Id="rId10" Type="http://schemas.openxmlformats.org/officeDocument/2006/relationships/hyperlink" Target="https://www.vli-logistica.com.br/quem-somos/" TargetMode="External"/><Relationship Id="rId11" Type="http://schemas.openxmlformats.org/officeDocument/2006/relationships/hyperlink" Target="https://www.vli-logistica.com.br/en/about-us-en/" TargetMode="External"/><Relationship Id="rId12" Type="http://schemas.openxmlformats.org/officeDocument/2006/relationships/hyperlink" Target="https://www.vli-logistica.com.br/wp-content/uploads/2026/06/RS2025_-Versao-Final-10.06.26_compressed.pdf" TargetMode="External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li-logistica.com.br/en/home-en/" TargetMode="External"/><Relationship Id="rId2" Type="http://schemas.openxmlformats.org/officeDocument/2006/relationships/hyperlink" Target="https://www.vli-logistica.com.br/" TargetMode="External"/><Relationship Id="rId3" Type="http://schemas.openxmlformats.org/officeDocument/2006/relationships/hyperlink" Target="https://www.vli-logistica.com.br/en/about-us-en/" TargetMode="External"/><Relationship Id="rId4" Type="http://schemas.openxmlformats.org/officeDocument/2006/relationships/hyperlink" Target="https://www.vli-logistica.com.br/en/home-en/" TargetMode="External"/><Relationship Id="rId5" Type="http://schemas.openxmlformats.org/officeDocument/2006/relationships/hyperlink" Target="https://www.vli-logistica.com.br/" TargetMode="External"/><Relationship Id="rId6" Type="http://schemas.openxmlformats.org/officeDocument/2006/relationships/hyperlink" Target="https://www.vli-logistica.com.br/relacoes-com-investidores/" TargetMode="External"/><Relationship Id="rId7" Type="http://schemas.openxmlformats.org/officeDocument/2006/relationships/hyperlink" Target="https://www.vli-logistica.com.br/robots.txt" TargetMode="External"/><Relationship Id="rId8" Type="http://schemas.openxmlformats.org/officeDocument/2006/relationships/hyperlink" Target="https://www.vli-logistica.com.br/llms.txt" TargetMode="External"/><Relationship Id="rId9" Type="http://schemas.openxmlformats.org/officeDocument/2006/relationships/hyperlink" Target="https://br.indeed.com/cmp/Vli" TargetMode="External"/><Relationship Id="rId10" Type="http://schemas.openxmlformats.org/officeDocument/2006/relationships/hyperlink" Target="https://www.itatiaia.com.br/brasil/sudeste/mg/simulado-alerta-motoristas-sobre-imprudencias-em-travessia-de-ferrovia/" TargetMode="External"/><Relationship Id="rId11" Type="http://schemas.openxmlformats.org/officeDocument/2006/relationships/hyperlink" Target="https://www.instagram.com/reel/DO55U-OgKLq/" TargetMode="External"/><Relationship Id="rId12" Type="http://schemas.openxmlformats.org/officeDocument/2006/relationships/hyperlink" Target="https://www.facebook.com/reel/1033093552112089/?v" TargetMode="External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vli-preview/0c6390c1-4be4-5b2b-bad1-eb62495fa16a/scratchpad/build/vl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371600" cy="70408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600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INFORMAÇÕES PÚBLICAS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0116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 que a VLI diz sobre si mesma e o que as outras fontes dizem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8862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Divergências verificadas entre o site oficial, documentos regulatórios, relatórios e imprensa, como base para o trabalho de GEO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em 09/10/2026  ·  Digital e Comunicação Externa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326880" y="2011680"/>
            <a:ext cx="22860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326880" y="20848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9326880" y="2706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verificados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326880" y="3291840"/>
            <a:ext cx="22860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26880" y="33649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9326880" y="3986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inconsistências confirmadas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326880" y="4572000"/>
            <a:ext cx="22860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0" y="46451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0" y="5266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VLI tem bons dados, mas o próprio site conta versões diferentes deles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630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17904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auditados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50058" y="141732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14650" y="14630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710178" y="1517904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inconsistências confirmadas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42916" y="141732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07508" y="14630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003036" y="1517904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35774" y="141732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00366" y="14630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295894" y="1517904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consistentes ou com escopo diferente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28632" y="1417320"/>
            <a:ext cx="210312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93224" y="14630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0588752" y="1517904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conclusivos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560320"/>
            <a:ext cx="112745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site contradiz a si mesmo. 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Português e inglês divergem em vagões (21 mil × 24 mil), locomotivas (584 × 800) e municípios (300 × 250). Os números em português ficam abaixo do piso do Formulário de Referência de 31/12/2025 (mais de 22 mil vagões e mais de 700 locomotivas); os em inglês repetem o Relatório 2024.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Portos: três contagens oficiais. 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(Relatório 2025), sete (site) ou oito (Relatório 2024 e Santander) estruturas portuárias, sem critério explícito.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Dados-chave defasados. 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site fala em 7 mil empregados; o Relatório 2025 fala em mais de 8 mil. A página de RI destaca "2024 × 2023" com 2025 já publicado e traz uma razão dívida/EBITDA (1,63x) que a própria página não reproduz (1,41x).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Renovação da FCA muda a cada versão. 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R$ 30 bi → R$ 24 bi (até R$ 34 bi) → R$ 27,6 bi; 5.725 km → 4.100 km. Imprensa e analistas ainda circulam números antigos, e o Santander ainda cita outorga que a ANTT diz ter sido substituída por investimento.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de CEO à vista. </a:t>
            </a:r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de Fábio Marchiori (29/11/2026) consta em Fato Relevante, mas não no site: nova defasagem previsível.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580644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E6EBF3"/>
          </a:solidFill>
          <a:ln w="6350">
            <a:solidFill>
              <a:srgbClr val="E6EB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879592"/>
            <a:ext cx="10945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notícia: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acionistas, extensão da malha (≈ 8.000 km), ratings AAA(bra) e EBITDA batem entre as fontes. O problema é de governança do dado, não de falta de informação.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Só chamamos de divergência o que duas fontes comparáveis contradizem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 w="6350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6420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 confirmada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463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entidade e mesma data-base, valores incompatíveis, ou erro objetivo verificável (texto-modelo, unidade errada, conta que não fecha).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D9640F"/>
          </a:solidFill>
          <a:ln w="6350">
            <a:solidFill>
              <a:srgbClr val="D9640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774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3134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1762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fonte mostra um valor que já foi verdadeiro ou de outra data-base; existe fonte mais recente com número diferente.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1971BA"/>
          </a:solidFill>
          <a:ln w="6350">
            <a:solidFill>
              <a:srgbClr val="1971B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9067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30266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diferente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88950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 divergência, mas as fontes falam de entidades, critérios ou datas distintos (ex.: VLI S.A. × VLI Multimodal).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1B7F4E"/>
          </a:solidFill>
          <a:ln w="6350">
            <a:solidFill>
              <a:srgbClr val="1B7F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0390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37398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60273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fontes batem, dentro de arredondamento.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517136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6B7894"/>
          </a:solidFill>
          <a:ln w="6350">
            <a:solidFill>
              <a:srgbClr val="6B789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51713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CONCLUSIVO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240280" y="4453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conclusivo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43159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diferença, mas faltam dados para dizer se é erro ou critério; indicamos quem pode esclarecer.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503920" y="1417320"/>
            <a:ext cx="3227832" cy="3474720"/>
          </a:xfrm>
          <a:prstGeom prst="roundRect">
            <a:avLst>
              <a:gd name="adj" fmla="val 2266"/>
            </a:avLst>
          </a:prstGeom>
          <a:solidFill>
            <a:srgbClr val="E6EBF3"/>
          </a:solidFill>
          <a:ln w="6350">
            <a:solidFill>
              <a:srgbClr val="E6EB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0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das fontes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192024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Documentos regulatórios: Formulário de Referência, Fato Relevante, demonstrações financeiras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Relatórios de Sustentabilidade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Site institucional (PT e EN)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Imprensa e analistas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Agregadores e avaliações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120640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E6EBF3"/>
          </a:solidFill>
          <a:ln w="6350">
            <a:solidFill>
              <a:srgbClr val="E6EBF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5193792"/>
            <a:ext cx="109453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verificamos: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lemos o HTML bruto do site (PT e EN), os PDFs integrais dos Formulários de Referência, dos Relatórios de Sustentabilidade 2024 e 2025 e do Fato Relevante, e refizemos as contas. Cada afirmação tem trecho e link no anexo. Quando a fonte bloqueou o acesso (Indeed, LinkedIn, Dealroom), dizemos que o dado veio de resumo de busca.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Mais de 30 fontes consultadas, com acesso direto à maioria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011680"/>
                <a:gridCol w="1554480"/>
                <a:gridCol w="25877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vli-logistica.com.br (PT e EN), RI, llms.txt, sitemap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09/10/2026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integral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Formulários de Referência FCA e VLI Multimodal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Regulatório (CVM)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31/12/2025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integral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 Relevante FNS (CEO)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Regulatório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25/06/2026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integral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Relatórios de Sustentabilidade 2024 e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31/12/2024 e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integral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Santander Credit Research (VLI)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06/04/2026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integral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Forbes, Diário do Comércio, O Tempo, NeoFeed, Itatiaia, O Imparcial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Imprensa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a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lida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ANTT (gov.br) e CB Insights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Órgão / agregador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lida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"Mar Aberto" (772 menções em setembro/2025)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Set/2025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integral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Indeed, InfoJobs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6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resumo de busca (Indeed bloqueou)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LinkedIn, Glassdoor, Dealroom, Wikipédia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Perfis / enciclopédia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Bloqueados ou não localizados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ChatGPT, Gemini, Perplexity, AI Overviews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Respostas de 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consultados (fora do escopo)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Das 28 verificações, 9 são inconsistências reais e 9 são falsos alarmes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463040"/>
          <a:ext cx="45720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499616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 w="6350">
            <a:solidFill>
              <a:srgbClr val="B3261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212080" y="14996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1463040"/>
            <a:ext cx="4965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 Vagões  ·  #03 Locomotivas  ·  #04 Municípios atendidos  ·  #05 Estruturas portuárias  ·  #17 Dívida líquida/EBITDA 2025  ·  #19 Unidade do TKU no Formulário de Referência  ·  #22 Outorga na renovação  ·  #24 Nomes e número de corredores  ·  #26 Defeitos técnicos (metadados, links)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212080" y="239572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D9640F"/>
          </a:solidFill>
          <a:ln w="6350">
            <a:solidFill>
              <a:srgbClr val="D9640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212080" y="23957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2359152"/>
            <a:ext cx="4965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 Empregados  ·  #07 Volume nos portos  ·  #12 Cargos na versão em inglês  ·  #16 Página de RI: "2024 × 2023"  ·  #20 Números da renovação da FCA  ·  #25 Versão em inglês desatualizada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212080" y="329184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1971BA"/>
          </a:solidFill>
          <a:ln w="6350">
            <a:solidFill>
              <a:srgbClr val="1971B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12080" y="32918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3255264"/>
            <a:ext cx="4965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 Número de acionistas  ·  #14 Sede da empresa  ·  #15 Fundação: 2010 × 2011  ·  #18 EBITDA recorrente 2025  ·  #23 Ferrovia Norte-Sul: 720 × 2.257 km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212080" y="418795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1B7F4E"/>
          </a:solidFill>
          <a:ln w="6350">
            <a:solidFill>
              <a:srgbClr val="1B7F4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12080" y="41879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4151376"/>
            <a:ext cx="4965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#09 Extensão da malha (8.000 km)  ·  #10 Participações acionárias  ·  #13 Transição do CEO  ·  #28 Dados de segurança nas passagens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12080" y="5084064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6B7894"/>
          </a:solidFill>
          <a:ln w="6350">
            <a:solidFill>
              <a:srgbClr val="6B789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12080" y="50840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CONCLUSIVO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5047488"/>
            <a:ext cx="4965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#06 Terminais integradores  ·  #08 Volume nas ferrovias  ·  #21 Vencimento do contrato atual  ·  #27 Avaliações como empregadora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212080" y="6035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(#) remetem à tabela de evidências no anexo.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SOMOS EM NÚMEROS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 "VLI em números" tem versões diferentes em português, inglês e relatórios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1463040"/>
                <a:gridCol w="1737360"/>
                <a:gridCol w="2194560"/>
                <a:gridCol w="158191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2025 / FR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Veredito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Empregados #01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consta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7,6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DEFASAGEM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Vagões #02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22 mil (FR)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Locomotivas #03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700 (FR)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Municípios #04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Estruturas portuárias #05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("railway")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Terminais integradores #06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(lista)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consta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CONCLUSIVO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89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nos portos #07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43,9 mi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DEFASAGEM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nas ferrovias #08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 mi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 mi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mi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65 mi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CONCLUSIVO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89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Extensão da malha #09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8.000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8.000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mil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7.935 km (FR)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5778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= Formulário de Referência 2026 (posição em 31/12/2025). Relatório 2025 publicado em junho/2026. Terminais: o Santander cita dez (#06). Volume nas ferrovias: métricas distintas entre Relatório 2025 e Santander (#08).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VAGÕES E LOCOMOTIVAS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versão em inglês repete o Relatório 2024; a em português fica abaixo do piso do dado de 2025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Vagões (mil)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91640"/>
          <a:ext cx="5577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Locomotivas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1691640"/>
          <a:ext cx="5577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2025: "frota superior a 22.000 vagões e mais de 700 locomotivas" (31/12/2025). Barras do FR mostram o piso. Rótulo do site EN para locomotivas aparece truncado ("800 train").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57200" y="5486400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E6EBF3"/>
          </a:solidFill>
          <a:ln w="6350">
            <a:solidFill>
              <a:srgbClr val="E6EBF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1792" y="5559552"/>
            <a:ext cx="10945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7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em inglês repete o Relatório 2024 (800 locomotivas e 24 mil vagões), já defasado. A em português (584 e 21 mil) fica abaixo do piso do Formulário de 31/12/2025 (mais de 700 e mais de 22 mil) e não coincide com relatório algum; pode ser outra definição (por exemplo, frota própria), mas ela não está explicada.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PORTOS E VOLUMES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Cinco, sete ou oito estruturas portuárias, e um volume de 40 milhões que ficou para trás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portuárias, por fonte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9164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463040"/>
          <a:ext cx="59710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5994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cada fonte diz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sete nomes: TPSL, Pecém*, TPD, TMIB, TPM*, TGL*, Tiplam (* operação para clientes)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"7 railway structures": a tradução trocou "portuárias" por "ferroviárias"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"8 estruturas portuárias" e 40 milhões de toneladas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"44 milhões de toneladas em cinco estruturas portuárias"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"oito ativos portuários (sendo quatro próprios)" e dez terminais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#07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Site: 40 mi t · RI 2024: 43,2 mi t · 2025: 43,9 mi t (Relat., Forbes, Santander) e 43,8 mi t (FR)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257800"/>
            <a:ext cx="11274552" cy="1005840"/>
          </a:xfrm>
          <a:prstGeom prst="roundRect">
            <a:avLst>
              <a:gd name="adj" fmla="val 7273"/>
            </a:avLst>
          </a:prstGeom>
          <a:solidFill>
            <a:srgbClr val="E6EBF3"/>
          </a:solidFill>
          <a:ln w="6350">
            <a:solidFill>
              <a:srgbClr val="E6EBF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5330952"/>
            <a:ext cx="109453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7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de portos mudam conforme o critério (próprios, operados para clientes, em operação). Nenhuma fonte explica o critério. Recomendação: publicar a lista nominal de ativos com o tipo de operação e a data, e usar a mesma contagem em PT, EN, relatórios e RI.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EMPREGADOS E MALHA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Empregados estão subestimados no site; a extensão da malha é a única métrica que fecha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Empregados (mil)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9164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463040"/>
          <a:ext cx="5971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8503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Extensão da malha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e Relatório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"8.000 km" / "8 mil km"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de Referência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"7.935 km (concessões e direitos de passagem)"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FCA 7.220 + FNS 720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NeoFeed (FCA)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"7.856 km" para a FCA, contra 7.220 km nas demais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6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760720" y="3977640"/>
            <a:ext cx="5971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Empregados: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Relatório 2025 fala em "+ de 8 mil colaboradores". Os 4.493 do Formulário de Referência da FCA cobrem só essa empresa. Indeed informa faixa de 5.001 a 10.000 (compatível).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Malha: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8.000 km é arredondamento aceitável de 7.935 km. A diferença de 7.856 km (NeoFeed) para a FCA não tem explicação nas fontes (provável escopo, não confirmado).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57200" y="562356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E6EBF3"/>
          </a:solidFill>
          <a:ln w="6350">
            <a:solidFill>
              <a:srgbClr val="E6EB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" y="5696712"/>
            <a:ext cx="10945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7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"7 mil" por dado com data ("mais de 8 mil em 2025") e manter 8.000 km com a ressalva "≈ 7.935 km em 31/12/2025".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SOCIETÁRIA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Os percentuais de acionistas batem em quatro fontes; só o texto sobre "sete acionistas" confunde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417320"/>
          <a:ext cx="47548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463040"/>
          <a:ext cx="6519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  <a:gridCol w="12161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diz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Veredito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(História)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29,6 · 36,5 · 10,0 · 15,9 · 8,0 (soma 100%)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 FCA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Mitsui 10% e Brookfield 36,5% desde 18/04/2024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Brookfield 25,5 + 10,0 + 1,0 em três veículos (= 36,5)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"Sete" × "cinco" #11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Site: "sete acionistas" (entidades); Relatório 2025: "cinco" (grupos)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212080" y="4160520"/>
            <a:ext cx="6519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a fontes antigas: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abril/2024 a Mitsui tinha 20% e a Brookfield 26,5%. Reportagens antigas ainda trazem a composição original e podem alimentar respostas de IA desatualizadas.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457200" y="557784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E6EBF3"/>
          </a:solidFill>
          <a:ln w="6350">
            <a:solidFill>
              <a:srgbClr val="E6EBF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5650992"/>
            <a:ext cx="1094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7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site, escrever "cinco grupos acionistas (sete veículos)", já que a lista só traz cinco nomes e a Brookfield aparece com dois veículos.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saída do CEO está em Fato Relevante, mas ainda não no site; a versão em inglês tem cargo desatualizado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9748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01/06/2026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Fabrícia Souza assume a CFO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468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Antes, o CEO acumulava a função (post de 30/06).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508760"/>
            <a:ext cx="269748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6432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25/06/2026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Relevante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56432" y="2468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Fábio Marchiori não renova o mandato e fica até 29/11/2026.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508760"/>
            <a:ext cx="269748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91072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91072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PT e EN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2468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PT: CEO e RI. EN: "CEO, CFO e RI" e outra pessoa como CFO.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0" y="1508760"/>
            <a:ext cx="269748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25712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29/11/2026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25712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mandato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25712" y="2468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Sucessor ainda não anunciado nos documentos lidos.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680960"/>
                <a:gridCol w="121615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Veredito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Cargos na versão EN #12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EN: "CEO, Chief Financial Officer (CFO), and Head of Investor Relations" e Fabricia como CFO; PT já corrigido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DEFASAGEM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Transição do CEO #13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lista Fábio como CEO (correto até 29/11/2026) sem aviso de transição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 por empresa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Fato Relevante da FNS ele é "Presidente do Conselho e Diretor Financeiro e de RI": cargos diferem por empresa do grupo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457200" y="53492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comunicados da VLI Multimodal e da FCA foram lidos via resumo do Clube Acionista (PDFs retornaram acesso negado); confirmar na CVM. O PDF da FNS, no site da VLI, foi lido integralmente.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580644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E6EBF3"/>
          </a:solidFill>
          <a:ln w="6350">
            <a:solidFill>
              <a:srgbClr val="E6EB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" y="5879592"/>
            <a:ext cx="10945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7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o cargo na versão EN agora e preparar o texto de transição do CEO antes de 29/11/2026.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E SEDE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"sede" muda conforme a empresa do grupo, e o site não explica qual é qual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6583680"/>
                <a:gridCol w="20391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Entidade / 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diz sobre sede ou nome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VLI S.A. (holding)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"sede em São Paulo (SP) e principal escritório administrativo em Belo Horizonte (MG)"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https://www.vli-logistica.com.br/wp-content/uploads/2025/08/RS2024_VLI_D6d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Relatório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VLI Multimodal S.A.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Sede social: Rua Sapucaí, 383, 6º andar, Floresta, Belo Horizonte/MG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https://www.vli-logistica.com.br/wp-content/uploads/2026/08/Formulario-de-referencia-VMM-2026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FR VMM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Ferrovia Norte Sul S.A.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Sede: Av. dos Portugueses, Itaqui-Pedrinhas, São Luís/MA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https://www.vli-logistica.com.br/wp-content/uploads/2026/06/Fato-Relevante-FNS-2026.06.25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Fato Relevante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estruturados do 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Organization: name "VLI Multimodal S.A", sem endereço, ano de fundação ou nº de empregados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https://www.vli-logistica.com.br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Home (HTML)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 Insights: Belo Horizonte (mesmo endereço). Indeed: "São Paulo" (via busca; página bloqueada)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https://www.cbinsights.com/company/vli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CB Insights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oficial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informa sede em nenhuma página lida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1206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E6EBF3"/>
          </a:solidFill>
          <a:ln w="6350">
            <a:solidFill>
              <a:srgbClr val="E6EB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5193792"/>
            <a:ext cx="51572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 Escopo, não erro: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e Belo Horizonte são ambos corretos, para empresas diferentes do grupo. O risco é a IA ou um agregador escolher um só.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45352" y="51206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E6EBF3"/>
          </a:solidFill>
          <a:ln w="6350">
            <a:solidFill>
              <a:srgbClr val="E6EB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9944" y="5193792"/>
            <a:ext cx="51572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 Fundação: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(empresa) e 2011 (razão social "VLI S.A." e VLI Multimodal) coexistem sem conflito: o Formulário de Referência explica as duas datas.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RI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página de RI está um ano atrás e traz uma razão dívida/EBITDA que não reproduz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recorrente (R$ bi), página de RI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9164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463040"/>
          <a:ext cx="642823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91840"/>
                <a:gridCol w="121615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Veredito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#16 RI: "VLI em números 2024 × 2023"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mesma página de RI (Endividamentos) já traz 2025; DFs de 2025 e 2T2026 publicadas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DEFASAGEM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#17 Dívida líquida/EBITDA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 publica 1,63x. Com os números da própria página: 7.442 ÷ 5.261 = 1,41x. Santander: 1,4x. Em 2024 a conta fecha (1,30x)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#18 EBITDA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 5.261 × FR 5.254 (diferença de R$ 7 mi, 0,13%); mídia: 5,26 bi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#19 TKU no FR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 escreve "43,4 milhões de TKU"; Forbes e Relatório 2025: 43,5 bilhões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257800"/>
            <a:ext cx="11274552" cy="1005840"/>
          </a:xfrm>
          <a:prstGeom prst="roundRect">
            <a:avLst>
              <a:gd name="adj" fmla="val 7273"/>
            </a:avLst>
          </a:prstGeom>
          <a:solidFill>
            <a:srgbClr val="E6EBF3"/>
          </a:solidFill>
          <a:ln w="6350">
            <a:solidFill>
              <a:srgbClr val="E6EBF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5330952"/>
            <a:ext cx="109453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razão 1,63x pode refletir definição de covenant e não erro. Por isso o item pede validação com RI e Controladoria antes de qualquer correção. A unidade do TKU no Formulário de Referência é erro objetivo (milhões em vez de bilhões) e merece retificação via CVM.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RENOVAÇÃO DA FCA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Os números da renovação da FCA tiveram quatro versões, e fontes ainda circulam as antigas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14884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9050">
            <a:solidFill>
              <a:srgbClr val="D964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Ago/2025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971B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www.vli-logistica.com.br/wp-content/uploads/2025/08/RS2024_VLI_D6d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Relatório 2024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860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~R$ 30 bi em 30 anos e 10 mil empregos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38628" y="1508760"/>
            <a:ext cx="214884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75788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02/04/2026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75788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971B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www.gov.br/antt/pt-br/assuntos/ultimas-noticias/antt-e-ministerio-dos-transportes-avancam-na-renovacao-antecipada-da-fca-com-previsao-de-r-24-bilhoes-em-investimento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875788" y="22860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R$ 24 bi obrigatórios, até R$ 34 bi; outorga substituída por investimento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0056" y="1508760"/>
            <a:ext cx="214884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9050">
            <a:solidFill>
              <a:srgbClr val="D9640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57216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07/05/2026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57216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971B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neofeed.com.br/economia/o-trunfo-logistico-de-r-1-bilhao-que-acelera-a-vli-no-mapa-ferroviario/es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NeoFeed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57216" y="22860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cita R$ 30 bi e 5.725 km a manter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01484" y="1508760"/>
            <a:ext cx="214884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38644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22/05/2026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38644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971B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https://www.otempo.com.br/economia/2026/5/22/governo-fecha-acordo-de-r-27-bi-com-fca-que-opera-em-minas-e-vai-retomar-3-1-mil-km-de-trilho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 Tempo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38644" y="22860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R$ 27,6 bi (23,4 + 4,2 de indenização); 4.110 km mantidos e 3.110 km devolvidos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82912" y="1508760"/>
            <a:ext cx="214884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20072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30/07/2026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20072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971B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ttps://diariodocomercio.com.br/legislacao/antt-renovacao-ferrovia-fca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Diário do Comércio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720072" y="22860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R$ 24 bi; ~4.100 km e ~3.100 km; ANTT envia ao TCU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58444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Contorno laranja: versão já superada quando foi publicada ou citada.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112745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035040"/>
                <a:gridCol w="35021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Versões encontradas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R$ 30 bi → 24 bi (até 34 bi com aporte do governo) → 27,6 bi (inclui 4,2 bi de indenização) → ≥ 24 bi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diferem por composição e data; R$ 24 bi é o mínimo obrigatório.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Malha mantida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5.725 km → 5,8 mil km → 4.110 km → ~4.100 km (de 7.220 km, devolvem-se ~3.100 km)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Evolução da proposta, não erro; fontes antigas continuam no ar.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457200" y="580644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E6EBF3"/>
          </a:solidFill>
          <a:ln w="6350">
            <a:solidFill>
              <a:srgbClr val="E6EB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" y="5879592"/>
            <a:ext cx="10945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7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#20 Defasagem: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fonte estava errada na data em que publicou, mas quem pergunta hoje a uma IA pode receber a versão antiga.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 OUTORGA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Santander diz que há outorga, ANTT diz que ela foi trocada por investimento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6052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#22 Outorga na renovação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 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Há outorga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https://cms.santander.com.br/sites/WPS/documentos/arq-relatorio-vli/26-04-09_194551_20260406-vli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Santander, 06/04/2026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Renovação traria investimentos "além do pagamento de outorga"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há outorga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https://www.gov.br/antt/pt-br/assuntos/ultimas-noticias/antt-e-ministerio-dos-transportes-avancam-na-renovacao-antecipada-da-fca-com-previsao-de-r-24-bilhoes-em-investimentos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ANTT, 02/04/2026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"substituição do pagamento de outorga por investimentos diretos na malha ferroviária"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há outorga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https://diariodocomercio.com.br/economia/concessao-ferrovia-fca-minas-gerai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Diário do Comércio, 10/04/2026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haverá pagamento de outorgas ao Tesouro (ciclo anterior: R$ 22 bi), segundo a matéria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83280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 w="6350">
            <a:solidFill>
              <a:srgbClr val="B3261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3832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240280" y="33375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relatório do Santander é posterior à nota da ANTT (4 dias) e mantém a premissa antiga. Por ser análise pública de crédito, pode ser reaproveitado por terceiros.</a:t>
            </a:r>
            <a:endParaRPr lang="en-US" sz="12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7764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67025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#21 Vencimento do contrato atual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citada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de Referência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https://www.vli-logistica.com.br/wp-content/uploads/2026/08/Formulario-de-referencia-FCA-2026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FR FCA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"até agosto de 2026" (contrato de 28/08/1996, 30 anos)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Tempo, 22/05/2026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https://www.otempo.com.br/economia/2026/5/22/governo-fecha-acordo-de-r-27-bi-com-fca-que-opera-em-minas-e-vai-retomar-3-1-mil-km-de-trilhos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Vence em 27 de agosto, segundo a matéria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Tempo, 21/07/2026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invalidUrl="" action="" tgtFrame="" tooltip="https://www.otempo.com.br/economia/2026/7/21/governo-prorrogara-por-ate-2-anos-concessao-da-fca-apos-atraso-em-renovacao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"acaba no dia 31 de agosto"; prorrogação de até 2 anos, confirmada pela VLI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71500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E6EBF3"/>
          </a:solidFill>
          <a:ln w="6350">
            <a:solidFill>
              <a:srgbClr val="E6EBF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1792" y="5788152"/>
            <a:ext cx="10945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em aberto: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localizamos decisão do TCU nem assinatura do aditivo. Confirmar no Diário Oficial antes de qualquer afirmação pública.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FERROVIA NORTE-SUL E CORREDORES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Quando o site diz "Norte-Sul", a VLI opera 720 km, não os 2.257 km da ferrovia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 km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 Norte (VLI), Relatório 2024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70248" y="1463040"/>
            <a:ext cx="365760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53128" y="1554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1.537 km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453128" y="2194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Trecho da Rumo (Tramo Central, O Imparcial 2023)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74152" y="1463040"/>
            <a:ext cx="365760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57032" y="1554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2.257 km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257032" y="2194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total da Norte-Sul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0632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#23 ESCOPO: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site cita "Ferrovia Norte-Sul (FNS)" sem tramo. Uma IA que cruze com notícias da Norte-Sul pode atribuir à VLI a extensão de outro operador. O Santander descreve os 720 km como "interliga malhas ferroviárias de cinco regiões brasileiras", enquanto o Relatório 2024 diz que o Tramo Norte passa por 25 cidades em 2 estados (MA e TO).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766560"/>
                <a:gridCol w="213055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#24 Corredores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aparece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(filtro)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 Leste, Minas-Bahia, Minas-Rio, Sudeste (sem Norte)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https://www.vli-logistica.com.br/quem-som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Quem somos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(texto)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"Sistema" Centro-Norte, Centro-Sudeste, Centro-Leste, Minas-Rio e Minas-Bahia; home fala só em dois sistemas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https://www.vli-logistica.com.br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EN (filtro)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 Leste, Minas-Bahia, Minas-Rio, Norte, Sudeste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https://www.vli-logistica.com.br/en/about-us-en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About 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Relatórios 2024 e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"5 corredores logísticos"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https://www.vli-logistica.com.br/wp-content/uploads/2026/06/RS2025_-Versao-Final-10.06.26_compressed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Relatório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457200" y="621792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Sugestão: adotar uma única nomenclatura (por exemplo, os cinco corredores dos relatórios) em PT, EN, llms.txt e RI.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 GEO TÉCNICO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Há defeitos simples de corrigir no site; e dois ativos de GEO já existem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2103120"/>
                <a:gridCol w="350215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#26 Defeito verificado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description da home contém texto-modelo: "NOSSOS NOVO TEXTO SERVIÇOS ..."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https://www.vli-logistica.com.br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Home (HTML)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resumo que buscadores e IAs leem é ilegível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description de Quem somos começa com um link do YouTube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https://www.vli-logistica.com.br/quem-som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Quem somos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Resumo institucional comprometido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em inglês: título "Home EN", descrição começa em português, menu "Vagas" sem tradução; "EGS" nas páginas About us e 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https://www.vli-logistica.com.br/en/home-en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Home 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Imagem pouco cuidada; #25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de produção apontam para domínios de homologação (staging)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https://www.vli-logistica.com.br/relacoes-com-investidore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Página de 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 de links quebrados e de indexação indevida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robots.txt vazio (200, 0 bytes) e sem sitemap declarado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https://www.vli-logistica.com.br/robots.txt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robots.txt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bloqueia IAs, mas não orienta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estruturados: Organization sem endereço, fundação ou empregados; nome "VLI Multimodal S.A"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invalidUrl="" action="" tgtFrame="" tooltip="https://www.vli-logistica.com.br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Home (HTML)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IAs não têm um "cartão" oficial da empresa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desatualizado: última notícia 17/07/2026; PT chega a 07/10/2026 (#25)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invalidUrl="" action="" tgtFrame="" tooltip="https://www.vli-logistica.com.br/en/home-en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Home 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Respostas em inglês usam dado mais velho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16636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6EBF3"/>
          </a:solidFill>
          <a:ln w="6350">
            <a:solidFill>
              <a:srgbClr val="E6EB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5239512"/>
            <a:ext cx="1094536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existe: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llms.txt gerado pelo Yoast e um sitemap atualizado (07/10/2026), além de FAQ (inclui "O que significa a sigla VLI?") e marcação hreflang. São bons pontos de partida: falta preencher o llms.txt com os fatos-chave e datar os números.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EXTERNAS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Avaliações e dados de segurança: o risco é de datas e de fontes que não conseguimos 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352044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#27  Marca empregadora  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4840" y="152704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6B7894"/>
          </a:solidFill>
          <a:ln w="6350">
            <a:solidFill>
              <a:srgbClr val="6B789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34840" y="15270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CONCLUSIVO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2024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Indeed: nota 3,9 em 108 avaliações; faixa de 5.001 a 10.000 funcionários, compatível com 8 mil.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 classifica o setor como "Manufatura" e a sede como "São Paulo" (ver #14).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InfoJobs: 4,6, sem número de avaliações. Glassdoor: nota geral não localizada.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Indeed bloqueou o acesso direto: números obtidos por resumo de busca, a confirmar na página.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352" y="1417320"/>
            <a:ext cx="5486400" cy="352044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#28  Segurança nas passagens  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149840" y="152704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1B7F4E"/>
          </a:solidFill>
          <a:ln w="6350">
            <a:solidFill>
              <a:srgbClr val="1B7F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149840" y="15270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28232" y="192024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(22/09/2025): 30 mil invasões em oito meses, 20 acidentes com vítimas.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Itatiaia (18/09/2025): 30 mil evasões de cancelas, 26 mil em Betim, "até agosto deste ano" (o ano não aparece).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OTM (18/09/2025): 20 acidentes de jan. a ago., contra 23 em 2024 (−13%).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batem, mas sem ano explícito uma IA pode tratá-los como atuais em 2026.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166360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E6EBF3"/>
          </a:solidFill>
          <a:ln w="6350">
            <a:solidFill>
              <a:srgbClr val="E6EB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5239512"/>
            <a:ext cx="10945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7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na página de segurança os números com ano e fonte (por exemplo, "2025: 20 acidentes de jan. a ago.") e pedir a veículos que incluam o ano quando usarem o dado da VLI.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ALARMES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Nove diferenças parecem erro e não são: convém explicá-las, não corrigi-las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153912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Parece divergência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não 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8.000 km × 7.935 km × 7.220 + 720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Arredondamento e soma de duas concessões (FCA e FNS Tramo Norte)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Brookfield 36,5% × 25,5%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25,5% é só um dos três veículos da Brookfield (25,5 + 10,0 + 1,0)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"Sete" × "cinco" acionistas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Entidades jurídicas × grupos acionistas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Sede em São Paulo × Belo Horizonte × São Luís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empresa do grupo tem a sua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Fundada em 2010 × 2011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 em 2010; razão social "VLI S.A." em 2011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5.261 × 5.254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Diferença de R$ 7 mi (0,13%), consolidações diferentes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R$ 24 bi × R$ 34 bi × R$ 27,6 bi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obrigatório × com aporte do governo × com indenização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Norte-Sul 720 × 1.537 × 2.257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Tramos operados por empresas diferentes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4.493 × 7,6 mil × 8 mil empregados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4.493 é só a FCA (Formulário de Referência); os demais são o grupo em anos diferentes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apresentar isto: evita "corrigir" informação certa e mostra onde falta apenas uma frase explicativa no site.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PARA GEO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Uma IA pode responder qualquer uma das versões: a que ela encontrar primeiro, não a mais correta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59552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Números-capa em conflito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Vagões, locomotivas, municípios e portos têm 2 a 3 versões oficiais (#02–#05). A pergunta em inglês tende a trazer a versão do Relatório 2024.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559552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554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da FCA em movimento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92024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versões dos números desde 2025 (#20), com fontes antigas ainda no ar e o Santander mantendo a premissa de outorga (#22).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5559552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154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da empresa fragmentada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52044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sedes, várias razões sociais e "VLI Multimodal S.A" como nome no schema (#14). Perguntas sobre "sede" ou "CNPJ" ficam ambíguas.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063240"/>
            <a:ext cx="5559552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3154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de CEO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52044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29/11/2026 as respostas sobre "quem é o CEO da VLI" ficarão desatualizadas se o site, o LinkedIn e a imprensa não forem atualizados juntos (#13).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E6EBF3"/>
          </a:solidFill>
          <a:ln w="6350">
            <a:solidFill>
              <a:srgbClr val="E6EB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828032"/>
            <a:ext cx="109453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 a favor: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site já tem llms.txt, sitemap, FAQ e hreflang; o conteúdo-fonte (Formulário de Referência e Relatório 2025) é rico e atual. Falta uma página única de "fatos e números" datada, que seja a fonte canônica para IAs, imprensa e agregadores.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58064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ilustração (não é métrica): ao ser perguntada sem busca, esta IA descreveu a VLI com origem na Vale em 2010 e quatro acionistas (sem BNDESPar), sem percentuais e sem citar CCPN, renovação da FCA ou a campanha da SNT. Uma só consulta, não repetida.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Nove ações em três ondas, com dono sugerido; valores a validar antes de publicar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92240"/>
                <a:gridCol w="2560320"/>
                <a:gridCol w="11247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 sugerido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0–15 dias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Definir e publicar um "VLI em números" único, datado e com fonte (empregados, frota, municípios, portos, terminais, volumes), em PT e 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 Digital, Operações, Gente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01–08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0–15 dias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Corrigir a versão EN (railway→port, "800 train", cargos, "EGS") e o texto sobre acionistas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 Digital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05, 11, 12, 25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0–15 dias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Corrigir meta descriptions e remover links de homologação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 Digital, TI/agência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0–15 dias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RI: atualizar "VLI em números" para 2025 e validar a razão 1,63x; retificar unidade do TKU no FR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RI, Controladoria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16, 17, 19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0–15 dias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Preparar comunicação da transição do CEO (site, LinkedIn, Q&amp;A, imprensa)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Comunicação, RI, Jurídico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página "Fatos e números" com FAQ, sedes por empresa, acionistas e status da FCA, mais schema.org completo e llms.txt com os fatos-chave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Digital, RI, Jurídico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 14, 15, 20–23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Padronizar corredores e explicar "Norte-Sul = Tramo Norte (720 km)"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Operações, Digital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23, 24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Contínuo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Monitorar respostas de IAs e fontes de terceiros (Indeed, agregadores, imprensa) e pedir correções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 Externa, agência de GEO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27, 28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Contínuo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Definir dono único do dado e calendário trimestral alinhado ao release de resultados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Comunicação, 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 que esta auditoria não cobre, e o que falta para fechar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3931920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consultamos ChatGPT, Gemini, Perplexity nem os resumos do Google: a "divergência" aqui é entre fontes, não entre respostas de IA.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Glassdoor, Dealroom e Wikipédia não foram acessados; Indeed só por resumo de busca.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 da VLI Multimodal e da FCA sobre o CEO foram lidos por resumo de terceiro.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localizamos decisão do TCU nem aditivo assinado da FCA.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dos números do site em português (584 locomotivas, 21 mil vagões) não está nos documentos lidos.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486400" cy="3931920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 w="9525">
            <a:solidFill>
              <a:srgbClr val="DDE2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28232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28232" y="196596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com Operações e Gente as fontes dos números #01–#08.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à agência de GEO o baseline de respostas de IA e cruzar com esta lista.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com RI e Controladoria a razão dívida/EBITDA e a retificação do TKU.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TCU e Diário Oficial para o status da FCA.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esta auditoria após as correções, em 60 dias.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5778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completas, com trecho e link para cada item, nas páginas seguintes (anexo).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EVIDÊNCIAS 1 DE 8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Evidências dos itens #01 a #03, com trecho e link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2651760"/>
                <a:gridCol w="5577840"/>
                <a:gridCol w="66751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Trecho ou dado verificado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Empregados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· Quem somos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"7 mil empregados"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https://www.vli-logistica.com.br/quem-som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Empregados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de Sustentabilidade 2024 (31/12/2024)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"Mais de 7,6 mil empregados"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https://www.vli-logistica.com.br/wp-content/uploads/2025/08/RS2024_VLI_D6d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Empregados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de Sustentabilidade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"+ de 8 mil colaboradores"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https://www.vli-logistica.com.br/wp-content/uploads/2026/06/RS2025_-Versao-Final-10.06.26_compressed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Empregados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de Referência FCA 2026, item 10.1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4.493 empregados, somente a FCA (31/12/2025): escopo diferente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https://www.vli-logistica.com.br/wp-content/uploads/2026/08/Formulario-de-referencia-FCA-2026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· Quem somos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"21 mil vagões mobilizados em operações ferroviárias"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https://www.vli-logistica.com.br/quem-som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EN · About 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"24 thousand wagons mobilized in railway operations"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invalidUrl="" action="" tgtFrame="" tooltip="https://www.vli-logistica.com.br/en/about-us-en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de Sustentabilidade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"800 locomotivas e 24 mil vagões"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invalidUrl="" action="" tgtFrame="" tooltip="https://www.vli-logistica.com.br/wp-content/uploads/2025/08/RS2024_VLI_D6d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de Referência VMM 2026, item 1.2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"frota superior a 22.000 vagões" (31/12/2025)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 invalidUrl="" action="" tgtFrame="" tooltip="https://www.vli-logistica.com.br/wp-content/uploads/2026/08/Formulario-de-referencia-VMM-2026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Locomotivas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· Quem somos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"584 locomotivas"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9" invalidUrl="" action="" tgtFrame="" tooltip="https://www.vli-logistica.com.br/quem-som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Locomotivas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EN · About 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"800 train" (rótulo truncado no HTML)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0" invalidUrl="" action="" tgtFrame="" tooltip="https://www.vli-logistica.com.br/en/about-us-en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Locomotivas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de Referência VMM 2026, item 1.2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"mais de 700 locomotivas" (31/12/2025)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1" invalidUrl="" action="" tgtFrame="" tooltip="https://www.vli-logistica.com.br/wp-content/uploads/2026/08/Formulario-de-referencia-VMM-2026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EVIDÊNCIAS 2 DE 8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Evidências dos itens #04 a #06, com trecho e link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2651760"/>
                <a:gridCol w="5577840"/>
                <a:gridCol w="66751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Trecho ou dado verificado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Municípios atendidos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· Quem somos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"Presente em 300 municípios, 10 estados e no Distrito Federal"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https://www.vli-logistica.com.br/quem-som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Municípios atendidos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EN · About 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"Present in 250 cities, 10 states and the Federal District"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https://www.vli-logistica.com.br/en/about-us-en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Municípios atendidos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de Sustentabilidade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"Presente em cerca de 300 municípios, em 10 estados e no Distrito Federal"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https://www.vli-logistica.com.br/wp-content/uploads/2026/06/RS2025_-Versao-Final-10.06.26_compressed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Estruturas portuárias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· Quem somos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"40 milhões de toneladas transportadas em 7 estruturas portuárias"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https://www.vli-logistica.com.br/quem-som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Estruturas portuárias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EN · About 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"40 million tons transported on 7 railway structures" (tradução trocou portuária por ferroviária)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https://www.vli-logistica.com.br/en/about-us-en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Estruturas portuárias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de Sustentabilidade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"8 estruturas portuárias"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invalidUrl="" action="" tgtFrame="" tooltip="https://www.vli-logistica.com.br/wp-content/uploads/2025/08/RS2024_VLI_D6d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Estruturas portuárias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de Sustentabilidade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"44 milhões de toneladas em cinco estruturas portuárias"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invalidUrl="" action="" tgtFrame="" tooltip="https://www.vli-logistica.com.br/wp-content/uploads/2026/06/RS2025_-Versao-Final-10.06.26_compressed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Estruturas portuárias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Santander Credit Research (06/04/2026)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"oito ativos portuários (sendo quatro próprios) e dez terminais integradores"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 invalidUrl="" action="" tgtFrame="" tooltip="https://cms.santander.com.br/sites/WPS/documentos/arq-relatorio-vli/26-04-09_194551_20260406-vli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89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Terminais integradores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· Quem somos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nove terminais: Porto Nacional, Palmeirante, Porto Franco, Guará, Uberaba, Araguari, Ouro Preto, Pirapora, Santa Luzia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9" invalidUrl="" action="" tgtFrame="" tooltip="https://www.vli-logistica.com.br/quem-som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89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Terminais integradores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Relatórios de Sustentabilidade 2024 e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"9 terminais integradores" / "nove terminais integradores"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0" invalidUrl="" action="" tgtFrame="" tooltip="https://www.vli-logistica.com.br/wp-content/uploads/2026/06/RS2025_-Versao-Final-10.06.26_compressed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EVIDÊNCIAS 3 DE 8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Evidências dos itens #07 a #09, com trecho e link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2651760"/>
                <a:gridCol w="5577840"/>
                <a:gridCol w="66751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Trecho ou dado verificado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nos portos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· Quem somos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"40 milhões de toneladas"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https://www.vli-logistica.com.br/quem-som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nos portos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de RI (2024 × 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de porto 2024: 43.198 mil TU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https://www.vli-logistica.com.br/relacoes-com-investidore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nos portos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de Sustentabilidade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"43,9 milhões de TU" nos portos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https://www.vli-logistica.com.br/wp-content/uploads/2026/06/RS2025_-Versao-Final-10.06.26_compressed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nos portos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de Referência VMM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"cerca de 43,8 milhões de toneladas"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https://www.vli-logistica.com.br/wp-content/uploads/2026/08/Formulario-de-referencia-VMM-2026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89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nas ferrovias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· Quem somos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"60,6 milhões de toneladas ... em 8.000 km de ferrovias"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https://www.vli-logistica.com.br/quem-som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89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nas ferrovias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de Sustentabilidade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"cerca de 65 milhões de toneladas" (FCA, FNS Tramo Norte, EFVM e EFC)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invalidUrl="" action="" tgtFrame="" tooltip="https://www.vli-logistica.com.br/wp-content/uploads/2026/06/RS2025_-Versao-Final-10.06.26_compressed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89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nas ferrovias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Santander Credit Research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faturado de ferrovias 2025: 60,5 milhões de TU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invalidUrl="" action="" tgtFrame="" tooltip="https://cms.santander.com.br/sites/WPS/documentos/arq-relatorio-vli/26-04-09_194551_20260406-vli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Extensão da malha (8.000 km)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· Quem somos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"8.000 km de ferrovias"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 invalidUrl="" action="" tgtFrame="" tooltip="https://www.vli-logistica.com.br/quem-som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Extensão da malha (8.000 km)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de Referência VMM 2026, item 1.2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"7.935 km de linhas ferroviárias (entre concessões e acessos por direitos de passagem)"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9" invalidUrl="" action="" tgtFrame="" tooltip="https://www.vli-logistica.com.br/wp-content/uploads/2026/08/Formulario-de-referencia-VMM-2026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Extensão da malha (8.000 km)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Santander Credit Research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FCA ≈ 7.220 km + FNS ≈ 720 km = 7.940 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0" invalidUrl="" action="" tgtFrame="" tooltip="https://cms.santander.com.br/sites/WPS/documentos/arq-relatorio-vli/26-04-09_194551_20260406-vli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Extensão da malha (8.000 km)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NeoFeed (07/05/2026)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FCA com 7.856 km: difere de 7.220 km (Relatório 2024, Santander); escopo não explicado (não conclusivo)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1" invalidUrl="" action="" tgtFrame="" tooltip="https://neofeed.com.br/economia/o-trunfo-logistico-de-r-1-bilhao-que-acelera-a-vli-no-mapa-ferroviario/e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EVIDÊNCIAS 4 DE 8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Evidências dos itens #10 a #13, com trecho e link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2651760"/>
                <a:gridCol w="5577840"/>
                <a:gridCol w="66751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Trecho ou dado verificado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Participações acionárias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· História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 29,6% · Brookfield 36,5% · Mitsui 10,0% · FI-FGTS 15,9% · BNDESPar 8,0%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https://www.vli-logistica.com.br/quem-somos/historia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Participações acionárias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de Referência FCA 2026, item 1.1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18/04/2024 a Brookfield (LI FIP) comprou 10% da Mitsui: Mitsui 10%, Brookfield 36,5%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https://www.vli-logistica.com.br/wp-content/uploads/2026/08/Formulario-de-referencia-FCA-2026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Participações acionárias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Santander Credit Research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Brookfield 25,5% + Logística Integrada FIP 10,0% + Brasil Port Holdings 1,0% (= 36,5%)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https://cms.santander.com.br/sites/WPS/documentos/arq-relatorio-vli/26-04-09_194551_20260406-vli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Participações acionárias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NeoFeed (07/05/2026)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Mesmos percentuais do 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https://neofeed.com.br/economia/o-trunfo-logistico-de-r-1-bilhao-que-acelera-a-vli-no-mapa-ferroviario/e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de acionistas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· Conselho e Liderança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"ações divididas entre sete acionistas" (lista Brookfield com 2 veículos, Vale, FI-FGTS, Mitsui e BNDES)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https://www.vli-logistica.com.br/quem-somos/conselho-e-lideranca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de acionistas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de Sustentabilidade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"ações divididas entre cinco acionistas"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invalidUrl="" action="" tgtFrame="" tooltip="https://www.vli-logistica.com.br/wp-content/uploads/2026/06/RS2025_-Versao-Final-10.06.26_compressed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Cargos na versão em inglês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EN · Board of Directors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Fábio Marchiori: "CEO, Chief Financial Officer (CFO), and Head of Investor Relations"; Fabricia Souza: "Chief Financial Officer (CFO)"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invalidUrl="" action="" tgtFrame="" tooltip="https://www.vli-logistica.com.br/en/about-us-en/board-of-directors-and-leadership-2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Cargos na versão em inglês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· Conselho e Liderança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Fábio Marchiori: "Diretor-Executivo (CEO) e Relações com Investidores"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 invalidUrl="" action="" tgtFrame="" tooltip="https://www.vli-logistica.com.br/quem-somos/conselho-e-lideranca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Cargos na versão em inglês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VLI (30/06/2026)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posição estava sendo acumulada por Fábio Marchiori" · nova CFO a partir de 01/06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9" invalidUrl="" action="" tgtFrame="" tooltip="https://www.vli-logistica.com.br/fabricia-souza-e-a-nova-cfo-da-vli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Transição do CEO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 Relevante FNS (25/06/2026)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Fábio Marchiori "não renovará seu mandato ... permanecerá em suas funções até 29/11/2026"; sucessor a ser comunicado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0" invalidUrl="" action="" tgtFrame="" tooltip="https://www.vli-logistica.com.br/wp-content/uploads/2026/06/Fato-Relevante-FNS-2026.06.25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Transição do CEO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Clube Acionista (resumo; comunicados da VLI Multimodal e da FCA)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Mesma saída informada pelas outras empresas (PDFs retornaram acesso negado; confirmar na CVM)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1" invalidUrl="" action="" tgtFrame="" tooltip="https://acionista.com.br/vli-multimodal-anuncia-saida-de-diretor-presidente-em-2026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EVIDÊNCIAS 5 DE 8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Evidências dos itens #14 a #17, com trecho e link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2651760"/>
                <a:gridCol w="5577840"/>
                <a:gridCol w="66751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Trecho ou dado verificado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Sede da empresa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de Referência VMM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VLI Multimodal: sede social na Rua Sapucaí, 383, 6º andar, Floresta, Belo Horizonte/MG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https://www.vli-logistica.com.br/wp-content/uploads/2026/08/Formulario-de-referencia-VMM-2026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Sede da empresa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de Sustentabilidade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"VLI S.A. ... possui sede em São Paulo (SP) e mantém o principal escritório administrativo em Belo Horizonte (MG)"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https://www.vli-logistica.com.br/wp-content/uploads/2025/08/RS2024_VLI_D6d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Sede da empresa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 Relevante FNS (25/06/2026)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Ferrovia Norte Sul S.A.: sede na Av. dos Portugueses, Itaqui-Pedrinhas, São Luís/MA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https://www.vli-logistica.com.br/wp-content/uploads/2026/06/Fato-Relevante-FNS-2026.06.25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Sede da empresa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(dados estruturados JSON-LD, home)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Organization: name "VLI Multimodal S.A", alternateName "VLI Logistica"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https://www.vli-logistica.com.br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Sede da empresa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 Insights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Endereço em Belo Horizonte (Rua Sapucaí, 383); fundação 2010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https://www.cbinsights.com/company/vli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Fundação: 2010 × 2011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· História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"fundada em 2010 ... Em 2011, a companhia adquiriu sua razão social atual: VLI S.A."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invalidUrl="" action="" tgtFrame="" tooltip="https://www.vli-logistica.com.br/quem-somos/historia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Fundação: 2010 × 2011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de Referência FCA 2026, item 1.1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 Operações Ferroviárias S.A. (05/08/2010) → VLI Multimodal S.A. (30/11/2011)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invalidUrl="" action="" tgtFrame="" tooltip="https://www.vli-logistica.com.br/wp-content/uploads/2026/08/Formulario-de-referencia-FCA-2026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de RI: "2024 × 2023"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de 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"VLI em números 2024 x 2023"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 invalidUrl="" action="" tgtFrame="" tooltip="https://www.vli-logistica.com.br/relacoes-com-investidore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de RI: "2024 × 2023"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de RI · Endividamentos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Quadro de 2025 × 2024 (EBITDA recorrente 5.261)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9" invalidUrl="" action="" tgtFrame="" tooltip="https://www.vli-logistica.com.br/relacoes-com-investidores/endividament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de RI: "2024 × 2023"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de documentos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Demonstrações financeiras 4T2025 e 2T2026 publicadas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0" invalidUrl="" action="" tgtFrame="" tooltip="https://www.vli-logistica.com.br/relacoes-com-investidores/central-de-document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Dívida líquida/EBITDA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de RI · Endividamentos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Endividamento líquido 7.442; EBITDA recorrente 5.261; "Dívida Líquida/EBITDA recorrente 1,63"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1" invalidUrl="" action="" tgtFrame="" tooltip="https://www.vli-logistica.com.br/relacoes-com-investidores/endividament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Dívida líquida/EBITDA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 com dados da própria página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7.442 ÷ 5.261 = 1,41x (em 2024: 6.469 ÷ 4.989 = 1,30x, que bate com o publicado)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2" invalidUrl="" action="" tgtFrame="" tooltip="https://www.vli-logistica.com.br/relacoes-com-investidores/endividament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Dívida líquida/EBITDA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Santander Credit Research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"Dívida líquida/Ebitda era de 1,4x" ao fim de dez/25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3" invalidUrl="" action="" tgtFrame="" tooltip="https://cms.santander.com.br/sites/WPS/documentos/arq-relatorio-vli/26-04-09_194551_20260406-vli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EVIDÊNCIAS 6 DE 8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Evidências dos itens #18 a #20, com trecho e link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2651760"/>
                <a:gridCol w="5577840"/>
                <a:gridCol w="66751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Trecho ou dado verificado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recorrente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de RI · Endividamentos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recorrente 2025: R$ 5.261 milhões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https://www.vli-logistica.com.br/relacoes-com-investidores/endividament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recorrente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de Referência VMM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recorrente: R$ 5.254 milhões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https://www.vli-logistica.com.br/wp-content/uploads/2026/08/Formulario-de-referencia-VMM-2026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recorrente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Forbes (16/03/2026)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R$ 5,26 bi; margem 52,9%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https://forbes.com.br/forbes-money/2026/03/vli-eleva-em-4-movimentacao-em-ferrovias-em-2025-e-ve-lucro-crescer-mais-de-5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do TKU no Formulário de Referência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de Referência VMM/FCA 2026, item 1.2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"aproximadamente 43,4 milhões de toneladas por quilômetro útil (TKU)"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https://www.vli-logistica.com.br/wp-content/uploads/2026/08/Formulario-de-referencia-VMM-2026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do TKU no Formulário de Referência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Forbes (16/03/2026)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"43,5 bilhões de TKU"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https://forbes.com.br/forbes-money/2026/03/vli-eleva-em-4-movimentacao-em-ferrovias-em-2025-e-ve-lucro-crescer-mais-de-5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do TKU no Formulário de Referência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de 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de ferrovia 2024: 41.894 MTKU (= 41,9 bilhões)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invalidUrl="" action="" tgtFrame="" tooltip="https://www.vli-logistica.com.br/relacoes-com-investidore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Números da renovação da FCA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de Sustentabilidade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investimento de "aproximadamente R$ 30 bilhões e 10 mil empregos em 30 anos"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invalidUrl="" action="" tgtFrame="" tooltip="https://www.vli-logistica.com.br/wp-content/uploads/2025/08/RS2024_VLI_D6d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Números da renovação da FCA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ANTT (02/04/2026)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"R$ 24 bilhões em investimentos obrigatórios", potencial de "até R$ 34 bilhões"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 invalidUrl="" action="" tgtFrame="" tooltip="https://www.gov.br/antt/pt-br/assuntos/ultimas-noticias/antt-e-ministerio-dos-transportes-avancam-na-renovacao-antecipada-da-fca-com-previsao-de-r-24-bilhoes-em-investimentos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Números da renovação da FCA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NeoFeed (07/05/2026)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Ainda cita R$ 30 bilhões em 30 anos e 5.725 km a manter (resumo da página)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9" invalidUrl="" action="" tgtFrame="" tooltip="https://neofeed.com.br/economia/o-trunfo-logistico-de-r-1-bilhao-que-acelera-a-vli-no-mapa-ferroviario/e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Números da renovação da FCA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Tempo (22/05/2026)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R$ 27,6 bi (23,4 investimentos + 4,2 indenização); VLI com 4.110 km e devolução de 3.110 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0" invalidUrl="" action="" tgtFrame="" tooltip="https://www.otempo.com.br/economia/2026/5/22/governo-fecha-acordo-de-r-27-bi-com-fca-que-opera-em-minas-e-vai-retomar-3-1-mil-km-de-trilhos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Números da renovação da FCA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Diário do Comércio (30/07/2026)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"pelo menos R$ 24 bilhões"; ~4.100 km mantidos, ~3.100 km devolvidos; segue ao TCU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1" invalidUrl="" action="" tgtFrame="" tooltip="https://diariodocomercio.com.br/legislacao/antt-renovacao-ferrovia-fca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EVIDÊNCIAS 7 DE 8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Evidências dos itens #21 a #24, com trecho e link</a:t>
            </a:r>
            <a:endParaRPr lang="en-US" sz="2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2651760"/>
                <a:gridCol w="5577840"/>
                <a:gridCol w="66751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Trecho ou dado verificado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89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Vencimento do contrato atual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de Referência FCA 2026, item 1.1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assinado em 28/08/1996; concessão "até agosto de 2026"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https://www.vli-logistica.com.br/wp-content/uploads/2026/08/Formulario-de-referencia-FCA-2026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89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Vencimento do contrato atual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Tempo (22/05/2026)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atual vence em 27 de agosto, segundo a matéria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https://www.otempo.com.br/economia/2026/5/22/governo-fecha-acordo-de-r-27-bi-com-fca-que-opera-em-minas-e-vai-retomar-3-1-mil-km-de-trilhos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89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Vencimento do contrato atual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Tempo (21/07/2026)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"acaba no dia 31 de agosto"; prorrogação de até dois anos confirmada pela VLI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https://www.otempo.com.br/economia/2026/7/21/governo-prorrogara-por-ate-2-anos-concessao-da-fca-apos-atraso-em-renovacao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Outorga na renovação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Santander Credit Research (06/04/2026)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Renovação traria investimentos "além do pagamento de outorga"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https://cms.santander.com.br/sites/WPS/documentos/arq-relatorio-vli/26-04-09_194551_20260406-vli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Outorga na renovação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ANTT (02/04/2026)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"substituição do pagamento de outorga por investimentos diretos na malha ferroviária"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https://www.gov.br/antt/pt-br/assuntos/ultimas-noticias/antt-e-ministerio-dos-transportes-avancam-na-renovacao-antecipada-da-fca-com-previsao-de-r-24-bilhoes-em-investimentos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Outorga na renovação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Diário do Comércio (10/04/2026)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haverá pagamento de outorgas ao Tesouro Nacional (ciclo anterior: R$ 22 bi), segundo a matéria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invalidUrl="" action="" tgtFrame="" tooltip="https://diariodocomercio.com.br/economia/concessao-ferrovia-fca-minas-gerai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Ferrovia Norte-Sul: 720 × 2.257 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de Sustentabilidade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Ferrovia Norte-Sul, Tramo Norte: 720 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invalidUrl="" action="" tgtFrame="" tooltip="https://www.vli-logistica.com.br/wp-content/uploads/2025/08/RS2024_VLI_D6d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Ferrovia Norte-Sul: 720 × 2.257 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Imparcial (16/06/2023)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Norte-Sul "possui 2.257 km de extensão"; trecho da Rumo com 1.537 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 invalidUrl="" action="" tgtFrame="" tooltip="https://oimparcial.com.br/noticias/2023/06/ferrovia-norte-sul-e-entregue-apos-36-anos-obra-deve-reduzir-preco-do-frete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B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Ferrovia Norte-Sul: 720 × 2.257 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· Quem somos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 "Ferrovia Norte-Sul (FNS)" sem indicar o tramo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9" invalidUrl="" action="" tgtFrame="" tooltip="https://www.vli-logistica.com.br/quem-som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Nomes e número de corredores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· Quem somos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Filtro: Leste, Minas-Bahia, Minas-Rio, Sudeste (sem Norte); textos usam "Sistema Centro-Norte/Sudeste/Leste/Minas-Rio e Minas-Bahia"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0" invalidUrl="" action="" tgtFrame="" tooltip="https://www.vli-logistica.com.br/quem-somo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Nomes e número de corredores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EN · About 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Filtro: Leste, Minas-Bahia, Minas-Rio, Norte, Sudeste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1" invalidUrl="" action="" tgtFrame="" tooltip="https://www.vli-logistica.com.br/en/about-us-en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Nomes e número de corredores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Relatórios de Sustentabilidade 2024 e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"5 corredores logísticos"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2" invalidUrl="" action="" tgtFrame="" tooltip="https://www.vli-logistica.com.br/wp-content/uploads/2026/06/RS2025_-Versao-Final-10.06.26_compressed.pdf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EVIDÊNCIAS 8 DE 8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Evidências dos itens #25 a #28, com trecho e link</a:t>
            </a:r>
            <a:endParaRPr lang="en-US" sz="2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2651760"/>
                <a:gridCol w="5577840"/>
                <a:gridCol w="66751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Trecho ou dado verificado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B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Versão em inglês desatualizada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EN · Home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Notícia mais recente: 17 de julho de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https://www.vli-logistica.com.br/en/home-en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Versão em inglês desatualizada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PT · Home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Notícias até 07/10/2026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https://www.vli-logistica.com.br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Versão em inglês desatualizada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EN · About us e Board of Directors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"EGS" no lugar de ESG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https://www.vli-logistica.com.br/en/about-us-en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4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Versão em inglês desatualizada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EN · Home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Título "Home EN - VLI Logistica"; menu com "Vagas" sem tradução; meta description começa com "Notícias Ler todas as notícias"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https://www.vli-logistica.com.br/en/home-en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Defeitos técnicos (metadados, links)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PT (meta description)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"Notícias Ler todas as notícias NOSSOS NOVO TEXTO SERVIÇOS Soluções em Transporte ferroviário..."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https://www.vli-logistica.com.br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Defeitos técnicos (metadados, links)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e RI (HTML)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de produção apontam para staging.vli.vix.infobase.com.br e staging.vli-logistica.com.br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invalidUrl="" action="" tgtFrame="" tooltip="https://www.vli-logistica.com.br/relacoes-com-investidores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Defeitos técnicos (metadados, links)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robots.txt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 200 com arquivo vazio (0 bytes), sem referência ao sitemap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invalidUrl="" action="" tgtFrame="" tooltip="https://www.vli-logistica.com.br/robots.txt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Defeitos técnicos (metadados, links)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llms.txt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 (gerado pelo Yoast): ponto positivo para GEO, mas sem fatos-chave da empresa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 invalidUrl="" action="" tgtFrame="" tooltip="https://www.vli-logistica.com.br/llms.txt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89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Avaliações como empregadora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Indeed (dados obtidos por busca; acesso direto bloqueado)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 3,9 em 108 avaliações; faixa 5.001–10.000 funcionários; sede "São Paulo"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9" invalidUrl="" action="" tgtFrame="" tooltip="https://br.indeed.com/cmp/Vli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de segurança nas passagens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Itatiaia (18/09/2025)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"Somente até agosto deste ano foram registrados 30 mil casos de evasão de cancelas"; "26 mil ocorreram em Betim" (o ano não aparece no texto, só "deste ano")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0" invalidUrl="" action="" tgtFrame="" tooltip="https://www.itatiaia.com.br/brasil/sudeste/mg/simulado-alerta-motoristas-sobre-imprudencias-em-travessia-de-ferrovia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de segurança nas passagens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Folha de S.Paulo no Instagram (22/09/2025; base Mar Aberto)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"Em apenas oito meses ... 30 mil invasões de veículos em passagens ferroviárias ... 20 acidentes com vítimas"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1" invalidUrl="" action="" tgtFrame="" tooltip="https://www.instagram.com/reel/DO55U-OgKLq/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de segurança nas passagens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OTM Editora no Facebook (18/09/2025; base Mar Aberto)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B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"de janeiro a agosto deste ano foram registrados 20 acidentes, contra 23 no mesmo período do ano passado"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u="sng" dirty="0">
                          <a:solidFill>
                            <a:srgbClr val="197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2" invalidUrl="" action="" tgtFrame="" tooltip="https://www.facebook.com/reel/1033093552112089/?v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abrir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LI Auditoria">
  <a:themeElements>
    <a:clrScheme name="VLI Auditoria">
      <a:dk1>
        <a:srgbClr val="142B52"/>
      </a:dk1>
      <a:lt1>
        <a:srgbClr val="FFFFFF"/>
      </a:lt1>
      <a:dk2>
        <a:srgbClr val="43597E"/>
      </a:dk2>
      <a:lt2>
        <a:srgbClr val="E6EBF3"/>
      </a:lt2>
      <a:accent1>
        <a:srgbClr val="1971BA"/>
      </a:accent1>
      <a:accent2>
        <a:srgbClr val="F37919"/>
      </a:accent2>
      <a:accent3>
        <a:srgbClr val="1B7F4E"/>
      </a:accent3>
      <a:accent4>
        <a:srgbClr val="B3261E"/>
      </a:accent4>
      <a:accent5>
        <a:srgbClr val="7AAAD4"/>
      </a:accent5>
      <a:accent6>
        <a:srgbClr val="6B7894"/>
      </a:accent6>
      <a:hlink>
        <a:srgbClr val="1971BA"/>
      </a:hlink>
      <a:folHlink>
        <a:srgbClr val="6B7894"/>
      </a:folHlink>
    </a:clrScheme>
    <a:fontScheme name="VLI Auditori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VLI | Auditoria de informações públicas e divergências</dc:title>
  <dc:subject>PptxGenJS Presentation</dc:subject>
  <dc:creator>Comunicação Digital e Externa</dc:creator>
  <cp:lastModifiedBy>Comunicação Digital e Externa</cp:lastModifiedBy>
  <cp:revision>1</cp:revision>
  <dcterms:created xsi:type="dcterms:W3CDTF">2026-10-09T18:34:53Z</dcterms:created>
  <dcterms:modified xsi:type="dcterms:W3CDTF">2026-10-09T18:34:53Z</dcterms:modified>
</cp:coreProperties>
</file>