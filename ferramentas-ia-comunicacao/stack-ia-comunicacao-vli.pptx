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01985dcf004f38" /><Relationship Type="http://schemas.openxmlformats.org/officeDocument/2006/relationships/extended-properties" Target="/docProps/app.xml" Id="R8437c06ef2b4437a" /><Relationship Type="http://schemas.openxmlformats.org/officeDocument/2006/relationships/officeDocument" Target="/ppt/presentation.xml" Id="R618280e6e6a84cb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7c185a41c34bcc"/>
  </p:sldMasterIdLst>
  <p:notesMasterIdLst>
    <p:notesMasterId xmlns:r="http://schemas.openxmlformats.org/officeDocument/2006/relationships" r:id="R7c91f9f37632463d"/>
  </p:notesMasterIdLst>
  <p:sldIdLst>
    <p:sldId xmlns:r="http://schemas.openxmlformats.org/officeDocument/2006/relationships" id="256" r:id="Ree222e83104f4248"/>
    <p:sldId xmlns:r="http://schemas.openxmlformats.org/officeDocument/2006/relationships" id="257" r:id="R0a4bd3d45a464020"/>
    <p:sldId xmlns:r="http://schemas.openxmlformats.org/officeDocument/2006/relationships" id="258" r:id="R66b04d8539964900"/>
    <p:sldId xmlns:r="http://schemas.openxmlformats.org/officeDocument/2006/relationships" id="259" r:id="Rd0b3402cea3f4137"/>
    <p:sldId xmlns:r="http://schemas.openxmlformats.org/officeDocument/2006/relationships" id="260" r:id="R7e18ad09f5a84444"/>
    <p:sldId xmlns:r="http://schemas.openxmlformats.org/officeDocument/2006/relationships" id="261" r:id="R1aaef6fcbac0450c"/>
    <p:sldId xmlns:r="http://schemas.openxmlformats.org/officeDocument/2006/relationships" id="262" r:id="R8cfc854cf9bd48f5"/>
    <p:sldId xmlns:r="http://schemas.openxmlformats.org/officeDocument/2006/relationships" id="263" r:id="R069d6a06230b44a1"/>
    <p:sldId xmlns:r="http://schemas.openxmlformats.org/officeDocument/2006/relationships" id="264" r:id="Rd0270e705efe457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5e3e859512447f2" /><Relationship Type="http://schemas.openxmlformats.org/officeDocument/2006/relationships/slideMaster" Target="/ppt/slideMasters/slideMaster1.xml" Id="Rf17c185a41c34bcc" /><Relationship Type="http://schemas.openxmlformats.org/officeDocument/2006/relationships/notesMaster" Target="/ppt/notesMasters/notesMaster1.xml" Id="R7c91f9f37632463d" /><Relationship Type="http://schemas.openxmlformats.org/officeDocument/2006/relationships/presProps" Target="/ppt/presProps.xml" Id="Rbe35770740d64c2f" /><Relationship Type="http://schemas.openxmlformats.org/officeDocument/2006/relationships/tableStyles" Target="/ppt/tableStyles.xml" Id="R6324e7cfe9f74e1e" /><Relationship Type="http://schemas.openxmlformats.org/officeDocument/2006/relationships/slide" Target="/ppt/slides/slide1.xml" Id="Ree222e83104f4248" /><Relationship Type="http://schemas.openxmlformats.org/officeDocument/2006/relationships/slide" Target="/ppt/slides/slide2.xml" Id="R0a4bd3d45a464020" /><Relationship Type="http://schemas.openxmlformats.org/officeDocument/2006/relationships/slide" Target="/ppt/slides/slide3.xml" Id="R66b04d8539964900" /><Relationship Type="http://schemas.openxmlformats.org/officeDocument/2006/relationships/slide" Target="/ppt/slides/slide4.xml" Id="Rd0b3402cea3f4137" /><Relationship Type="http://schemas.openxmlformats.org/officeDocument/2006/relationships/slide" Target="/ppt/slides/slide5.xml" Id="R7e18ad09f5a84444" /><Relationship Type="http://schemas.openxmlformats.org/officeDocument/2006/relationships/slide" Target="/ppt/slides/slide6.xml" Id="R1aaef6fcbac0450c" /><Relationship Type="http://schemas.openxmlformats.org/officeDocument/2006/relationships/slide" Target="/ppt/slides/slide7.xml" Id="R8cfc854cf9bd48f5" /><Relationship Type="http://schemas.openxmlformats.org/officeDocument/2006/relationships/slide" Target="/ppt/slides/slide8.xml" Id="R069d6a06230b44a1" /><Relationship Type="http://schemas.openxmlformats.org/officeDocument/2006/relationships/slide" Target="/ppt/slides/slide9.xml" Id="Rd0270e705efe457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861579b792c414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12fd61151745a6" /><Relationship Type="http://schemas.openxmlformats.org/officeDocument/2006/relationships/notesMaster" Target="/ppt/notesMasters/notesMaster1.xml" Id="Rb35c9db856b540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d8d0c1439014f4f" /><Relationship Type="http://schemas.openxmlformats.org/officeDocument/2006/relationships/notesMaster" Target="/ppt/notesMasters/notesMaster1.xml" Id="Rb3c416dc48f2474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4c611a1e4b4080" /><Relationship Type="http://schemas.openxmlformats.org/officeDocument/2006/relationships/notesMaster" Target="/ppt/notesMasters/notesMaster1.xml" Id="Rc93e9f0401a443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1ea006639f44b70" /><Relationship Type="http://schemas.openxmlformats.org/officeDocument/2006/relationships/notesMaster" Target="/ppt/notesMasters/notesMaster1.xml" Id="R401dca7a834a4fd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622e690a1c4dd7" /><Relationship Type="http://schemas.openxmlformats.org/officeDocument/2006/relationships/notesMaster" Target="/ppt/notesMasters/notesMaster1.xml" Id="R5c9a702023ec4b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16466f7bfca48bc" /><Relationship Type="http://schemas.openxmlformats.org/officeDocument/2006/relationships/notesMaster" Target="/ppt/notesMasters/notesMaster1.xml" Id="R266c3ad285b341b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d9a624915ea4024" /><Relationship Type="http://schemas.openxmlformats.org/officeDocument/2006/relationships/notesMaster" Target="/ppt/notesMasters/notesMaster1.xml" Id="R6817dfbf8e864a7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6239220e82d45a7" /><Relationship Type="http://schemas.openxmlformats.org/officeDocument/2006/relationships/notesMaster" Target="/ppt/notesMasters/notesMaster1.xml" Id="Rca6fc8cf269b47d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86baaf5c0be425e" /><Relationship Type="http://schemas.openxmlformats.org/officeDocument/2006/relationships/notesMaster" Target="/ppt/notesMasters/notesMaster1.xml" Id="R4d701c33d93644d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Microsoft 365 Copilot Business: https://www.microsoft.com/en-us/microsoft-365-copilot/business</a:t>
            </a:r>
          </a:p>
          <a:p xmlns:a="http://schemas.openxmlformats.org/drawingml/2006/main">
            <a:r>
              <a:t>[Sources] Claude Pricing: https://claude.com/pricing</a:t>
            </a:r>
          </a:p>
          <a:p xmlns:a="http://schemas.openxmlformats.org/drawingml/2006/main">
            <a:r>
              <a:t>[Sources] Adobe Firefly Partner Models: https://www.adobe.com/products/firefly/partner-models.html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Microsoft 365 Copilot Business: https://www.microsoft.com/en-us/microsoft-365-copilot/business</a:t>
            </a:r>
          </a:p>
          <a:p xmlns:a="http://schemas.openxmlformats.org/drawingml/2006/main">
            <a:r>
              <a:t>[Sources] Claude Pricing: https://claude.com/pricing</a:t>
            </a:r>
          </a:p>
          <a:p xmlns:a="http://schemas.openxmlformats.org/drawingml/2006/main">
            <a:r>
              <a:t>[Sources] Adobe Firefly Partner Models: https://www.adobe.com/products/firefly/partner-models.html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Microsoft 365 Copilot Business: https://www.microsoft.com/en-us/microsoft-365-copilot/business</a:t>
            </a:r>
          </a:p>
          <a:p xmlns:a="http://schemas.openxmlformats.org/drawingml/2006/main">
            <a:r>
              <a:t>[Sources] Microsoft Support on Copilot account types: https://support.microsoft.com/en-us/microsoft-365-copilot/copilot-use-when-multiple-accounts-are-added-to-microsoft-365-apps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Claude Pricing and Team capabilities: https://claude.com/pricing</a:t>
            </a:r>
          </a:p>
          <a:p xmlns:a="http://schemas.openxmlformats.org/drawingml/2006/main">
            <a:r>
              <a:t>[Sources] Claude Code security: https://code.claude.com/docs/en/security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Adobe Firefly approach: https://www.adobe.com/ai/overview/firefly/gen-ai-approach.html</a:t>
            </a:r>
          </a:p>
          <a:p xmlns:a="http://schemas.openxmlformats.org/drawingml/2006/main">
            <a:r>
              <a:t>[Sources] Adobe Firefly partner models: https://www.adobe.com/products/firefly/partner-models.html</a:t>
            </a:r>
          </a:p>
          <a:p xmlns:a="http://schemas.openxmlformats.org/drawingml/2006/main">
            <a:r>
              <a:t>[Sources] Adobe Help on partner video models: https://helpx.adobe.com/firefly/web/work-with-audio-and-video/work-with-video/generate-videos-using-non-adobe-models.html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Perplexity Enterprise: https://www.perplexity.ai/enterprise</a:t>
            </a:r>
          </a:p>
          <a:p xmlns:a="http://schemas.openxmlformats.org/drawingml/2006/main">
            <a:r>
              <a:t>[Sources] DeepL security: https://www.deepl.com/en/pro-data-security</a:t>
            </a:r>
          </a:p>
          <a:p xmlns:a="http://schemas.openxmlformats.org/drawingml/2006/main">
            <a:r>
              <a:t>[Sources] Fireflies pricing: https://fireflies.ai/pricing</a:t>
            </a:r>
          </a:p>
          <a:p xmlns:a="http://schemas.openxmlformats.org/drawingml/2006/main">
            <a:r>
              <a:t>[Sources] ElevenLabs pricing: https://elevenlabs.io/pricing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Deloitte on AI agents and guardrails: https://www.deloitte.com/us/en/insights/topics/emerging-technologies/ai-agents-scaling-faster.html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Microsoft 365 Copilot Business: https://www.microsoft.com/en-us/microsoft-365-copilot/business</a:t>
            </a:r>
          </a:p>
          <a:p xmlns:a="http://schemas.openxmlformats.org/drawingml/2006/main">
            <a:r>
              <a:t>[Sources] Adobe Firefly Partner Models: https://www.adobe.com/products/firefly/partner-models.html</a:t>
            </a:r>
          </a:p>
          <a:p xmlns:a="http://schemas.openxmlformats.org/drawingml/2006/main">
            <a:r>
              <a:t>[Sources] DeepL security: https://www.deepl.com/en/pro-data-security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This slide synthesizes the sourced claims cited in prior slide notes.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7c5ee1d58b4fc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b90567fdb384cc7" /><Relationship Type="http://schemas.openxmlformats.org/officeDocument/2006/relationships/slideLayout" Target="/ppt/slideLayouts/slideLayout1.xml" Id="Rc84aeae3699548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4aeae3699548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730e44b05b4e4f" /><Relationship Type="http://schemas.openxmlformats.org/officeDocument/2006/relationships/notesSlide" Target="/ppt/notesSlides/notesSlide1.xml" Id="Ra860eed7d885419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1e47ad47d94f7c" /><Relationship Type="http://schemas.openxmlformats.org/officeDocument/2006/relationships/notesSlide" Target="/ppt/notesSlides/notesSlide2.xml" Id="R34adf6790f6641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a2ac994092442a" /><Relationship Type="http://schemas.openxmlformats.org/officeDocument/2006/relationships/notesSlide" Target="/ppt/notesSlides/notesSlide3.xml" Id="Race6a5b9163041d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34a1d43dd94418" /><Relationship Type="http://schemas.openxmlformats.org/officeDocument/2006/relationships/notesSlide" Target="/ppt/notesSlides/notesSlide4.xml" Id="Rd03d07f3342a47d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4f3ec7b78545dc" /><Relationship Type="http://schemas.openxmlformats.org/officeDocument/2006/relationships/notesSlide" Target="/ppt/notesSlides/notesSlide5.xml" Id="R2b830d677a0340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f287ca69a44bb5" /><Relationship Type="http://schemas.openxmlformats.org/officeDocument/2006/relationships/notesSlide" Target="/ppt/notesSlides/notesSlide6.xml" Id="Rabb6e20afc0447e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ba9a6f058c49f6" /><Relationship Type="http://schemas.openxmlformats.org/officeDocument/2006/relationships/notesSlide" Target="/ppt/notesSlides/notesSlide7.xml" Id="R7d4a56675a62415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47e4e01b90464b" /><Relationship Type="http://schemas.openxmlformats.org/officeDocument/2006/relationships/notesSlide" Target="/ppt/notesSlides/notesSlide8.xml" Id="Re030bb40115c42a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a3d8b3232d46cd" /><Relationship Type="http://schemas.openxmlformats.org/officeDocument/2006/relationships/notesSlide" Target="/ppt/notesSlides/notesSlide9.xml" Id="Rd9eece5adcfa4e0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B404D9-6AF8-43F4-93BA-DC171AB5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A1D"/>
          </a:solidFill>
          <a:ln xmlns:a="http://schemas.openxmlformats.org/drawingml/2006/main" w="0">
            <a:solidFill>
              <a:srgbClr val="EF7A1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1F65BB-5EBE-4D46-9638-1AE27DBE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A6672"/>
                </a:solidFill>
              </a:defRPr>
            </a:pPr>
            <a:r>
              <a:rPr sz="1350" b="1">
                <a:solidFill>
                  <a:srgbClr val="5A6672"/>
                </a:solidFill>
              </a:rPr>
              <a:t>Recomendação executiva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5DB6C3-7124-4006-8A14-39476A90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7810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C2429"/>
                </a:solidFill>
              </a:defRPr>
            </a:pPr>
            <a:r>
              <a:rPr sz="4050" b="1">
                <a:solidFill>
                  <a:srgbClr val="1C2429"/>
                </a:solidFill>
              </a:rPr>
              <a:t>Stack de IA para Comunicação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27DA46-D1DC-4F56-B938-4AF8F20E7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7239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A6672"/>
                </a:solidFill>
              </a:defRPr>
            </a:pPr>
            <a:r>
              <a:rPr sz="1800" b="0">
                <a:solidFill>
                  <a:srgbClr val="5A6672"/>
                </a:solidFill>
              </a:rPr>
              <a:t>A escolha mais segura combina Microsoft 365 Copilot, Claude, Adobe Firefly e especialistas pontuais. A decisão não é comprar uma IA única, mas montar um sistema de qualidade e produtividade.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1E3C14-9BAF-4225-9BA4-2A48DC0F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2571750" cy="3238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A4E79"/>
          </a:solidFill>
          <a:ln xmlns:a="http://schemas.openxmlformats.org/drawingml/2006/main" w="0">
            <a:solidFill>
              <a:srgbClr val="0A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Microsoft: camada corporativa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678017-F8CF-4CD6-BDA8-CFC58136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400550"/>
            <a:ext cx="2381250" cy="3238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E74BA"/>
          </a:solidFill>
          <a:ln xmlns:a="http://schemas.openxmlformats.org/drawingml/2006/main" w="0">
            <a:solidFill>
              <a:srgbClr val="0E74B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Claude: qualidade editorial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587877-1624-40EA-BE7B-FC29782ED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00550"/>
            <a:ext cx="2000250" cy="3238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F7A1D"/>
          </a:solidFill>
          <a:ln xmlns:a="http://schemas.openxmlformats.org/drawingml/2006/main" w="0">
            <a:solidFill>
              <a:srgbClr val="EF7A1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Adobe: hub criativo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F566E1-BC1C-4035-BD15-B03B42B3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672"/>
                </a:solidFill>
              </a:defRPr>
            </a:pPr>
            <a:r>
              <a:rPr sz="975" b="0">
                <a:solidFill>
                  <a:srgbClr val="5A6672"/>
                </a:solidFill>
              </a:rPr>
              <a:t>VLI | IA para Comunicação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441035-1185-449A-94A8-7445AC9F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672"/>
                </a:solidFill>
              </a:defRPr>
            </a:pPr>
            <a:r>
              <a:rPr sz="975" b="0">
                <a:solidFill>
                  <a:srgbClr val="5A6672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D3DC57-1292-4C98-90BA-FA70968C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CE2"/>
          </a:solidFill>
          <a:ln xmlns:a="http://schemas.openxmlformats.org/drawingml/2006/main" w="0">
            <a:solidFill>
              <a:srgbClr val="D4DCE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280563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1F4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3550E0-5CCD-48D5-ADF9-6D5259CC5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742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C2429"/>
                </a:solidFill>
              </a:defRPr>
            </a:pPr>
            <a:r>
              <a:rPr sz="2850" b="1">
                <a:solidFill>
                  <a:srgbClr val="1C2429"/>
                </a:solidFill>
              </a:rPr>
              <a:t>A decisão recomendada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2DAA3A-57F6-477E-9D80-FAAD0BC0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838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A6672"/>
                </a:solidFill>
              </a:defRPr>
            </a:pPr>
            <a:r>
              <a:rPr sz="1800" b="0">
                <a:solidFill>
                  <a:srgbClr val="5A6672"/>
                </a:solidFill>
              </a:rPr>
              <a:t>Recomendar uma stack em camadas, não uma lista de ferramentas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1E1592-1B89-4B43-B701-578E82D9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4E79"/>
          </a:solidFill>
          <a:ln xmlns:a="http://schemas.openxmlformats.org/drawingml/2006/main" w="0">
            <a:solidFill>
              <a:srgbClr val="0A4E7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DA3384-3E35-496A-ABF9-7BD8E92F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19300"/>
            <a:ext cx="478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2429"/>
                </a:solidFill>
              </a:defRPr>
            </a:pPr>
            <a:r>
              <a:rPr sz="1800" b="1">
                <a:solidFill>
                  <a:srgbClr val="1C2429"/>
                </a:solidFill>
              </a:rPr>
              <a:t>1. Microsoft 365 Copilot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424B18-5A43-4606-802B-788F106E8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38400"/>
            <a:ext cx="47815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A6672"/>
                </a:solidFill>
              </a:defRPr>
            </a:pPr>
            <a:r>
              <a:rPr sz="1350" b="0">
                <a:solidFill>
                  <a:srgbClr val="5A6672"/>
                </a:solidFill>
              </a:rPr>
              <a:t>Camada corporativa para reuniões, e-mails, documentos, apresentações, busca interna, governança e automações.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57BA25-7D60-4EF0-8477-344892DAA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1930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BA"/>
          </a:solidFill>
          <a:ln xmlns:a="http://schemas.openxmlformats.org/drawingml/2006/main" w="0">
            <a:solidFill>
              <a:srgbClr val="0E74B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DA006B-B2FD-4E06-B232-CC1C65D1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19300"/>
            <a:ext cx="478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2429"/>
                </a:solidFill>
              </a:defRPr>
            </a:pPr>
            <a:r>
              <a:rPr sz="1800" b="1">
                <a:solidFill>
                  <a:srgbClr val="1C2429"/>
                </a:solidFill>
              </a:rPr>
              <a:t>2. Claude Team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71F4A5-8FE0-4432-9E85-760F0FB9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38400"/>
            <a:ext cx="47815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A6672"/>
                </a:solidFill>
              </a:defRPr>
            </a:pPr>
            <a:r>
              <a:rPr sz="1350" b="0">
                <a:solidFill>
                  <a:srgbClr val="5A6672"/>
                </a:solidFill>
              </a:rPr>
              <a:t>Bancada editorial para raciocínio, narrativa, revisão crítica, síntese, releases, discursos, roteiros e desdobramentos.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A4E6C9-790F-4CE5-97C1-D44283D21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A1D"/>
          </a:solidFill>
          <a:ln xmlns:a="http://schemas.openxmlformats.org/drawingml/2006/main" w="0">
            <a:solidFill>
              <a:srgbClr val="EF7A1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C62F52-655C-4FAB-BFAE-8868C21E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478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2429"/>
                </a:solidFill>
              </a:defRPr>
            </a:pPr>
            <a:r>
              <a:rPr sz="1800" b="1">
                <a:solidFill>
                  <a:srgbClr val="1C2429"/>
                </a:solidFill>
              </a:rPr>
              <a:t>3. Adobe Firefly + Creative Cloud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04F1AF-4886-4176-BF58-96CE7035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62450"/>
            <a:ext cx="47815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A6672"/>
                </a:solidFill>
              </a:defRPr>
            </a:pPr>
            <a:r>
              <a:rPr sz="1350" b="0">
                <a:solidFill>
                  <a:srgbClr val="5A6672"/>
                </a:solidFill>
              </a:rPr>
              <a:t>Hub criativo para imagem, vídeo, áudio, acabamento e modelos parceiros como Runway, Veo, Kling e Luma.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83D6DF-BF5A-48E8-8936-B0111F11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94335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A54"/>
          </a:solidFill>
          <a:ln xmlns:a="http://schemas.openxmlformats.org/drawingml/2006/main" w="0">
            <a:solidFill>
              <a:srgbClr val="1D7A5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769470-572A-4E9A-85E4-FADE0B45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943350"/>
            <a:ext cx="478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2429"/>
                </a:solidFill>
              </a:defRPr>
            </a:pPr>
            <a:r>
              <a:rPr sz="1800" b="1">
                <a:solidFill>
                  <a:srgbClr val="1C2429"/>
                </a:solidFill>
              </a:rPr>
              <a:t>4. Especialistas sob demanda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8DFF73-0F96-48E0-B226-EFF02307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362450"/>
            <a:ext cx="47815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A6672"/>
                </a:solidFill>
              </a:defRPr>
            </a:pPr>
            <a:r>
              <a:rPr sz="1350" b="0">
                <a:solidFill>
                  <a:srgbClr val="5A6672"/>
                </a:solidFill>
              </a:rPr>
              <a:t>Perplexity, DeepL, Descript, Fireflies, Adobe Podcast e ElevenLabs entram quando superam a suíte principal.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27C35E-91E4-4263-96C5-1E276F9C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672"/>
                </a:solidFill>
              </a:defRPr>
            </a:pPr>
            <a:r>
              <a:rPr sz="975" b="0">
                <a:solidFill>
                  <a:srgbClr val="5A6672"/>
                </a:solidFill>
              </a:rPr>
              <a:t>VLI | IA para Comunicação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070DA6-E468-475F-A245-C464A060F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672"/>
                </a:solidFill>
              </a:defRPr>
            </a:pPr>
            <a:r>
              <a:rPr sz="975" b="0">
                <a:solidFill>
                  <a:srgbClr val="5A6672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C9DFE8-06E3-4EEC-92BD-FEA2F326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CE2"/>
          </a:solidFill>
          <a:ln xmlns:a="http://schemas.openxmlformats.org/drawingml/2006/main" w="0">
            <a:solidFill>
              <a:srgbClr val="D4DCE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3066276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6851FB-C71E-42B0-A38C-B0BD0F5EC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895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C2429"/>
                </a:solidFill>
              </a:defRPr>
            </a:pPr>
            <a:r>
              <a:rPr sz="2850" b="1">
                <a:solidFill>
                  <a:srgbClr val="1C2429"/>
                </a:solidFill>
              </a:rPr>
              <a:t>Microsoft é base corporativa, mas não resolve tudo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E18937-8A62-4885-8D21-0C58D2408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A6672"/>
                </a:solidFill>
              </a:defRPr>
            </a:pPr>
            <a:r>
              <a:rPr sz="1650" b="0">
                <a:solidFill>
                  <a:srgbClr val="5A6672"/>
                </a:solidFill>
              </a:rPr>
              <a:t>A VLI já trabalha com Microsoft 365, então o Copilot deve ser avaliado como camada de escala. O erro seria tratá-lo como substituto de criação editorial e visual premium.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83639B-7A1E-40EE-BEE6-D87DB69F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4E79"/>
          </a:solidFill>
          <a:ln xmlns:a="http://schemas.openxmlformats.org/drawingml/2006/main" w="0">
            <a:solidFill>
              <a:srgbClr val="0A4E7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AAB007-0969-4580-85EF-E867CAE0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2429"/>
                </a:solidFill>
              </a:defRPr>
            </a:pPr>
            <a:r>
              <a:rPr sz="1800" b="1">
                <a:solidFill>
                  <a:srgbClr val="1C2429"/>
                </a:solidFill>
              </a:rPr>
              <a:t>Onde ele é forte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773A28-D176-4BD8-A031-661596B1A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86050"/>
            <a:ext cx="43053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A6672"/>
                </a:solidFill>
              </a:defRPr>
            </a:pPr>
            <a:r>
              <a:rPr sz="1350" b="0">
                <a:solidFill>
                  <a:srgbClr val="5A6672"/>
                </a:solidFill>
              </a:rPr>
              <a:t>Teams, Outlook, Word, PowerPoint, Excel, SharePoint, OneDrive, busca interna, conectores, agentes e automações.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A88F6A-E05D-4BB9-884A-9C26AC1ED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66950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A1D"/>
          </a:solidFill>
          <a:ln xmlns:a="http://schemas.openxmlformats.org/drawingml/2006/main" w="0">
            <a:solidFill>
              <a:srgbClr val="EF7A1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C36638-FE5D-48E1-8A20-EE6C4E84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66950"/>
            <a:ext cx="478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2429"/>
                </a:solidFill>
              </a:defRPr>
            </a:pPr>
            <a:r>
              <a:rPr sz="1800" b="1">
                <a:solidFill>
                  <a:srgbClr val="1C2429"/>
                </a:solidFill>
              </a:rPr>
              <a:t>Onde ele não deve carregar a decisão sozinho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058AD2-F22C-438B-BB71-97D4022C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686050"/>
            <a:ext cx="47815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A6672"/>
                </a:solidFill>
              </a:defRPr>
            </a:pPr>
            <a:r>
              <a:rPr sz="1350" b="0">
                <a:solidFill>
                  <a:srgbClr val="5A6672"/>
                </a:solidFill>
              </a:rPr>
              <a:t>Redação institucional profunda, narrativa executiva, imagem premium, vídeo cinematográfico, tradução com glossário e pesquisa aberta com fontes.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1E75D6-F08F-47EC-884E-E9F076563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47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342B"/>
          </a:solidFill>
          <a:ln xmlns:a="http://schemas.openxmlformats.org/drawingml/2006/main" w="0">
            <a:solidFill>
              <a:srgbClr val="9F342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EC902D-C24E-4A9D-94EB-2CD94205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482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2429"/>
                </a:solidFill>
              </a:defRPr>
            </a:pPr>
            <a:r>
              <a:rPr sz="1800" b="1">
                <a:solidFill>
                  <a:srgbClr val="1C2429"/>
                </a:solidFill>
              </a:rPr>
              <a:t>Copilot Pro não é a opção VLI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EE0C4A-EB0D-4904-A6A6-60AD4D44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7300"/>
            <a:ext cx="971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A6672"/>
                </a:solidFill>
              </a:defRPr>
            </a:pPr>
            <a:r>
              <a:rPr sz="1350" b="0">
                <a:solidFill>
                  <a:srgbClr val="5A6672"/>
                </a:solidFill>
              </a:rPr>
              <a:t>É um plano individual. Para conta corporativa Microsoft 365 Business ou Enterprise, a recomendação correta passa por Microsoft 365 Copilot.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FF3B67-1354-4318-BEEB-00858382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672"/>
                </a:solidFill>
              </a:defRPr>
            </a:pPr>
            <a:r>
              <a:rPr sz="975" b="0">
                <a:solidFill>
                  <a:srgbClr val="5A6672"/>
                </a:solidFill>
              </a:rPr>
              <a:t>VLI | IA para Comunicação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D25DE4-4671-4E5F-81EE-AF75F6AE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672"/>
                </a:solidFill>
              </a:defRPr>
            </a:pPr>
            <a:r>
              <a:rPr sz="975" b="0">
                <a:solidFill>
                  <a:srgbClr val="5A6672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899B25-99F2-416F-B164-796DBDD5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CE2"/>
          </a:solidFill>
          <a:ln xmlns:a="http://schemas.openxmlformats.org/drawingml/2006/main" w="0">
            <a:solidFill>
              <a:srgbClr val="D4DCE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328984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D07584-5861-4019-BC2E-2C15CDAA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800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C2429"/>
                </a:solidFill>
              </a:defRPr>
            </a:pPr>
            <a:r>
              <a:rPr sz="2850" b="1">
                <a:solidFill>
                  <a:srgbClr val="1C2429"/>
                </a:solidFill>
              </a:rPr>
              <a:t>Claude é a escolha para qualidade editorial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6E9747-DB27-427E-9E6C-93B366FF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A6672"/>
                </a:solidFill>
              </a:defRPr>
            </a:pPr>
            <a:r>
              <a:rPr sz="1650" b="0">
                <a:solidFill>
                  <a:srgbClr val="5A6672"/>
                </a:solidFill>
              </a:rPr>
              <a:t>Para Comunicação, produtividade só importa se o texto final melhora. Claude entra como bancada de pensamento, escrita e revisão, não como mais um chatbot genérico.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FF92C1-0238-49C4-BC27-B8212CEF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76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BA"/>
          </a:solidFill>
          <a:ln xmlns:a="http://schemas.openxmlformats.org/drawingml/2006/main" w="0">
            <a:solidFill>
              <a:srgbClr val="0E74B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F381DD-D82C-432D-A52D-51B36E9C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478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2429"/>
                </a:solidFill>
              </a:defRPr>
            </a:pPr>
            <a:r>
              <a:rPr sz="1800" b="1">
                <a:solidFill>
                  <a:srgbClr val="1C2429"/>
                </a:solidFill>
              </a:rPr>
              <a:t>Casos centrais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B9577C-89D8-486C-98C5-C56870632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09850"/>
            <a:ext cx="4781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A6672"/>
                </a:solidFill>
              </a:defRPr>
            </a:pPr>
            <a:r>
              <a:rPr sz="1350" b="0">
                <a:solidFill>
                  <a:srgbClr val="5A6672"/>
                </a:solidFill>
              </a:rPr>
              <a:t>Releases, comunicados, discursos, Q&amp;A, roteiros, newsletters, síntese de documentos, briefing e adaptação por público.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783A1A-D341-4C02-AC64-794363B9E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90750"/>
            <a:ext cx="476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A54"/>
          </a:solidFill>
          <a:ln xmlns:a="http://schemas.openxmlformats.org/drawingml/2006/main" w="0">
            <a:solidFill>
              <a:srgbClr val="1D7A5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349ABE-4780-4398-BF70-ADEBB9B55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190750"/>
            <a:ext cx="478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2429"/>
                </a:solidFill>
              </a:defRPr>
            </a:pPr>
            <a:r>
              <a:rPr sz="1800" b="1">
                <a:solidFill>
                  <a:srgbClr val="1C2429"/>
                </a:solidFill>
              </a:rPr>
              <a:t>Ganho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885685-8AD3-49D4-B2C6-4A52B346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609850"/>
            <a:ext cx="4781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A6672"/>
                </a:solidFill>
              </a:defRPr>
            </a:pPr>
            <a:r>
              <a:rPr sz="1350" b="0">
                <a:solidFill>
                  <a:srgbClr val="5A6672"/>
                </a:solidFill>
              </a:rPr>
              <a:t>Reduz tempo de primeira versão, melhora clareza, estrutura argumentos, encontra inconsistências e acelera desdobramentos multicanal.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E496A5-E078-4FA0-AC7A-E183E74B9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A1D"/>
          </a:solidFill>
          <a:ln xmlns:a="http://schemas.openxmlformats.org/drawingml/2006/main" w="0">
            <a:solidFill>
              <a:srgbClr val="EF7A1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18ADEF-0D7E-4F6B-B758-9A3E9DBC0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815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2429"/>
                </a:solidFill>
              </a:defRPr>
            </a:pPr>
            <a:r>
              <a:rPr sz="1800" b="1">
                <a:solidFill>
                  <a:srgbClr val="1C2429"/>
                </a:solidFill>
              </a:rPr>
              <a:t>Limite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8AED90-BAF6-4E2E-A5FD-E4CC7CDF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971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A6672"/>
                </a:solidFill>
              </a:defRPr>
            </a:pPr>
            <a:r>
              <a:rPr sz="1350" b="0">
                <a:solidFill>
                  <a:srgbClr val="5A6672"/>
                </a:solidFill>
              </a:rPr>
              <a:t>Não substitui revisão humana, validação factual, aprovação de marca, Jurídico ou decisões reputacionais.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34F46B-1CB0-4C0A-BB0B-A01B8F44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672"/>
                </a:solidFill>
              </a:defRPr>
            </a:pPr>
            <a:r>
              <a:rPr sz="975" b="0">
                <a:solidFill>
                  <a:srgbClr val="5A6672"/>
                </a:solidFill>
              </a:rPr>
              <a:t>VLI | IA para Comunicação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1D1DEE-692F-4EF6-A1D5-870979378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672"/>
                </a:solidFill>
              </a:defRPr>
            </a:pPr>
            <a:r>
              <a:rPr sz="975" b="0">
                <a:solidFill>
                  <a:srgbClr val="5A6672"/>
                </a:solidFill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10F91C-4639-45FC-81B2-0162DA46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CE2"/>
          </a:solidFill>
          <a:ln xmlns:a="http://schemas.openxmlformats.org/drawingml/2006/main" w="0">
            <a:solidFill>
              <a:srgbClr val="D4DCE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139423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1F4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D474BD-EC91-40E1-9D36-3F50326D1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C2429"/>
                </a:solidFill>
              </a:defRPr>
            </a:pPr>
            <a:r>
              <a:rPr sz="2850" b="1">
                <a:solidFill>
                  <a:srgbClr val="1C2429"/>
                </a:solidFill>
              </a:rPr>
              <a:t>Adobe Firefly deve ser o hub criativo premium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6DB02D-67B8-492C-9989-2846F7F39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8953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A6672"/>
                </a:solidFill>
              </a:defRPr>
            </a:pPr>
            <a:r>
              <a:rPr sz="1650" b="0">
                <a:solidFill>
                  <a:srgbClr val="5A6672"/>
                </a:solidFill>
              </a:rPr>
              <a:t>A recomendação ficou mais forte: Firefly não é só um modelo Adobe. Ele pode reunir modelos próprios e parceiros dentro do fluxo Creative Cloud.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9C4288-180E-4CB0-937D-FAA9EC296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76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A1D"/>
          </a:solidFill>
          <a:ln xmlns:a="http://schemas.openxmlformats.org/drawingml/2006/main" w="0">
            <a:solidFill>
              <a:srgbClr val="EF7A1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CCFAAE-A61E-4839-BAFB-FD839899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71700"/>
            <a:ext cx="478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2429"/>
                </a:solidFill>
              </a:defRPr>
            </a:pPr>
            <a:r>
              <a:rPr sz="1800" b="1">
                <a:solidFill>
                  <a:srgbClr val="1C2429"/>
                </a:solidFill>
              </a:rPr>
              <a:t>Modelo Firefly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34345C-AC18-4D0F-8231-6043504D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4781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A6672"/>
                </a:solidFill>
              </a:defRPr>
            </a:pPr>
            <a:r>
              <a:rPr sz="1350" b="0">
                <a:solidFill>
                  <a:srgbClr val="5A6672"/>
                </a:solidFill>
              </a:rPr>
              <a:t>Melhor quando a prioridade é marca, uso comercial defensável, acabamento e integração com Photoshop, Premiere, Express e Creative Cloud.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71113A-05A6-421D-95D8-F6F9587FE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71700"/>
            <a:ext cx="476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4E79"/>
          </a:solidFill>
          <a:ln xmlns:a="http://schemas.openxmlformats.org/drawingml/2006/main" w="0">
            <a:solidFill>
              <a:srgbClr val="0A4E7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DC307B-C12E-4AA1-9C39-F4EB8D4D7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171700"/>
            <a:ext cx="478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2429"/>
                </a:solidFill>
              </a:defRPr>
            </a:pPr>
            <a:r>
              <a:rPr sz="1800" b="1">
                <a:solidFill>
                  <a:srgbClr val="1C2429"/>
                </a:solidFill>
              </a:rPr>
              <a:t>Modelos parceiros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99512A-1D2F-437E-8A78-A392305B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590800"/>
            <a:ext cx="4781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A6672"/>
                </a:solidFill>
              </a:defRPr>
            </a:pPr>
            <a:r>
              <a:rPr sz="1350" b="0">
                <a:solidFill>
                  <a:srgbClr val="5A6672"/>
                </a:solidFill>
              </a:rPr>
              <a:t>Runway, Veo, Kling, Luma e outros podem ser usados para exploração visual, cenas curtas e vídeo com estética mais cinematográfica.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E7E562-568A-4025-A657-5A0B5962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342B"/>
          </a:solidFill>
          <a:ln xmlns:a="http://schemas.openxmlformats.org/drawingml/2006/main" w="0">
            <a:solidFill>
              <a:srgbClr val="9F342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600108-C1E2-4F91-87E2-74CC3FC64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0055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2429"/>
                </a:solidFill>
              </a:defRPr>
            </a:pPr>
            <a:r>
              <a:rPr sz="1800" b="1">
                <a:solidFill>
                  <a:srgbClr val="1C2429"/>
                </a:solidFill>
              </a:rPr>
              <a:t>Cuidado decisivo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4025C6-9C93-4830-813F-97B1C3B2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9650"/>
            <a:ext cx="971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A6672"/>
                </a:solidFill>
              </a:defRPr>
            </a:pPr>
            <a:r>
              <a:rPr sz="1350" b="0">
                <a:solidFill>
                  <a:srgbClr val="5A6672"/>
                </a:solidFill>
              </a:rPr>
              <a:t>A proteção jurídica não deve ser assumida igual para todos os modelos. Compras, TI e Jurídico precisam validar plano, região, créditos e termos.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8FEABD-9589-4C16-B0FA-FDAC82A5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672"/>
                </a:solidFill>
              </a:defRPr>
            </a:pPr>
            <a:r>
              <a:rPr sz="975" b="0">
                <a:solidFill>
                  <a:srgbClr val="5A6672"/>
                </a:solidFill>
              </a:rPr>
              <a:t>VLI | IA para Comunicação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CAEE4D-C083-4600-899B-DF8C1D2B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672"/>
                </a:solidFill>
              </a:defRPr>
            </a:pPr>
            <a:r>
              <a:rPr sz="975" b="0">
                <a:solidFill>
                  <a:srgbClr val="5A6672"/>
                </a:solidFill>
              </a:rPr>
              <a:t>05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66109F-219E-499A-B406-92539C644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CE2"/>
          </a:solidFill>
          <a:ln xmlns:a="http://schemas.openxmlformats.org/drawingml/2006/main" w="0">
            <a:solidFill>
              <a:srgbClr val="D4DCE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78008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20CE3F-070D-489C-A7D6-7DC25088C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914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C2429"/>
                </a:solidFill>
              </a:defRPr>
            </a:pPr>
            <a:r>
              <a:rPr sz="2850" b="1">
                <a:solidFill>
                  <a:srgbClr val="1C2429"/>
                </a:solidFill>
              </a:rPr>
              <a:t>Especialistas entram quando vencem a suíte principal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F200DD-B246-4A5D-9BB4-28AE39B8F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A6672"/>
                </a:solidFill>
              </a:defRPr>
            </a:pPr>
            <a:r>
              <a:rPr sz="1650" b="0">
                <a:solidFill>
                  <a:srgbClr val="5A6672"/>
                </a:solidFill>
              </a:rPr>
              <a:t>A stack fica mais barata e governável quando cada especialista precisa justificar uma lacuna real.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3D363B-1FB7-4281-BC36-A61DDDDB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C2429"/>
                </a:solidFill>
              </a:defRPr>
            </a:pPr>
            <a:r>
              <a:rPr sz="1425" b="1">
                <a:solidFill>
                  <a:srgbClr val="1C2429"/>
                </a:solidFill>
              </a:rPr>
              <a:t>Pesquisa com fontes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50F5B5-0D09-494C-8594-9956166F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002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A4E79"/>
                </a:solidFill>
              </a:defRPr>
            </a:pPr>
            <a:r>
              <a:rPr sz="1425" b="1">
                <a:solidFill>
                  <a:srgbClr val="0A4E79"/>
                </a:solidFill>
              </a:rPr>
              <a:t>Perplexity Enterprise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FE73EB-FB79-4070-A1DA-76B993A3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672"/>
                </a:solidFill>
              </a:defRPr>
            </a:pPr>
            <a:r>
              <a:rPr sz="1275" b="0">
                <a:solidFill>
                  <a:srgbClr val="5A6672"/>
                </a:solidFill>
              </a:rPr>
              <a:t>Quando releases e análises precisam de fontes externas rastreáveis.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E28A36-4904-46AD-BFD6-601059CB6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CE2"/>
          </a:solidFill>
          <a:ln xmlns:a="http://schemas.openxmlformats.org/drawingml/2006/main" w="0">
            <a:solidFill>
              <a:srgbClr val="D4DC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39AD8D-7786-4E37-A8E6-1B7D265A9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C2429"/>
                </a:solidFill>
              </a:defRPr>
            </a:pPr>
            <a:r>
              <a:rPr sz="1425" b="1">
                <a:solidFill>
                  <a:srgbClr val="1C2429"/>
                </a:solidFill>
              </a:rPr>
              <a:t>Tradução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87CEBB-193F-4283-A2A2-E3937ED10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051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A4E79"/>
                </a:solidFill>
              </a:defRPr>
            </a:pPr>
            <a:r>
              <a:rPr sz="1425" b="1">
                <a:solidFill>
                  <a:srgbClr val="0A4E79"/>
                </a:solidFill>
              </a:rPr>
              <a:t>DeepL Pro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154AAD-6C3C-4911-AA60-6B417444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051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672"/>
                </a:solidFill>
              </a:defRPr>
            </a:pPr>
            <a:r>
              <a:rPr sz="1275" b="0">
                <a:solidFill>
                  <a:srgbClr val="5A6672"/>
                </a:solidFill>
              </a:rPr>
              <a:t>Quando glossário, consistência terminológica e segurança importam.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32E144-D135-4FE9-A21F-351F784D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CE2"/>
          </a:solidFill>
          <a:ln xmlns:a="http://schemas.openxmlformats.org/drawingml/2006/main" w="0">
            <a:solidFill>
              <a:srgbClr val="D4DC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2D3F92-BA84-4A2B-B638-1B6191CB0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C2429"/>
                </a:solidFill>
              </a:defRPr>
            </a:pPr>
            <a:r>
              <a:rPr sz="1425" b="1">
                <a:solidFill>
                  <a:srgbClr val="1C2429"/>
                </a:solidFill>
              </a:rPr>
              <a:t>Reuniões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7663B2-3068-4C22-83CE-8956D1EE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099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A4E79"/>
                </a:solidFill>
              </a:defRPr>
            </a:pPr>
            <a:r>
              <a:rPr sz="1425" b="1">
                <a:solidFill>
                  <a:srgbClr val="0A4E79"/>
                </a:solidFill>
              </a:rPr>
              <a:t>Copilot ou Fireflies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FA0A13-BA68-446D-8F13-6C72C4B9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099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672"/>
                </a:solidFill>
              </a:defRPr>
            </a:pPr>
            <a:r>
              <a:rPr sz="1275" b="0">
                <a:solidFill>
                  <a:srgbClr val="5A6672"/>
                </a:solidFill>
              </a:rPr>
              <a:t>Fireflies só entra se o Copilot não cobrir bem atas e ações.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21030B-E18D-4792-A8E5-5571EC3B4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CE2"/>
          </a:solidFill>
          <a:ln xmlns:a="http://schemas.openxmlformats.org/drawingml/2006/main" w="0">
            <a:solidFill>
              <a:srgbClr val="D4DC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07E05B-6232-4754-88F4-4D0A88A51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C2429"/>
                </a:solidFill>
              </a:defRPr>
            </a:pPr>
            <a:r>
              <a:rPr sz="1425" b="1">
                <a:solidFill>
                  <a:srgbClr val="1C2429"/>
                </a:solidFill>
              </a:rPr>
              <a:t>Edição por texto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9BA669-339B-4D55-A75C-8F1A8487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148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A4E79"/>
                </a:solidFill>
              </a:defRPr>
            </a:pPr>
            <a:r>
              <a:rPr sz="1425" b="1">
                <a:solidFill>
                  <a:srgbClr val="0A4E79"/>
                </a:solidFill>
              </a:rPr>
              <a:t>Descript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5A5486-38A4-4608-B675-0087CB5D5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148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672"/>
                </a:solidFill>
              </a:defRPr>
            </a:pPr>
            <a:r>
              <a:rPr sz="1275" b="0">
                <a:solidFill>
                  <a:srgbClr val="5A6672"/>
                </a:solidFill>
              </a:rPr>
              <a:t>Para cortes rápidos de entrevistas, vídeos sociais e ajustes de fala.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EBE8B0-6166-401F-A244-9A2527DD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CE2"/>
          </a:solidFill>
          <a:ln xmlns:a="http://schemas.openxmlformats.org/drawingml/2006/main" w="0">
            <a:solidFill>
              <a:srgbClr val="D4DC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695124-D894-446D-8797-FC79FA714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96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C2429"/>
                </a:solidFill>
              </a:defRPr>
            </a:pPr>
            <a:r>
              <a:rPr sz="1425" b="1">
                <a:solidFill>
                  <a:srgbClr val="1C2429"/>
                </a:solidFill>
              </a:rPr>
              <a:t>Voz sintética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63E418-42B1-49C6-BD2D-5EE032412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196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A4E79"/>
                </a:solidFill>
              </a:defRPr>
            </a:pPr>
            <a:r>
              <a:rPr sz="1425" b="1">
                <a:solidFill>
                  <a:srgbClr val="0A4E79"/>
                </a:solidFill>
              </a:rPr>
              <a:t>ElevenLabs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0551CB-FCC3-47E6-9D4D-700DD19EC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819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672"/>
                </a:solidFill>
              </a:defRPr>
            </a:pPr>
            <a:r>
              <a:rPr sz="1275" b="0">
                <a:solidFill>
                  <a:srgbClr val="5A6672"/>
                </a:solidFill>
              </a:rPr>
              <a:t>Somente com regra clara de consentimento, uso e identificação.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65E198-F2C3-4FB0-8209-CF12F141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CE2"/>
          </a:solidFill>
          <a:ln xmlns:a="http://schemas.openxmlformats.org/drawingml/2006/main" w="0">
            <a:solidFill>
              <a:srgbClr val="D4DC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0B68A7-D6BD-4F50-A853-48E6C493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672"/>
                </a:solidFill>
              </a:defRPr>
            </a:pPr>
            <a:r>
              <a:rPr sz="975" b="0">
                <a:solidFill>
                  <a:srgbClr val="5A6672"/>
                </a:solidFill>
              </a:rPr>
              <a:t>VLI | IA para Comunicação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72BA5E-F8CD-4B3D-A890-21CCDBE2A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672"/>
                </a:solidFill>
              </a:defRPr>
            </a:pPr>
            <a:r>
              <a:rPr sz="975" b="0">
                <a:solidFill>
                  <a:srgbClr val="5A6672"/>
                </a:solidFill>
              </a:rPr>
              <a:t>06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E3F23B-7A4D-4C1B-8C3E-8E12CF74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CE2"/>
          </a:solidFill>
          <a:ln xmlns:a="http://schemas.openxmlformats.org/drawingml/2006/main" w="0">
            <a:solidFill>
              <a:srgbClr val="D4DCE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5294064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1F4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8ACB43-8D9B-4F92-A72A-26818896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C2429"/>
                </a:solidFill>
              </a:defRPr>
            </a:pPr>
            <a:r>
              <a:rPr sz="2850" b="1">
                <a:solidFill>
                  <a:srgbClr val="1C2429"/>
                </a:solidFill>
              </a:rPr>
              <a:t>O impacto está em qualidade e velocidade de publicação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CBE492-24DF-4732-A125-55E14C4F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857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A6672"/>
                </a:solidFill>
              </a:defRPr>
            </a:pPr>
            <a:r>
              <a:rPr sz="1650" b="0">
                <a:solidFill>
                  <a:srgbClr val="5A6672"/>
                </a:solidFill>
              </a:rPr>
              <a:t>A stack muda o jogo quando transforma um material-fonte em pacote aprovado para múltiplos canais.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E30568-2588-4DCF-B80B-585E0FC10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828800" cy="1962150"/>
          </a:xfrm>
          <a:prstGeom xmlns:a="http://schemas.openxmlformats.org/drawingml/2006/main" prst="roundRect">
            <a:avLst>
              <a:gd name="adj" fmla="val 1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CE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10665A-122B-407D-9611-86BFFA60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574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EF7A1D"/>
                </a:solidFill>
              </a:defRPr>
            </a:pPr>
            <a:r>
              <a:rPr sz="2250" b="1">
                <a:solidFill>
                  <a:srgbClr val="EF7A1D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EAE61B-1091-42F3-B908-62F1602FE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908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C2429"/>
                </a:solidFill>
              </a:defRPr>
            </a:pPr>
            <a:r>
              <a:rPr sz="1650" b="1">
                <a:solidFill>
                  <a:srgbClr val="1C2429"/>
                </a:solidFill>
              </a:rPr>
              <a:t>Briefing e pesquisa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E3F45B-A075-4860-B070-AEE67BCD4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719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A6672"/>
                </a:solidFill>
              </a:defRPr>
            </a:pPr>
            <a:r>
              <a:rPr sz="1200" b="0">
                <a:solidFill>
                  <a:srgbClr val="5A6672"/>
                </a:solidFill>
              </a:rPr>
              <a:t>Perplexity + Claude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C91B16-6C24-4816-B134-22E273AF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48000"/>
            <a:ext cx="247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4DCE2"/>
                </a:solidFill>
              </a:defRPr>
            </a:pPr>
            <a:r>
              <a:rPr sz="2250" b="1">
                <a:solidFill>
                  <a:srgbClr val="D4DCE2"/>
                </a:solidFill>
              </a:rPr>
              <a:t>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96221C-C385-491C-B6A0-51392BE6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828800" cy="1962150"/>
          </a:xfrm>
          <a:prstGeom xmlns:a="http://schemas.openxmlformats.org/drawingml/2006/main" prst="roundRect">
            <a:avLst>
              <a:gd name="adj" fmla="val 1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C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548989-F352-458D-89EF-979B770A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574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EF7A1D"/>
                </a:solidFill>
              </a:defRPr>
            </a:pPr>
            <a:r>
              <a:rPr sz="2250" b="1">
                <a:solidFill>
                  <a:srgbClr val="EF7A1D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2E58E3-DEB9-4465-B790-09262764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9908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C2429"/>
                </a:solidFill>
              </a:defRPr>
            </a:pPr>
            <a:r>
              <a:rPr sz="1650" b="1">
                <a:solidFill>
                  <a:srgbClr val="1C2429"/>
                </a:solidFill>
              </a:rPr>
              <a:t>Texto e narrativa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AD6226-CEF7-4BBB-B9FC-9B13E812B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7719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A6672"/>
                </a:solidFill>
              </a:defRPr>
            </a:pPr>
            <a:r>
              <a:rPr sz="1200" b="0">
                <a:solidFill>
                  <a:srgbClr val="5A6672"/>
                </a:solidFill>
              </a:rPr>
              <a:t>Claude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1F9B98-6DC4-4905-AB43-2C75C9DC5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48000"/>
            <a:ext cx="247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4DCE2"/>
                </a:solidFill>
              </a:defRPr>
            </a:pPr>
            <a:r>
              <a:rPr sz="2250" b="1">
                <a:solidFill>
                  <a:srgbClr val="D4DCE2"/>
                </a:solidFill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DB1DC6-D7C3-40DA-8094-78A01920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828800" cy="1962150"/>
          </a:xfrm>
          <a:prstGeom xmlns:a="http://schemas.openxmlformats.org/drawingml/2006/main" prst="roundRect">
            <a:avLst>
              <a:gd name="adj" fmla="val 1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C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0291AA-BA66-4000-A3C2-EC58AF75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4574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EF7A1D"/>
                </a:solidFill>
              </a:defRPr>
            </a:pPr>
            <a:r>
              <a:rPr sz="2250" b="1">
                <a:solidFill>
                  <a:srgbClr val="EF7A1D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B11AA6-229F-453F-B41C-E15EA577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9908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C2429"/>
                </a:solidFill>
              </a:defRPr>
            </a:pPr>
            <a:r>
              <a:rPr sz="1650" b="1">
                <a:solidFill>
                  <a:srgbClr val="1C2429"/>
                </a:solidFill>
              </a:rPr>
              <a:t>Imagem e vídeo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C9378A-1B1F-4DA1-8F70-573508C21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7719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A6672"/>
                </a:solidFill>
              </a:defRPr>
            </a:pPr>
            <a:r>
              <a:rPr sz="1200" b="0">
                <a:solidFill>
                  <a:srgbClr val="5A6672"/>
                </a:solidFill>
              </a:rPr>
              <a:t>Adobe Firefly + modelos parceiros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DA818A-3841-4054-88DB-1EA28DDFD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48000"/>
            <a:ext cx="247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4DCE2"/>
                </a:solidFill>
              </a:defRPr>
            </a:pPr>
            <a:r>
              <a:rPr sz="2250" b="1">
                <a:solidFill>
                  <a:srgbClr val="D4DCE2"/>
                </a:solidFill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BF2743-551F-4288-A1CD-BD4A4EA4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828800" cy="1962150"/>
          </a:xfrm>
          <a:prstGeom xmlns:a="http://schemas.openxmlformats.org/drawingml/2006/main" prst="roundRect">
            <a:avLst>
              <a:gd name="adj" fmla="val 1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C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009A71-C12A-4814-88D6-348E81EA2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4574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EF7A1D"/>
                </a:solidFill>
              </a:defRPr>
            </a:pPr>
            <a:r>
              <a:rPr sz="2250" b="1">
                <a:solidFill>
                  <a:srgbClr val="EF7A1D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65F689-A76C-4773-95AD-C2FF7A15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9908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C2429"/>
                </a:solidFill>
              </a:defRPr>
            </a:pPr>
            <a:r>
              <a:rPr sz="1650" b="1">
                <a:solidFill>
                  <a:srgbClr val="1C2429"/>
                </a:solidFill>
              </a:rPr>
              <a:t>Peças e página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5F76B9-27FB-4F2B-85BC-DF2875867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7719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A6672"/>
                </a:solidFill>
              </a:defRPr>
            </a:pPr>
            <a:r>
              <a:rPr sz="1200" b="0">
                <a:solidFill>
                  <a:srgbClr val="5A6672"/>
                </a:solidFill>
              </a:rPr>
              <a:t>Adobe + Claude 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DBD7AA-120C-4122-8705-E3B7F450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048000"/>
            <a:ext cx="247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4DCE2"/>
                </a:solidFill>
              </a:defRPr>
            </a:pPr>
            <a:r>
              <a:rPr sz="2250" b="1">
                <a:solidFill>
                  <a:srgbClr val="D4DCE2"/>
                </a:solidFill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354EEF-24EF-41F3-AA8B-EB6473756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828800" cy="1962150"/>
          </a:xfrm>
          <a:prstGeom xmlns:a="http://schemas.openxmlformats.org/drawingml/2006/main" prst="roundRect">
            <a:avLst>
              <a:gd name="adj" fmla="val 1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CE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A418B8-DB1F-4636-91FD-9EB187A8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4574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EF7A1D"/>
                </a:solidFill>
              </a:defRPr>
            </a:pPr>
            <a:r>
              <a:rPr sz="2250" b="1">
                <a:solidFill>
                  <a:srgbClr val="EF7A1D"/>
                </a:solidFill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094C19-ADA1-4869-8942-1468B33CC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9908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C2429"/>
                </a:solidFill>
              </a:defRPr>
            </a:pPr>
            <a:r>
              <a:rPr sz="1650" b="1">
                <a:solidFill>
                  <a:srgbClr val="1C2429"/>
                </a:solidFill>
              </a:rPr>
              <a:t>Aprovação e distribuição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8F17AA-7D7F-4F71-B51D-439491DA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7719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A6672"/>
                </a:solidFill>
              </a:defRPr>
            </a:pPr>
            <a:r>
              <a:rPr sz="1200" b="0">
                <a:solidFill>
                  <a:srgbClr val="5A6672"/>
                </a:solidFill>
              </a:rPr>
              <a:t>Microsoft + Power Automate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BB8603-DC42-40E7-BFB8-7273B1238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342B"/>
          </a:solidFill>
          <a:ln xmlns:a="http://schemas.openxmlformats.org/drawingml/2006/main" w="0">
            <a:solidFill>
              <a:srgbClr val="9F342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1448FE-6B0C-4B67-B770-DB80B9FC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530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2429"/>
                </a:solidFill>
              </a:defRPr>
            </a:pPr>
            <a:r>
              <a:rPr sz="1800" b="1">
                <a:solidFill>
                  <a:srgbClr val="1C2429"/>
                </a:solidFill>
              </a:rPr>
              <a:t>Regra de governança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40522DF-2345-41FE-9E12-11D92CE7D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72100"/>
            <a:ext cx="971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A6672"/>
                </a:solidFill>
              </a:defRPr>
            </a:pPr>
            <a:r>
              <a:rPr sz="1350" b="0">
                <a:solidFill>
                  <a:srgbClr val="5A6672"/>
                </a:solidFill>
              </a:rPr>
              <a:t>Nenhum fluxo publica sozinho. IA prepara, revisa, adapta e distribui para aprovação humana.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2C1959-1BA6-4D94-85F2-FF89740D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672"/>
                </a:solidFill>
              </a:defRPr>
            </a:pPr>
            <a:r>
              <a:rPr sz="975" b="0">
                <a:solidFill>
                  <a:srgbClr val="5A6672"/>
                </a:solidFill>
              </a:rPr>
              <a:t>VLI | IA para Comunicação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CD19AA-95AA-4D30-BB27-D6A8A640E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672"/>
                </a:solidFill>
              </a:defRPr>
            </a:pPr>
            <a:r>
              <a:rPr sz="975" b="0">
                <a:solidFill>
                  <a:srgbClr val="5A6672"/>
                </a:solidFill>
              </a:rPr>
              <a:t>07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47E3251-7294-407D-AF81-4292FCB6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CE2"/>
          </a:solidFill>
          <a:ln xmlns:a="http://schemas.openxmlformats.org/drawingml/2006/main" w="0">
            <a:solidFill>
              <a:srgbClr val="D4DCE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877581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4E6E3E-ED41-4407-B0D1-79F4F956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895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C2429"/>
                </a:solidFill>
              </a:defRPr>
            </a:pPr>
            <a:r>
              <a:rPr sz="2850" b="1">
                <a:solidFill>
                  <a:srgbClr val="1C2429"/>
                </a:solidFill>
              </a:rPr>
              <a:t>A recomendação é segura, mas não é compra cega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8018DC-DD36-46D0-BA45-31116C1FE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A6672"/>
                </a:solidFill>
              </a:defRPr>
            </a:pPr>
            <a:r>
              <a:rPr sz="1650" b="0">
                <a:solidFill>
                  <a:srgbClr val="5A6672"/>
                </a:solidFill>
              </a:rPr>
              <a:t>O nível de confiança sobe quando a VLI valida contratos existentes, licenças Microsoft/Adobe, requisitos de segurança e qualidade dos entregáveis reais.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E4C9B3-424B-4A4A-B005-27285131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762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A54"/>
          </a:solidFill>
          <a:ln xmlns:a="http://schemas.openxmlformats.org/drawingml/2006/main" w="0">
            <a:solidFill>
              <a:srgbClr val="1D7A5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3DB980-F569-4293-8AEA-EB0686BC7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2429"/>
                </a:solidFill>
              </a:defRPr>
            </a:pPr>
            <a:r>
              <a:rPr sz="1800" b="1">
                <a:solidFill>
                  <a:srgbClr val="1C2429"/>
                </a:solidFill>
              </a:rPr>
              <a:t>Segurança da arquitetura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070E0C-B2AD-41AD-B4A1-EC5259431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09850"/>
            <a:ext cx="2971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A6672"/>
                </a:solidFill>
              </a:defRPr>
            </a:pPr>
            <a:r>
              <a:rPr sz="1350" b="0">
                <a:solidFill>
                  <a:srgbClr val="5A6672"/>
                </a:solidFill>
              </a:rPr>
              <a:t>Alta. As camadas têm papéis claros e reduzem sobreposição de licenças.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A6FC81-728E-4EA0-9A5A-17C9FD0AE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90750"/>
            <a:ext cx="4762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BA"/>
          </a:solidFill>
          <a:ln xmlns:a="http://schemas.openxmlformats.org/drawingml/2006/main" w="0">
            <a:solidFill>
              <a:srgbClr val="0E74B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6D4034-571E-4DE1-B370-B7EF2B8D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907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2429"/>
                </a:solidFill>
              </a:defRPr>
            </a:pPr>
            <a:r>
              <a:rPr sz="1800" b="1">
                <a:solidFill>
                  <a:srgbClr val="1C2429"/>
                </a:solidFill>
              </a:rPr>
              <a:t>Escolha das ferramentas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760963-95E4-44DB-841B-31D23F457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09850"/>
            <a:ext cx="2971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A6672"/>
                </a:solidFill>
              </a:defRPr>
            </a:pPr>
            <a:r>
              <a:rPr sz="1350" b="0">
                <a:solidFill>
                  <a:srgbClr val="5A6672"/>
                </a:solidFill>
              </a:rPr>
              <a:t>Boa. Precisa confirmar disponibilidade enterprise, créditos e aderência aos fluxos reais.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A2F73-F64F-4414-93F2-1268CDB23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90750"/>
            <a:ext cx="4762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A1D"/>
          </a:solidFill>
          <a:ln xmlns:a="http://schemas.openxmlformats.org/drawingml/2006/main" w="0">
            <a:solidFill>
              <a:srgbClr val="EF7A1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F9759D-C473-419F-9A9C-79D7A723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1907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2429"/>
                </a:solidFill>
              </a:defRPr>
            </a:pPr>
            <a:r>
              <a:rPr sz="1800" b="1">
                <a:solidFill>
                  <a:srgbClr val="1C2429"/>
                </a:solidFill>
              </a:rPr>
              <a:t>Business case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A4FA46-4A8F-4E81-B991-A12A32694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609850"/>
            <a:ext cx="2971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A6672"/>
                </a:solidFill>
              </a:defRPr>
            </a:pPr>
            <a:r>
              <a:rPr sz="1350" b="0">
                <a:solidFill>
                  <a:srgbClr val="5A6672"/>
                </a:solidFill>
              </a:rPr>
              <a:t>Médio. Falta dado interno de volume, horas, agência, tradução, vídeo e retrabalho.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71B58C-2CE5-441F-9239-0DB4ECC0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342B"/>
          </a:solidFill>
          <a:ln xmlns:a="http://schemas.openxmlformats.org/drawingml/2006/main" w="0">
            <a:solidFill>
              <a:srgbClr val="9F342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0B30AA-1D4E-4C81-B0D8-32D8B2333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0055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2429"/>
                </a:solidFill>
              </a:defRPr>
            </a:pPr>
            <a:r>
              <a:rPr sz="1800" b="1">
                <a:solidFill>
                  <a:srgbClr val="1C2429"/>
                </a:solidFill>
              </a:rPr>
              <a:t>O que validar antes de comprar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E49AB3-0F45-4A77-B009-1AA81206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9650"/>
            <a:ext cx="971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A6672"/>
                </a:solidFill>
              </a:defRPr>
            </a:pPr>
            <a:r>
              <a:rPr sz="1350" b="0">
                <a:solidFill>
                  <a:srgbClr val="5A6672"/>
                </a:solidFill>
              </a:rPr>
              <a:t>Licenças já contratadas, plano Microsoft elegível, acesso a modelos parceiros no Firefly, DPA, SSO, retenção, LGPD, créditos e custos no Brasil.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6E188A-07C4-44A7-9999-B087DE99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672"/>
                </a:solidFill>
              </a:defRPr>
            </a:pPr>
            <a:r>
              <a:rPr sz="975" b="0">
                <a:solidFill>
                  <a:srgbClr val="5A6672"/>
                </a:solidFill>
              </a:rPr>
              <a:t>VLI | IA para Comunicação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2479C0-7E4E-423A-AAC0-1B4CAA51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672"/>
                </a:solidFill>
              </a:defRPr>
            </a:pPr>
            <a:r>
              <a:rPr sz="975" b="0">
                <a:solidFill>
                  <a:srgbClr val="5A6672"/>
                </a:solidFill>
              </a:rPr>
              <a:t>08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37E2B5-4EF8-4843-8E8C-FA325032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CE2"/>
          </a:solidFill>
          <a:ln xmlns:a="http://schemas.openxmlformats.org/drawingml/2006/main" w="0">
            <a:solidFill>
              <a:srgbClr val="D4DCE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712530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FED018-B303-4BFC-95FE-27959163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4E79"/>
          </a:solidFill>
          <a:ln xmlns:a="http://schemas.openxmlformats.org/drawingml/2006/main" w="0">
            <a:solidFill>
              <a:srgbClr val="0A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605F03-4E4D-461B-9992-45A7971A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C2429"/>
                </a:solidFill>
              </a:defRPr>
            </a:pPr>
            <a:r>
              <a:rPr sz="2850" b="1">
                <a:solidFill>
                  <a:srgbClr val="1C2429"/>
                </a:solidFill>
              </a:rPr>
              <a:t>Decisão para liderança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5434D4-CDCD-41BE-884C-932400B0E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38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A6672"/>
                </a:solidFill>
              </a:defRPr>
            </a:pPr>
            <a:r>
              <a:rPr sz="1950" b="0">
                <a:solidFill>
                  <a:srgbClr val="5A6672"/>
                </a:solidFill>
              </a:rPr>
              <a:t>Aprovar a arquitetura de adoção e autorizar validação de compras, segurança e contratos para a stack recomendada.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654139-03D9-4499-A5E9-DF18CC1AF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A1D"/>
          </a:solidFill>
          <a:ln xmlns:a="http://schemas.openxmlformats.org/drawingml/2006/main" w="0">
            <a:solidFill>
              <a:srgbClr val="EF7A1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643A80-9661-4C61-BAEF-7DDD4786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432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2429"/>
                </a:solidFill>
              </a:defRPr>
            </a:pPr>
            <a:r>
              <a:rPr sz="1800" b="1">
                <a:solidFill>
                  <a:srgbClr val="1C2429"/>
                </a:solidFill>
              </a:rPr>
              <a:t>Recomendação final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CBB3F2-128C-4868-8DF4-303A865A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62300"/>
            <a:ext cx="971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A6672"/>
                </a:solidFill>
              </a:defRPr>
            </a:pPr>
            <a:r>
              <a:rPr sz="1350" b="0">
                <a:solidFill>
                  <a:srgbClr val="5A6672"/>
                </a:solidFill>
              </a:rPr>
              <a:t>Microsoft 365 Copilot como camada corporativa; Claude como bancada editorial; Adobe Firefly como hub criativo multi-modelo; especialistas apenas por lacuna comprovada.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112420-2670-4702-A6EA-E59E8ED1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A54"/>
          </a:solidFill>
          <a:ln xmlns:a="http://schemas.openxmlformats.org/drawingml/2006/main" w="0">
            <a:solidFill>
              <a:srgbClr val="1D7A5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994A43-52C2-4498-805B-3EF659C5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910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2429"/>
                </a:solidFill>
              </a:defRPr>
            </a:pPr>
            <a:r>
              <a:rPr sz="1800" b="1">
                <a:solidFill>
                  <a:srgbClr val="1C2429"/>
                </a:solidFill>
              </a:rPr>
              <a:t>Próximo passo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DE6A12-557A-437F-BE6E-BB81767DD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10100"/>
            <a:ext cx="971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A6672"/>
                </a:solidFill>
              </a:defRPr>
            </a:pPr>
            <a:r>
              <a:rPr sz="1350" b="0">
                <a:solidFill>
                  <a:srgbClr val="5A6672"/>
                </a:solidFill>
              </a:rPr>
              <a:t>Levantar licenças existentes e testar uma campanha, um comunicado, uma landing page, um vídeo curto e uma tradução antes de fechar contratação ampla.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CC2101-06DB-46EE-9549-A517319C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672"/>
                </a:solidFill>
              </a:defRPr>
            </a:pPr>
            <a:r>
              <a:rPr sz="975" b="0">
                <a:solidFill>
                  <a:srgbClr val="5A6672"/>
                </a:solidFill>
              </a:rPr>
              <a:t>VLI | IA para Comunicação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DA6173-14AD-415A-9A11-121267B6D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672"/>
                </a:solidFill>
              </a:defRPr>
            </a:pPr>
            <a:r>
              <a:rPr sz="975" b="0">
                <a:solidFill>
                  <a:srgbClr val="5A6672"/>
                </a:solidFill>
              </a:rPr>
              <a:t>09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594846-BACC-4240-8EF0-1EA910FE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CE2"/>
          </a:solidFill>
          <a:ln xmlns:a="http://schemas.openxmlformats.org/drawingml/2006/main" w="0">
            <a:solidFill>
              <a:srgbClr val="D4DCE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307671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2026-07-27T18:21:30.9510000Z</dcterms:created>
  <dcterms:modified xsi:type="dcterms:W3CDTF">2026-07-27T18:21:30.9510000Z</dcterms:modified>
</coreProperties>
</file>