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4bfd361e34da1" /><Relationship Type="http://schemas.openxmlformats.org/officeDocument/2006/relationships/extended-properties" Target="/docProps/app.xml" Id="Re8b7af2005444b5f" /><Relationship Type="http://schemas.openxmlformats.org/officeDocument/2006/relationships/officeDocument" Target="/ppt/presentation.xml" Id="R8a9032d78f5740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70bce2fa574506"/>
  </p:sldMasterIdLst>
  <p:notesMasterIdLst>
    <p:notesMasterId xmlns:r="http://schemas.openxmlformats.org/officeDocument/2006/relationships" r:id="R82415e42aab54df4"/>
  </p:notesMasterIdLst>
  <p:sldIdLst>
    <p:sldId xmlns:r="http://schemas.openxmlformats.org/officeDocument/2006/relationships" id="256" r:id="Rf04d8946d37a4a29"/>
    <p:sldId xmlns:r="http://schemas.openxmlformats.org/officeDocument/2006/relationships" id="257" r:id="R6e84e5b7d972460d"/>
    <p:sldId xmlns:r="http://schemas.openxmlformats.org/officeDocument/2006/relationships" id="258" r:id="Rf7719478bda34bfc"/>
    <p:sldId xmlns:r="http://schemas.openxmlformats.org/officeDocument/2006/relationships" id="259" r:id="R5dbc47255e7e4f35"/>
    <p:sldId xmlns:r="http://schemas.openxmlformats.org/officeDocument/2006/relationships" id="260" r:id="R1e2c1a1003a44480"/>
    <p:sldId xmlns:r="http://schemas.openxmlformats.org/officeDocument/2006/relationships" id="261" r:id="Rc509836836ef4a84"/>
    <p:sldId xmlns:r="http://schemas.openxmlformats.org/officeDocument/2006/relationships" id="262" r:id="R9256f98686f641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aab5bec25431e" /><Relationship Type="http://schemas.openxmlformats.org/officeDocument/2006/relationships/slideMaster" Target="/ppt/slideMasters/slideMaster1.xml" Id="R9470bce2fa574506" /><Relationship Type="http://schemas.openxmlformats.org/officeDocument/2006/relationships/notesMaster" Target="/ppt/notesMasters/notesMaster1.xml" Id="R82415e42aab54df4" /><Relationship Type="http://schemas.openxmlformats.org/officeDocument/2006/relationships/presProps" Target="/ppt/presProps.xml" Id="R4b950e7bd28e4246" /><Relationship Type="http://schemas.openxmlformats.org/officeDocument/2006/relationships/tableStyles" Target="/ppt/tableStyles.xml" Id="R54c90f423f304e8b" /><Relationship Type="http://schemas.openxmlformats.org/officeDocument/2006/relationships/slide" Target="/ppt/slides/slide1.xml" Id="Rf04d8946d37a4a29" /><Relationship Type="http://schemas.openxmlformats.org/officeDocument/2006/relationships/slide" Target="/ppt/slides/slide2.xml" Id="R6e84e5b7d972460d" /><Relationship Type="http://schemas.openxmlformats.org/officeDocument/2006/relationships/slide" Target="/ppt/slides/slide3.xml" Id="Rf7719478bda34bfc" /><Relationship Type="http://schemas.openxmlformats.org/officeDocument/2006/relationships/slide" Target="/ppt/slides/slide4.xml" Id="R5dbc47255e7e4f35" /><Relationship Type="http://schemas.openxmlformats.org/officeDocument/2006/relationships/slide" Target="/ppt/slides/slide5.xml" Id="R1e2c1a1003a44480" /><Relationship Type="http://schemas.openxmlformats.org/officeDocument/2006/relationships/slide" Target="/ppt/slides/slide6.xml" Id="Rc509836836ef4a84" /><Relationship Type="http://schemas.openxmlformats.org/officeDocument/2006/relationships/slide" Target="/ppt/slides/slide7.xml" Id="R9256f98686f6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52aed6ed6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d80c254ed48f1" /><Relationship Type="http://schemas.openxmlformats.org/officeDocument/2006/relationships/notesMaster" Target="/ppt/notesMasters/notesMaster1.xml" Id="Re092407cfa7e44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7b72acb465468b" /><Relationship Type="http://schemas.openxmlformats.org/officeDocument/2006/relationships/notesMaster" Target="/ppt/notesMasters/notesMaster1.xml" Id="Rae248d2d60ff46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1fdb79a3e4eb3" /><Relationship Type="http://schemas.openxmlformats.org/officeDocument/2006/relationships/notesMaster" Target="/ppt/notesMasters/notesMaster1.xml" Id="R0b234f2bdb7a4d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459c5c92ad4398" /><Relationship Type="http://schemas.openxmlformats.org/officeDocument/2006/relationships/notesMaster" Target="/ppt/notesMasters/notesMaster1.xml" Id="R72bae12d23a84f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216908ffd04cec" /><Relationship Type="http://schemas.openxmlformats.org/officeDocument/2006/relationships/notesMaster" Target="/ppt/notesMasters/notesMaster1.xml" Id="R5af68337832540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aa954bd9b4742" /><Relationship Type="http://schemas.openxmlformats.org/officeDocument/2006/relationships/notesMaster" Target="/ppt/notesMasters/notesMaster1.xml" Id="R379acf2c29e64b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8589255b7485b" /><Relationship Type="http://schemas.openxmlformats.org/officeDocument/2006/relationships/notesMaster" Target="/ppt/notesMasters/notesMaster1.xml" Id="Rddeec5713ac2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Microsoft 365 Copilot Business: https://www.microsoft.com/en-us/microsoft-365-copilot/business</a:t>
            </a:r>
          </a:p>
          <a:p xmlns:a="http://schemas.openxmlformats.org/drawingml/2006/main">
            <a:r>
              <a:t>[Sources] Claude Pricing: https://claude.com/pricing</a:t>
            </a:r>
          </a:p>
          <a:p xmlns:a="http://schemas.openxmlformats.org/drawingml/2006/main">
            <a:r>
              <a:t>[Sources] Adobe Firefly Partner Models: https://www.adobe.com/products/firefly/partner-models.html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Microsoft 365 Copilot Business: https://www.microsoft.com/en-us/microsoft-365-copilot/business</a:t>
            </a:r>
          </a:p>
          <a:p xmlns:a="http://schemas.openxmlformats.org/drawingml/2006/main">
            <a:r>
              <a:t>[Sources] Claude Code security: https://code.claude.com/docs/en/security</a:t>
            </a:r>
          </a:p>
          <a:p xmlns:a="http://schemas.openxmlformats.org/drawingml/2006/main">
            <a:r>
              <a:t>[Sources] ElevenLabs dubbing: https://elevenlabs.io/docs/overview/capabilities/dubbing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Perplexity Enterprise: https://www.perplexity.ai/enterprise</a:t>
            </a:r>
          </a:p>
          <a:p xmlns:a="http://schemas.openxmlformats.org/drawingml/2006/main">
            <a:r>
              <a:t>[Sources] ElevenLabs dubbing: https://elevenlabs.io/docs/overview/capabilities/dubbing</a:t>
            </a:r>
          </a:p>
          <a:p xmlns:a="http://schemas.openxmlformats.org/drawingml/2006/main">
            <a:r>
              <a:t>[Sources] ElevenLabs enterprise security: https://elevenlabs.io/enterprise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Custo de R$ 14 mil por landing page informado pelo usuário; confirmar escopo, período e volume internamente.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Flow mapping based on the tool capabilities cited in prior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Adobe Firefly approach: https://www.adobe.com/ai/overview/firefly/gen-ai-approach.html</a:t>
            </a:r>
          </a:p>
          <a:p xmlns:a="http://schemas.openxmlformats.org/drawingml/2006/main">
            <a:r>
              <a:t>[Sources] Adobe Firefly Partner Models: https://www.adobe.com/products/firefly/partner-models.html</a:t>
            </a:r>
          </a:p>
          <a:p xmlns:a="http://schemas.openxmlformats.org/drawingml/2006/main">
            <a:r>
              <a:t>[Sources] ElevenLabs enterprise security: https://elevenlabs.io/enterprise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Claude Pricing: https://claude.com/pricing</a:t>
            </a:r>
          </a:p>
          <a:p xmlns:a="http://schemas.openxmlformats.org/drawingml/2006/main">
            <a:r>
              <a:t>[Sources] Microsoft 365 Copilot pricing: https://www.microsoft.com/en-us/microsoft-365/copilot/pricing/enterprise</a:t>
            </a:r>
          </a:p>
          <a:p xmlns:a="http://schemas.openxmlformats.org/drawingml/2006/main">
            <a:r>
              <a:t>[Sources] Adobe Creative Cloud pricing: https://www.adobe.com/creativecloud/pricing.html</a:t>
            </a:r>
          </a:p>
          <a:p xmlns:a="http://schemas.openxmlformats.org/drawingml/2006/main">
            <a:r>
              <a:t>[Sources] Perplexity Enterprise: https://www.perplexity.ai/enterprise</a:t>
            </a:r>
          </a:p>
          <a:p xmlns:a="http://schemas.openxmlformats.org/drawingml/2006/main">
            <a:r>
              <a:t>[Sources] ElevenLabs pricing: https://elevenlabs.io/pricing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49c4a225b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2d50403774e0e" /><Relationship Type="http://schemas.openxmlformats.org/officeDocument/2006/relationships/slideLayout" Target="/ppt/slideLayouts/slideLayout1.xml" Id="R920df9f1b57c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df9f1b57c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40c88c0c472e" /><Relationship Type="http://schemas.openxmlformats.org/officeDocument/2006/relationships/notesSlide" Target="/ppt/notesSlides/notesSlide1.xml" Id="Ree32c3e5fdc8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c7bf471454c9d" /><Relationship Type="http://schemas.openxmlformats.org/officeDocument/2006/relationships/notesSlide" Target="/ppt/notesSlides/notesSlide2.xml" Id="Red68d81ada4c45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98a7f08064825" /><Relationship Type="http://schemas.openxmlformats.org/officeDocument/2006/relationships/notesSlide" Target="/ppt/notesSlides/notesSlide3.xml" Id="R278e4095c0cb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555ebf33f4277" /><Relationship Type="http://schemas.openxmlformats.org/officeDocument/2006/relationships/notesSlide" Target="/ppt/notesSlides/notesSlide4.xml" Id="Rab87e128beae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03ae058c643b7" /><Relationship Type="http://schemas.openxmlformats.org/officeDocument/2006/relationships/notesSlide" Target="/ppt/notesSlides/notesSlide5.xml" Id="Rdd857c96a120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6c59e05504309" /><Relationship Type="http://schemas.openxmlformats.org/officeDocument/2006/relationships/notesSlide" Target="/ppt/notesSlides/notesSlide6.xml" Id="R8bfdd4d5ebf6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b2ee008044c9a" /><Relationship Type="http://schemas.openxmlformats.org/officeDocument/2006/relationships/notesSlide" Target="/ppt/notesSlides/notesSlide7.xml" Id="Ra253e6888d6648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F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68E4F-4306-4ABD-8E4B-7076580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F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D1B2B-FB1A-4E68-BAF8-8FE2638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5A9DC-5C64-408D-A43F-B7B09C9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42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E9FFA-CF1D-4385-BAC5-CCE6CB9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B9E4A-4E62-490A-851A-380F01D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2C137-8034-4BF2-93F0-11C56B5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IA para Comunicação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FBC19-B713-4260-8774-1F7A54AE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FF8"/>
                </a:solidFill>
              </a:defRPr>
            </a:pPr>
            <a:r>
              <a:rPr sz="1875" b="0">
                <a:solidFill>
                  <a:srgbClr val="DCEFF8"/>
                </a:solidFill>
              </a:rPr>
              <a:t>Proposta de stack para qualidade, produtividade, segurança e redução de custo operacional.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280EB-6508-46B5-9444-C7152BD5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Decisão executiva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140CD-DD49-4BED-9BA4-A38B5053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959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FF8"/>
                </a:solidFill>
              </a:defRPr>
            </a:pPr>
            <a:r>
              <a:rPr sz="1725" b="0">
                <a:solidFill>
                  <a:srgbClr val="DCEFF8"/>
                </a:solidFill>
              </a:rPr>
              <a:t>Validar Microsoft, Claude e Adobe como núcleo. Especialistas entram só por lacuna comprovada.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EE1CB-4F33-4AB6-9897-9314133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8E2"/>
                </a:solidFill>
              </a:defRPr>
            </a:pPr>
            <a:r>
              <a:rPr sz="825" b="0">
                <a:solidFill>
                  <a:srgbClr val="C8D8E2"/>
                </a:solidFill>
              </a:rPr>
              <a:t>VLI | Comunicação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5268B-D185-4C8D-8304-4C023F5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8E2"/>
                </a:solidFill>
              </a:defRPr>
            </a:pPr>
            <a:r>
              <a:rPr sz="825" b="0">
                <a:solidFill>
                  <a:srgbClr val="C8D8E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966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9A616-A0B2-4D8E-9E92-A1BBC182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Núcleo recomendado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7877E-167A-47E5-A8CE-27A5E16F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Três plataformas resolvem a maior parte do trabalho sem duplicar licenças.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26514-8B48-49CD-91D6-3A0CE6FF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2A427-1DE4-4F40-B559-27E09914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34CFD-2270-4BBC-8EDF-3060552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Microsoft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BFA82-5787-4AA3-B57E-702D084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F63"/>
                </a:solidFill>
              </a:defRPr>
            </a:pPr>
            <a:r>
              <a:rPr sz="1125" b="1">
                <a:solidFill>
                  <a:srgbClr val="073F63"/>
                </a:solidFill>
              </a:rPr>
              <a:t>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81AEC-4FAC-40FF-91F7-D7945F4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produz e organiza trabalho no 365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09090-3721-48EC-9B55-71A4DF19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F63"/>
                </a:solidFill>
              </a:defRPr>
            </a:pPr>
            <a:r>
              <a:rPr sz="1125" b="1">
                <a:solidFill>
                  <a:srgbClr val="073F63"/>
                </a:solidFill>
              </a:rPr>
              <a:t>Resolve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45EBA-1F35-4C25-9228-E9FEB72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reuniões, e-mails, documentos, busca interna e aprovações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33989-96CB-4974-9CAD-CA9B2828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3F63"/>
                </a:solidFill>
              </a:defRPr>
            </a:pPr>
            <a:r>
              <a:rPr sz="1125" b="1">
                <a:solidFill>
                  <a:srgbClr val="073F63"/>
                </a:solidFill>
              </a:rPr>
              <a:t>Ganho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6EF63-758C-45A6-93BC-F7505A0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governança e produtividade corporativa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CAA5B-2885-45A7-97C3-5713AF2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52625"/>
            <a:ext cx="32575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F7EC-CB6F-45D8-A0B7-0BC15E3C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52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5A597-72EF-41DE-BFCB-DDB6A51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Claude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F84E4-FC30-4B42-80B8-81CD3C9F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BA"/>
                </a:solidFill>
              </a:defRPr>
            </a:pPr>
            <a:r>
              <a:rPr sz="1125" b="1">
                <a:solidFill>
                  <a:srgbClr val="0E74BA"/>
                </a:solidFill>
              </a:rPr>
              <a:t>Faz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FB464-F158-4C1A-BDCF-C734AFF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19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escreve, revisa, sintetiza e prototipa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04EC9-C9FE-419F-80A8-134D1B1D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BA"/>
                </a:solidFill>
              </a:defRPr>
            </a:pPr>
            <a:r>
              <a:rPr sz="1125" b="1">
                <a:solidFill>
                  <a:srgbClr val="0E74BA"/>
                </a:solidFill>
              </a:rPr>
              <a:t>Resolve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5F165D-3CD8-4638-89A2-70D306F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861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qualidade editorial, briefing, roteiro, release e páginas simples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B8E21-E7DF-4AD7-82D2-193290CD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29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BA"/>
                </a:solidFill>
              </a:defRPr>
            </a:pPr>
            <a:r>
              <a:rPr sz="1125" b="1">
                <a:solidFill>
                  <a:srgbClr val="0E74BA"/>
                </a:solidFill>
              </a:rPr>
              <a:t>Ganho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9187F-B0E1-45F7-AAD5-FEF60ED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910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menos refação e mais autonomia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424A1-F6EE-4BEF-9883-DACEA79B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575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37B26-BE7A-4382-A8C1-03906655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A6FA4-A322-4D7A-9A6E-97EC946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Adobe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CF96C-ACDC-4CF7-939A-1A044F2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7A1D"/>
                </a:solidFill>
              </a:defRPr>
            </a:pPr>
            <a:r>
              <a:rPr sz="1125" b="1">
                <a:solidFill>
                  <a:srgbClr val="EF7A1D"/>
                </a:solidFill>
              </a:rPr>
              <a:t>Faz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6320F-57DA-4920-ACFF-98ADCD7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19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cria e finaliza imagem, vídeo e 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19690-B3EA-4822-8C5F-F09A19A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7A1D"/>
                </a:solidFill>
              </a:defRPr>
            </a:pPr>
            <a:r>
              <a:rPr sz="1125" b="1">
                <a:solidFill>
                  <a:srgbClr val="EF7A1D"/>
                </a:solidFill>
              </a:rPr>
              <a:t>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85454-50CC-4FB2-8478-C0124C0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marca, acabamento, uso comercial e modelos parceiros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22178-398F-4E01-95C8-329125C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7A1D"/>
                </a:solidFill>
              </a:defRPr>
            </a:pPr>
            <a:r>
              <a:rPr sz="1125" b="1">
                <a:solidFill>
                  <a:srgbClr val="EF7A1D"/>
                </a:solidFill>
              </a:rPr>
              <a:t>Ganho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230D9-7FF9-4A51-BB42-B97F1AE6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910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qualidade criativa com segurança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A3B85-B9A1-4357-A7B4-7CFC68C2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58CA7-58A9-4DF9-8A94-9C632A5B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9944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7CD9A-C1BD-4AD0-9864-C8737A2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Especialistas recomendados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F4DEA-469B-4847-A195-41BB0B3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Entram quando a suíte principal não resolve bem ou quando o ganho de qualidade é claro.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D0FF2-FCBD-4FF0-B698-4B13A9C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B"/>
                </a:solidFill>
              </a:defRPr>
            </a:pPr>
            <a:r>
              <a:rPr sz="1050" b="1">
                <a:solidFill>
                  <a:srgbClr val="52606B"/>
                </a:solidFill>
              </a:rPr>
              <a:t>Ferramenta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5D627-075E-4825-9E59-BE17B7F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B"/>
                </a:solidFill>
              </a:defRPr>
            </a:pPr>
            <a:r>
              <a:rPr sz="1050" b="1">
                <a:solidFill>
                  <a:srgbClr val="52606B"/>
                </a:solidFill>
              </a:rPr>
              <a:t>Quando usar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1A92F-179E-4B7F-AC0F-422D8FFC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B"/>
                </a:solidFill>
              </a:defRPr>
            </a:pPr>
            <a:r>
              <a:rPr sz="1050" b="1">
                <a:solidFill>
                  <a:srgbClr val="52606B"/>
                </a:solidFill>
              </a:rPr>
              <a:t>Ganho prático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CCC68-92EE-4708-99E3-30BD389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271FB-D560-4DC4-A874-008AA891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BA"/>
                </a:solidFill>
              </a:defRPr>
            </a:pPr>
            <a:r>
              <a:rPr sz="1350" b="1">
                <a:solidFill>
                  <a:srgbClr val="0E74BA"/>
                </a:solidFill>
              </a:rPr>
              <a:t>Perplexity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133C5-D6EF-4B6F-8C75-71B902C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pesquisa com fontes e contexto externo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06BB4-AAA6-415C-B5FC-081359F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527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menos risco factual em release, pauta e material executivo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FB60-873C-44D2-8C7F-F832D7B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AE934-A67C-4B37-A5B9-05AB200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A54"/>
                </a:solidFill>
              </a:defRPr>
            </a:pPr>
            <a:r>
              <a:rPr sz="1350" b="1">
                <a:solidFill>
                  <a:srgbClr val="1D7A54"/>
                </a:solidFill>
              </a:rPr>
              <a:t>DeepL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CA645-8653-4F09-8FF4-3E38DB9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tradução e glossário institucional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F3F70-4D50-48D1-9315-A59B7820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765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consistência terminológica e adaptação internacional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1402C-5F53-4FA0-A6EA-DAB5F2B9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C6D3E-4B57-451D-B6E3-E423F12C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7A1D"/>
                </a:solidFill>
              </a:defRPr>
            </a:pPr>
            <a:r>
              <a:rPr sz="1350" b="1">
                <a:solidFill>
                  <a:srgbClr val="EF7A1D"/>
                </a:solidFill>
              </a:rPr>
              <a:t>ElevenLabs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57425-6B91-4261-B3FF-92AD722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narração, dublagem e voz sintética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6A88C-6876-446C-93EF-C483E9B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áudio premium para vídeos, versões e campanhas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00074-7D19-403E-8E35-BFC9B262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BC0BE-2B1C-4D02-9CDD-AFAEA2E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BA"/>
                </a:solidFill>
              </a:defRPr>
            </a:pPr>
            <a:r>
              <a:rPr sz="1350" b="1">
                <a:solidFill>
                  <a:srgbClr val="0E74BA"/>
                </a:solidFill>
              </a:rPr>
              <a:t>Descript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E81D9-4BA2-4507-9DFD-BDB8425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edição de vídeo por transcrição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52158-7037-457F-9D78-00C1EC6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cortes rápidos de entrevista, legenda e social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B4C6F-CA45-4026-A483-6573DE3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A759E-F40C-4F63-93ED-F0935D1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A54"/>
                </a:solidFill>
              </a:defRPr>
            </a:pPr>
            <a:r>
              <a:rPr sz="1350" b="1">
                <a:solidFill>
                  <a:srgbClr val="1D7A54"/>
                </a:solidFill>
              </a:rPr>
              <a:t>Fireflies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C62D1-9070-4E65-90C4-377E14F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atas quando Copilot não cobrir bem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32B62-E0AC-41D4-9C48-52E89D9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menos perda de decisão e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ED7B7-1690-42D3-ADAC-AC4395A7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E5DC2-E1C1-41CD-B35B-C9E02CE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7A1D"/>
                </a:solidFill>
              </a:defRPr>
            </a:pPr>
            <a:r>
              <a:rPr sz="1350" b="1">
                <a:solidFill>
                  <a:srgbClr val="EF7A1D"/>
                </a:solidFill>
              </a:rPr>
              <a:t>Adobe Podcast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9625F-BCA2-4A1C-9E1D-2154A66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recuperação de áudio ruim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67723-10EB-4EE8-89AC-84D07D5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720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mais aproveitamento de gravações de campo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677365-7BF6-4531-8754-30931172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418E1-E934-4606-BE40-758B3DF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D8C54-A333-4D37-98CB-F818DB0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7247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18622-E441-4654-9466-3286DEC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Ganhos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06EB8-122B-4A4F-A645-FC09C9E3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O impacto esperado está no ciclo de produção, não na ferramenta isolada.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F9F3B-4D41-4E5C-8C9A-5CE804C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32762-3642-4CD7-80A6-9929F8C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C082-2E52-45A5-8FA5-C1F11492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6F9E2-753C-4027-89C7-E9389E9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F63"/>
                </a:solidFill>
              </a:defRPr>
            </a:pPr>
            <a:r>
              <a:rPr sz="2250" b="1">
                <a:solidFill>
                  <a:srgbClr val="073F63"/>
                </a:solidFill>
              </a:rPr>
              <a:t>Qualidade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6F917-EC3C-463D-B9B9-E858F97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Textos mais consistentes, melhor briefing, revisão crítica e menos desalinhamento.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EA328-B953-4879-95E3-ECB218F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F7A1D"/>
                </a:solidFill>
              </a:defRPr>
            </a:pPr>
            <a:r>
              <a:rPr sz="2250" b="1">
                <a:solidFill>
                  <a:srgbClr val="EF7A1D"/>
                </a:solidFill>
              </a:rPr>
              <a:t>Velocidade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47CCE-5746-4525-A785-BCF932D6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Primeira versão, variações e ajustes antes de acionar fornecedor.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64EB1-E269-4CDF-B42D-155BD35B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7A54"/>
                </a:solidFill>
              </a:defRPr>
            </a:pPr>
            <a:r>
              <a:rPr sz="2250" b="1">
                <a:solidFill>
                  <a:srgbClr val="1D7A54"/>
                </a:solidFill>
              </a:rPr>
              <a:t>Custo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B1C0-E61B-4F2D-93DF-A8577206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Redução de custo unitário em entregas recorrentes e menos refação paga.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2BFA2-5878-4A11-A2FD-A4309E24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99A99-181E-4DE4-AD4A-3E9B803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Referência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B5927-AA6B-4AA8-8F75-B1D23D2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97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Landing page com custo médio informado de R$ 14 mil ajuda a dimensionar o potencial de economia em páginas, campanhas, adaptações e ajustes simples.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426F-886F-4111-8998-E4EC3624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E865E-6B9A-4C20-A430-47549C2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2415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BF529-EF0A-4FAF-99E4-B9DFCBB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Fluxos prioritários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946DE-C949-493E-8160-742827F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A stack deve ser avaliada nos fluxos que concentram custo, prazo e risco de qualidade.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4794F-5FC7-4A06-A6E4-C05998B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Campanha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F4C4B-E6AE-4A19-996E-9A2EEA9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BA"/>
                </a:solidFill>
              </a:defRPr>
            </a:pPr>
            <a:r>
              <a:rPr sz="1275" b="1">
                <a:solidFill>
                  <a:srgbClr val="0E74BA"/>
                </a:solidFill>
              </a:rPr>
              <a:t>Perplexity + Claude + Adobe + Microsoft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45FF3-1F1D-4DB1-B042-20257BF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conceito, texto, visual, aprovação e distribuição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A62AF-48F1-410B-A033-BA36033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6C6E6-EBDB-47DF-969E-20E363E7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Comunicado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CEDC-8028-4EB4-A7D1-3BE05F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812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BA"/>
                </a:solidFill>
              </a:defRPr>
            </a:pPr>
            <a:r>
              <a:rPr sz="1275" b="1">
                <a:solidFill>
                  <a:srgbClr val="0E74BA"/>
                </a:solidFill>
              </a:rPr>
              <a:t>Perplexity + Claude + DeepL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0E113-93F9-4C82-9A07-C16D02B6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812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fonte, redação, revisão, tradução e adaptação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473D0-1211-44D1-9ED1-66753C98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CB954-99A6-4896-AE9D-5277A19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Landing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A1DB5-11A1-47D0-AA98-0D9FF6AD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BA"/>
                </a:solidFill>
              </a:defRPr>
            </a:pPr>
            <a:r>
              <a:rPr sz="1275" b="1">
                <a:solidFill>
                  <a:srgbClr val="0E74BA"/>
                </a:solidFill>
              </a:rPr>
              <a:t>Claude + Claude Code + Adobe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4BA0B-D90F-4DE0-8EBC-E7BD321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99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copy, protótipo, assets e ajustes rápidos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22179-E0C6-424C-B139-84C8FFD8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B2CB8-12D6-40B3-B82C-DBB8999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Vídeo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4BFAF-CB55-4894-8E3B-D885902C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385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BA"/>
                </a:solidFill>
              </a:defRPr>
            </a:pPr>
            <a:r>
              <a:rPr sz="1275" b="1">
                <a:solidFill>
                  <a:srgbClr val="0E74BA"/>
                </a:solidFill>
              </a:rPr>
              <a:t>Firefly + Runway/Veo + ElevenLabs + Descript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C367C-BAD5-4B5A-9595-4C11E79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b-roll, narração, dublagem, edição e legendas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6F166-C472-4F2E-A419-D514137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4BE88-F59C-473D-BB7D-E5E4510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</a:defRPr>
            </a:pPr>
            <a:r>
              <a:rPr sz="1425" b="1">
                <a:solidFill>
                  <a:srgbClr val="172026"/>
                </a:solidFill>
              </a:rPr>
              <a:t>Reuniões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25FEA-2BDE-4834-BAFF-FBDF4160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67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BA"/>
                </a:solidFill>
              </a:defRPr>
            </a:pPr>
            <a:r>
              <a:rPr sz="1275" b="1">
                <a:solidFill>
                  <a:srgbClr val="0E74BA"/>
                </a:solidFill>
              </a:rPr>
              <a:t>Copilot ou Fireflies + Claude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97687-3E6B-41EF-8A87-570F683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672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B"/>
                </a:solidFill>
              </a:defRPr>
            </a:pPr>
            <a:r>
              <a:rPr sz="1275" b="0">
                <a:solidFill>
                  <a:srgbClr val="52606B"/>
                </a:solidFill>
              </a:rPr>
              <a:t>ata, decisões, ações e briefing executivo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29B26-4FD2-42D4-95C8-78CACB13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14FE2-95A0-43E5-9765-839EE42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BF309-E96C-4A32-9C20-9A2C494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7726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A0BA8-0637-4A24-8734-DE32439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Segurança e criação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4B192-6D95-423A-9F04-31692A3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A recomendação precisa ser defensável para Comunicação, TI e Jurídico.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3A94C-11C6-45CE-820B-10555F42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92B01-DF28-4992-8C99-54D6961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DFE43-ECF9-4403-9070-62F8F07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F7A1D"/>
                </a:solidFill>
              </a:defRPr>
            </a:pPr>
            <a:r>
              <a:rPr sz="2100" b="1">
                <a:solidFill>
                  <a:srgbClr val="EF7A1D"/>
                </a:solidFill>
              </a:rPr>
              <a:t>Por que Firefly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50675-70AB-4EE9-8364-C31E1DC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É a frente criativa mais governável: documentação comercial, ecossistema Adobe, controles enterprise e acesso a modelos parceiros sem pulverizar contas.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1DFA-BA17-44F4-9AF1-068825CF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7A54"/>
                </a:solidFill>
              </a:defRPr>
            </a:pPr>
            <a:r>
              <a:rPr sz="2100" b="1">
                <a:solidFill>
                  <a:srgbClr val="1D7A54"/>
                </a:solidFill>
              </a:rPr>
              <a:t>Áudio e voz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69C5D-38D3-4C2F-A4E1-C206456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ElevenLabs deve ser avaliado como especialista recomendado para narração, dublagem e versões internacionais, com consentimento e governança.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D1C50-46E0-4FF2-BB73-D74D1A6A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7E305-85C5-4FFB-B188-C56C31F4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Condição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5C951-2ED7-4CF2-A6F5-7647F8B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530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Modelos parceiros só avançam em peças sensíveis com validação de plano, termos, créditos, região, dados e cobertura jurídica.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547C6-4794-4CFD-8AB1-D939F83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BA3F5-6DDE-4DF4-BBF4-FA6282C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2438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B4E1E-7216-4949-B0FF-14A6F99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</a:defRPr>
            </a:pPr>
            <a:r>
              <a:rPr sz="2550" b="1">
                <a:solidFill>
                  <a:srgbClr val="172026"/>
                </a:solidFill>
              </a:rPr>
              <a:t>Custos e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13B0-774B-4F02-B912-27FC648E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B"/>
                </a:solidFill>
              </a:defRPr>
            </a:pPr>
            <a:r>
              <a:rPr sz="1425" b="0">
                <a:solidFill>
                  <a:srgbClr val="52606B"/>
                </a:solidFill>
              </a:rPr>
              <a:t>Valores de referência. Compra real depende de contratos existentes, câmbio, impostos, créditos e negociação enterprise.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94BCD-497B-42F9-A4CD-B4A12DB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Claude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F52A7-15CB-4F28-BF11-0CF8229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BA"/>
                </a:solidFill>
              </a:defRPr>
            </a:pPr>
            <a:r>
              <a:rPr sz="1350" b="1">
                <a:solidFill>
                  <a:srgbClr val="0E74BA"/>
                </a:solidFill>
              </a:rPr>
              <a:t>US$ 20 a 25 usuário/mês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D7776-A666-4180-BD09-79093572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base editorial e prototipação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A33F8-D4F7-4D26-9FC1-9216983E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1DBA5-2AB4-449B-9A53-3235E579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Microsoft 365 Copilot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A63C5-B3A5-4941-8D04-5080E155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3F63"/>
                </a:solidFill>
              </a:defRPr>
            </a:pPr>
            <a:r>
              <a:rPr sz="1350" b="1">
                <a:solidFill>
                  <a:srgbClr val="073F63"/>
                </a:solidFill>
              </a:rPr>
              <a:t>US$ 30 usuário/mês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7A857-5F02-41DC-BC50-BA9FA2D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licença elegível necessária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3055F-5AD4-4FCC-93B4-0943085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086B1-AF93-4FA1-9F5C-6D5C8E0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Adobe Firefly + Creative 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B4B6B-6A4E-4E9E-B4E3-05915BC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7A1D"/>
                </a:solidFill>
              </a:defRPr>
            </a:pPr>
            <a:r>
              <a:rPr sz="1350" b="1">
                <a:solidFill>
                  <a:srgbClr val="EF7A1D"/>
                </a:solidFill>
              </a:rPr>
              <a:t>~US$ 69,99/mês individual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CD831-72C5-4500-9D2E-646093E2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business e créditos a confirmar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18D1C-6956-44BD-82A5-68C5E0A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4F842-9FE9-4334-A1EF-B94195B4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Perplexity 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767B3-82B6-483A-99DE-76476361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BA"/>
                </a:solidFill>
              </a:defRPr>
            </a:pPr>
            <a:r>
              <a:rPr sz="1350" b="1">
                <a:solidFill>
                  <a:srgbClr val="0E74BA"/>
                </a:solidFill>
              </a:rPr>
              <a:t>US$ 40 usuário/mês ou US$ 400/ano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8939B-A83F-4C53-A630-4C677DC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pesquisa com fontes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A3CF8-0B55-4F32-AE9A-0F20C49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E82AD-7FFA-4D36-960B-26CABF3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ElevenLabs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822A2-BDF8-428B-911C-6C27561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A54"/>
                </a:solidFill>
              </a:defRPr>
            </a:pPr>
            <a:r>
              <a:rPr sz="1350" b="1">
                <a:solidFill>
                  <a:srgbClr val="1D7A54"/>
                </a:solidFill>
              </a:rPr>
              <a:t>US$ 5, US$ 22, US$ 99/mês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ED2A1-217A-495B-83AC-1CAFEBC5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Enterprise a confirmar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4C2FE-BBBF-4E0D-BF32-2AC7EB7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AC96C-0BD4-44DE-A695-3B94648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DeepL, Descript, Fireflies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5F4D8-7D7B-4D62-B769-97B78AF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6B"/>
                </a:solidFill>
              </a:defRPr>
            </a:pPr>
            <a:r>
              <a:rPr sz="1350" b="1">
                <a:solidFill>
                  <a:srgbClr val="52606B"/>
                </a:solidFill>
              </a:rPr>
              <a:t>planos variáveis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6C821-84F1-4F8A-B00A-571781A7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B"/>
                </a:solidFill>
              </a:defRPr>
            </a:pPr>
            <a:r>
              <a:rPr sz="1200" b="0">
                <a:solidFill>
                  <a:srgbClr val="52606B"/>
                </a:solidFill>
              </a:rPr>
              <a:t>contratar só por lacuna real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8E70C-7356-45BE-B386-0B780CFE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2AF4B-1EB5-4012-B508-0A81F2D5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1EBF1-19E3-4D0D-BF74-95ED511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6"/>
                </a:solidFill>
              </a:defRPr>
            </a:pPr>
            <a:r>
              <a:rPr sz="1725" b="1">
                <a:solidFill>
                  <a:srgbClr val="172026"/>
                </a:solidFill>
              </a:rPr>
              <a:t>Decisão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64A08-8020-42DE-8347-2721A145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B"/>
                </a:solidFill>
              </a:defRPr>
            </a:pPr>
            <a:r>
              <a:rPr sz="1500" b="0">
                <a:solidFill>
                  <a:srgbClr val="52606B"/>
                </a:solidFill>
              </a:rPr>
              <a:t>Autorizar validação com TI, Jurídico, Compras e usuários-chave, priorizando Microsoft, Claude e Adobe como núcleo.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F3AA3-B506-4BA3-BD83-66548A2A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VLI | Comunicação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6A16A8-A781-4009-9B1C-BC7EDA0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B"/>
                </a:solidFill>
              </a:defRPr>
            </a:pPr>
            <a:r>
              <a:rPr sz="825" b="0">
                <a:solidFill>
                  <a:srgbClr val="5260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5628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2026-07-27T19:14:04.2380000Z</dcterms:created>
  <dcterms:modified xsi:type="dcterms:W3CDTF">2026-07-27T19:14:04.2380000Z</dcterms:modified>
</coreProperties>
</file>