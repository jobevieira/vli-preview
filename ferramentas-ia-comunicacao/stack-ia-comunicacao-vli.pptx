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e635deab12b4f64" /><Relationship Type="http://schemas.openxmlformats.org/officeDocument/2006/relationships/extended-properties" Target="/docProps/app.xml" Id="R33d5323edf5b4187" /><Relationship Type="http://schemas.openxmlformats.org/officeDocument/2006/relationships/officeDocument" Target="/ppt/presentation.xml" Id="R71cfc80209d04db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c6da0129add4b76"/>
  </p:sldMasterIdLst>
  <p:notesMasterIdLst>
    <p:notesMasterId xmlns:r="http://schemas.openxmlformats.org/officeDocument/2006/relationships" r:id="R15056ca6974f42ec"/>
  </p:notesMasterIdLst>
  <p:sldIdLst>
    <p:sldId xmlns:r="http://schemas.openxmlformats.org/officeDocument/2006/relationships" id="256" r:id="R8aa0c48339d04a62"/>
    <p:sldId xmlns:r="http://schemas.openxmlformats.org/officeDocument/2006/relationships" id="257" r:id="R19d1f3c4097a4cbb"/>
    <p:sldId xmlns:r="http://schemas.openxmlformats.org/officeDocument/2006/relationships" id="258" r:id="R426a3ef503e3431f"/>
    <p:sldId xmlns:r="http://schemas.openxmlformats.org/officeDocument/2006/relationships" id="259" r:id="R457f91eafb454498"/>
    <p:sldId xmlns:r="http://schemas.openxmlformats.org/officeDocument/2006/relationships" id="260" r:id="R47451c2132d34196"/>
    <p:sldId xmlns:r="http://schemas.openxmlformats.org/officeDocument/2006/relationships" id="261" r:id="Rc6da0937e8394461"/>
    <p:sldId xmlns:r="http://schemas.openxmlformats.org/officeDocument/2006/relationships" id="262" r:id="R01e032788da74510"/>
    <p:sldId xmlns:r="http://schemas.openxmlformats.org/officeDocument/2006/relationships" id="263" r:id="R336cfdf4cf4a41b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8847c64209c4297" /><Relationship Type="http://schemas.openxmlformats.org/officeDocument/2006/relationships/slideMaster" Target="/ppt/slideMasters/slideMaster1.xml" Id="R4c6da0129add4b76" /><Relationship Type="http://schemas.openxmlformats.org/officeDocument/2006/relationships/notesMaster" Target="/ppt/notesMasters/notesMaster1.xml" Id="R15056ca6974f42ec" /><Relationship Type="http://schemas.openxmlformats.org/officeDocument/2006/relationships/presProps" Target="/ppt/presProps.xml" Id="R077e9288ddcd45d6" /><Relationship Type="http://schemas.openxmlformats.org/officeDocument/2006/relationships/tableStyles" Target="/ppt/tableStyles.xml" Id="R6934f55d907e41a1" /><Relationship Type="http://schemas.openxmlformats.org/officeDocument/2006/relationships/slide" Target="/ppt/slides/slide1.xml" Id="R8aa0c48339d04a62" /><Relationship Type="http://schemas.openxmlformats.org/officeDocument/2006/relationships/slide" Target="/ppt/slides/slide2.xml" Id="R19d1f3c4097a4cbb" /><Relationship Type="http://schemas.openxmlformats.org/officeDocument/2006/relationships/slide" Target="/ppt/slides/slide3.xml" Id="R426a3ef503e3431f" /><Relationship Type="http://schemas.openxmlformats.org/officeDocument/2006/relationships/slide" Target="/ppt/slides/slide4.xml" Id="R457f91eafb454498" /><Relationship Type="http://schemas.openxmlformats.org/officeDocument/2006/relationships/slide" Target="/ppt/slides/slide5.xml" Id="R47451c2132d34196" /><Relationship Type="http://schemas.openxmlformats.org/officeDocument/2006/relationships/slide" Target="/ppt/slides/slide6.xml" Id="Rc6da0937e8394461" /><Relationship Type="http://schemas.openxmlformats.org/officeDocument/2006/relationships/slide" Target="/ppt/slides/slide7.xml" Id="R01e032788da74510" /><Relationship Type="http://schemas.openxmlformats.org/officeDocument/2006/relationships/slide" Target="/ppt/slides/slide8.xml" Id="R336cfdf4cf4a41b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973dc36feb2450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dc08474ea424963" /><Relationship Type="http://schemas.openxmlformats.org/officeDocument/2006/relationships/notesMaster" Target="/ppt/notesMasters/notesMaster1.xml" Id="R9fae4171441d4f2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b424b6a9d774a2a" /><Relationship Type="http://schemas.openxmlformats.org/officeDocument/2006/relationships/notesMaster" Target="/ppt/notesMasters/notesMaster1.xml" Id="Rad4ac24acc104b4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a303fb5956c4f6c" /><Relationship Type="http://schemas.openxmlformats.org/officeDocument/2006/relationships/notesMaster" Target="/ppt/notesMasters/notesMaster1.xml" Id="R1512aca9e2f24d0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bea886ecec44e25" /><Relationship Type="http://schemas.openxmlformats.org/officeDocument/2006/relationships/notesMaster" Target="/ppt/notesMasters/notesMaster1.xml" Id="R84f6e9bfe34741a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81ae8fcf38c4fde" /><Relationship Type="http://schemas.openxmlformats.org/officeDocument/2006/relationships/notesMaster" Target="/ppt/notesMasters/notesMaster1.xml" Id="R90c5dcc504684dd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1105962072844ef" /><Relationship Type="http://schemas.openxmlformats.org/officeDocument/2006/relationships/notesMaster" Target="/ppt/notesMasters/notesMaster1.xml" Id="Rd791fe21023f48d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1e2a3a3167f44a9" /><Relationship Type="http://schemas.openxmlformats.org/officeDocument/2006/relationships/notesMaster" Target="/ppt/notesMasters/notesMaster1.xml" Id="R94ab101785b8466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acc4bb2f65f4ba2" /><Relationship Type="http://schemas.openxmlformats.org/officeDocument/2006/relationships/notesMaster" Target="/ppt/notesMasters/notesMaster1.xml" Id="R9dfb60ac6e8a4df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Microsoft 365 Copilot Business: https://www.microsoft.com/en-us/microsoft-365-copilot/business</a:t>
            </a:r>
          </a:p>
          <a:p xmlns:a="http://schemas.openxmlformats.org/drawingml/2006/main">
            <a:r>
              <a:t>[Sources] Claude Pricing: https://claude.com/pricing</a:t>
            </a:r>
          </a:p>
          <a:p xmlns:a="http://schemas.openxmlformats.org/drawingml/2006/main">
            <a:r>
              <a:t>[Sources] Adobe Firefly Partner Models: https://www.adobe.com/products/firefly/partner-models.html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Microsoft support on Copilot account types: https://support.microsoft.com/en-us/microsoft-365-copilot/copilot-use-when-multiple-accounts-are-added-to-microsoft-365-apps</a:t>
            </a:r>
          </a:p>
          <a:p xmlns:a="http://schemas.openxmlformats.org/drawingml/2006/main">
            <a:r>
              <a:t>[Sources] ElevenLabs enterprise security: https://elevenlabs.io/enterprise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Custo de R$ 14 mil por landing page informado pelo usuário; confirmar escopo, período e volume internamente.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Claude Pricing: https://claude.com/pricing</a:t>
            </a:r>
          </a:p>
          <a:p xmlns:a="http://schemas.openxmlformats.org/drawingml/2006/main">
            <a:r>
              <a:t>[Sources] Microsoft 365 Copilot Business: https://www.microsoft.com/en-us/microsoft-365-copilot/business</a:t>
            </a:r>
          </a:p>
          <a:p xmlns:a="http://schemas.openxmlformats.org/drawingml/2006/main">
            <a:r>
              <a:t>[Sources] ElevenLabs dubbing: https://elevenlabs.io/docs/overview/capabilities/dubbing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ElevenLabs dubbing: https://elevenlabs.io/docs/overview/capabilities/dubbing</a:t>
            </a:r>
          </a:p>
          <a:p xmlns:a="http://schemas.openxmlformats.org/drawingml/2006/main">
            <a:r>
              <a:t>[Sources] ElevenLabs enterprise security: https://elevenlabs.io/enterprise</a:t>
            </a:r>
          </a:p>
          <a:p xmlns:a="http://schemas.openxmlformats.org/drawingml/2006/main">
            <a:r>
              <a:t>[Sources] ElevenLabs pricing: https://elevenlabs.io/pricing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Flow mapping based on cited tool capabilities and Comunicação use cases.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Adobe Firefly approach: https://www.adobe.com/ai/overview/firefly/gen-ai-approach.html</a:t>
            </a:r>
          </a:p>
          <a:p xmlns:a="http://schemas.openxmlformats.org/drawingml/2006/main">
            <a:r>
              <a:t>[Sources] Adobe Legal Firefly product description: https://helpx.adobe.com/legal/product-descriptions/adobe-firefly.html</a:t>
            </a:r>
          </a:p>
          <a:p xmlns:a="http://schemas.openxmlformats.org/drawingml/2006/main">
            <a:r>
              <a:t>[Sources] ElevenLabs enterprise security: https://elevenlabs.io/enterprise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Claude Pricing: https://claude.com/pricing</a:t>
            </a:r>
          </a:p>
          <a:p xmlns:a="http://schemas.openxmlformats.org/drawingml/2006/main">
            <a:r>
              <a:t>[Sources] Microsoft 365 Copilot pricing: https://www.microsoft.com/en-us/microsoft-365/copilot/pricing/enterprise</a:t>
            </a:r>
          </a:p>
          <a:p xmlns:a="http://schemas.openxmlformats.org/drawingml/2006/main">
            <a:r>
              <a:t>[Sources] Adobe Creative Cloud pricing: https://www.adobe.com/creativecloud/pricing.html</a:t>
            </a:r>
          </a:p>
          <a:p xmlns:a="http://schemas.openxmlformats.org/drawingml/2006/main">
            <a:r>
              <a:t>[Sources] Perplexity Enterprise: https://www.perplexity.ai/enterprise</a:t>
            </a:r>
          </a:p>
          <a:p xmlns:a="http://schemas.openxmlformats.org/drawingml/2006/main">
            <a:r>
              <a:t>[Sources] ElevenLabs pricing: https://elevenlabs.io/pricing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86cfcb990c46f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4259b00e7dc409c" /><Relationship Type="http://schemas.openxmlformats.org/officeDocument/2006/relationships/slideLayout" Target="/ppt/slideLayouts/slideLayout1.xml" Id="R9295dde2a69841f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295dde2a69841f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64ae0fbcbb4ab9" /><Relationship Type="http://schemas.openxmlformats.org/officeDocument/2006/relationships/notesSlide" Target="/ppt/notesSlides/notesSlide1.xml" Id="Rebf8111ab7cf40a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7e39112d4e4adc" /><Relationship Type="http://schemas.openxmlformats.org/officeDocument/2006/relationships/notesSlide" Target="/ppt/notesSlides/notesSlide2.xml" Id="Rffbc8588555f4c1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30aa318fe94382" /><Relationship Type="http://schemas.openxmlformats.org/officeDocument/2006/relationships/notesSlide" Target="/ppt/notesSlides/notesSlide3.xml" Id="Re0bea97db148434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b45862230741a9" /><Relationship Type="http://schemas.openxmlformats.org/officeDocument/2006/relationships/notesSlide" Target="/ppt/notesSlides/notesSlide4.xml" Id="Rca066019be98415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a1b6f4b5e44246" /><Relationship Type="http://schemas.openxmlformats.org/officeDocument/2006/relationships/notesSlide" Target="/ppt/notesSlides/notesSlide5.xml" Id="Rfac3d472924344f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d040dad1484302" /><Relationship Type="http://schemas.openxmlformats.org/officeDocument/2006/relationships/notesSlide" Target="/ppt/notesSlides/notesSlide6.xml" Id="Rf153f267d9a44ac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9d5695bc4a4366" /><Relationship Type="http://schemas.openxmlformats.org/officeDocument/2006/relationships/notesSlide" Target="/ppt/notesSlides/notesSlide7.xml" Id="R5af56a7a79584fa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db4848e0f640ae" /><Relationship Type="http://schemas.openxmlformats.org/officeDocument/2006/relationships/notesSlide" Target="/ppt/notesSlides/notesSlide8.xml" Id="R36a8f57612534f5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3F6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0184FB-F203-4311-9DC3-027A24A1F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3F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0F9A22-CA88-46AA-9456-E37D098E3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0"/>
            <a:ext cx="4743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7A1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660B95-A706-493B-80FE-043EFAB14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781050"/>
            <a:ext cx="24955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93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E3AB62-6730-4611-A6AC-D1465A86D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571875"/>
            <a:ext cx="2286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7A363F-AAC5-4400-8A0B-DF96D5A4A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953000"/>
            <a:ext cx="7448550" cy="190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2F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23D106-C772-4794-8613-47CCED182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FFFF"/>
                </a:solidFill>
              </a:defRPr>
            </a:pPr>
            <a:r>
              <a:rPr sz="1950" b="1">
                <a:solidFill>
                  <a:srgbClr val="FFFFFF"/>
                </a:solidFill>
              </a:rPr>
              <a:t>VLI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8A62B5-D188-4F27-BA14-B3ABD7342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619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FFFFFF"/>
                </a:solidFill>
              </a:defRPr>
            </a:pPr>
            <a:r>
              <a:rPr sz="3900" b="1">
                <a:solidFill>
                  <a:srgbClr val="FFFFFF"/>
                </a:solidFill>
              </a:rPr>
              <a:t>IA para Comunicação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31DF87-0170-4216-B8DC-91774C65E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95550"/>
            <a:ext cx="6191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D8EDF7"/>
                </a:solidFill>
              </a:defRPr>
            </a:pPr>
            <a:r>
              <a:rPr sz="1800" b="0">
                <a:solidFill>
                  <a:srgbClr val="D8EDF7"/>
                </a:solidFill>
              </a:rPr>
              <a:t>Stack recomendada, ganhos esperados, custos estimados e critérios para decisão.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F8B9B7-7185-40F8-9633-02897B3C6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530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Tese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1B7989-F96C-4796-A37F-D4A4A37C2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295900"/>
            <a:ext cx="6143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D8EDF7"/>
                </a:solidFill>
              </a:defRPr>
            </a:pPr>
            <a:r>
              <a:rPr sz="1650" b="0">
                <a:solidFill>
                  <a:srgbClr val="D8EDF7"/>
                </a:solidFill>
              </a:rPr>
              <a:t>A decisão deve reduzir custo unitário, tempo de produção, refação, dependência externa e risco operacional em entregas recorrentes.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5CA87E-2D0E-4969-8D36-4FA86BED5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D3E5EF"/>
                </a:solidFill>
              </a:defRPr>
            </a:pPr>
            <a:r>
              <a:rPr sz="825" b="0">
                <a:solidFill>
                  <a:srgbClr val="D3E5EF"/>
                </a:solidFill>
              </a:rPr>
              <a:t>VLI | Comunicação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4388E9-6DE0-4A67-8980-18E11660C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D3E5EF"/>
                </a:solidFill>
              </a:defRPr>
            </a:pPr>
            <a:r>
              <a:rPr sz="825" b="0">
                <a:solidFill>
                  <a:srgbClr val="D3E5EF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69649797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7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4568525-5C5D-4C6B-8B9D-DD45C7215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9525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72026"/>
                </a:solidFill>
              </a:defRPr>
            </a:pPr>
            <a:r>
              <a:rPr sz="2475" b="1">
                <a:solidFill>
                  <a:srgbClr val="172026"/>
                </a:solidFill>
              </a:rPr>
              <a:t>Resposta executiva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DA9A9B-2CC1-4176-B421-84044E1A1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962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F5D68"/>
                </a:solidFill>
              </a:defRPr>
            </a:pPr>
            <a:r>
              <a:rPr sz="1350" b="0">
                <a:solidFill>
                  <a:srgbClr val="4F5D68"/>
                </a:solidFill>
              </a:rPr>
              <a:t>O que recomendar agora, o que entra como camada prioritária e o que não deve ser comprado como solução solta.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1DD2D2-4641-4734-B469-2EB8956CB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3238500" cy="1314450"/>
          </a:xfrm>
          <a:prstGeom xmlns:a="http://schemas.openxmlformats.org/drawingml/2006/main" prst="roundRect">
            <a:avLst>
              <a:gd name="adj" fmla="val 14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DE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744522-73D3-4B4D-812A-3E869A248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3238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4B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C3ECBB-2D5B-4173-B2F7-1AC01F53C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0980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26"/>
                </a:solidFill>
              </a:defRPr>
            </a:pPr>
            <a:r>
              <a:rPr sz="1500" b="1">
                <a:solidFill>
                  <a:srgbClr val="172026"/>
                </a:solidFill>
              </a:rPr>
              <a:t>Núcleo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6CC714-2304-4A9E-AF74-8F9F8636F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52700"/>
            <a:ext cx="285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4F5D68"/>
                </a:solidFill>
              </a:defRPr>
            </a:pPr>
            <a:r>
              <a:rPr sz="1163" b="0">
                <a:solidFill>
                  <a:srgbClr val="4F5D68"/>
                </a:solidFill>
              </a:rPr>
              <a:t>Microsoft 365 Copilot, Claude Team + Claude Code e Adobe Firefly + Creative Cloud.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031820-D501-44DE-A2DD-C4E1AEF92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952625"/>
            <a:ext cx="3238500" cy="1314450"/>
          </a:xfrm>
          <a:prstGeom xmlns:a="http://schemas.openxmlformats.org/drawingml/2006/main" prst="roundRect">
            <a:avLst>
              <a:gd name="adj" fmla="val 14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DE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4B4E56-7507-400A-95B5-167D19AB8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952625"/>
            <a:ext cx="3238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7A5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56818A-1B01-462D-8CCD-F8BD229E6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20980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26"/>
                </a:solidFill>
              </a:defRPr>
            </a:pPr>
            <a:r>
              <a:rPr sz="1500" b="1">
                <a:solidFill>
                  <a:srgbClr val="172026"/>
                </a:solidFill>
              </a:rPr>
              <a:t>Áudio e voz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11BB00-000C-4111-A78F-2B1871E91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552700"/>
            <a:ext cx="285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4F5D68"/>
                </a:solidFill>
              </a:defRPr>
            </a:pPr>
            <a:r>
              <a:rPr sz="1163" b="0">
                <a:solidFill>
                  <a:srgbClr val="4F5D68"/>
                </a:solidFill>
              </a:rPr>
              <a:t>ElevenLabs é prioritário se narração, dublagem e voiceover não estiverem bem cobertos pela plataforma contratada.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9A372B-1687-44D1-9A82-3B22DD671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952625"/>
            <a:ext cx="3238500" cy="1314450"/>
          </a:xfrm>
          <a:prstGeom xmlns:a="http://schemas.openxmlformats.org/drawingml/2006/main" prst="roundRect">
            <a:avLst>
              <a:gd name="adj" fmla="val 14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DE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ED94E8-79D9-4795-A170-1F723F84B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952625"/>
            <a:ext cx="3238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7A1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222595-FFB2-494D-9E31-AA55638D2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20980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26"/>
                </a:solidFill>
              </a:defRPr>
            </a:pPr>
            <a:r>
              <a:rPr sz="1500" b="1">
                <a:solidFill>
                  <a:srgbClr val="172026"/>
                </a:solidFill>
              </a:rPr>
              <a:t>Especialistas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04E401-45C1-45E8-B98D-8163CBF44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552700"/>
            <a:ext cx="285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4F5D68"/>
                </a:solidFill>
              </a:defRPr>
            </a:pPr>
            <a:r>
              <a:rPr sz="1163" b="0">
                <a:solidFill>
                  <a:srgbClr val="4F5D68"/>
                </a:solidFill>
              </a:rPr>
              <a:t>Perplexity, DeepL, Descript, Fireflies e Adobe Podcast entram por lacuna real.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A2973D-715C-4D11-BE36-8904F2D6E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9886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E82422-48C3-417B-B187-E29264EC4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33875"/>
            <a:ext cx="2333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9F342B"/>
                </a:solidFill>
              </a:defRPr>
            </a:pPr>
            <a:r>
              <a:rPr sz="1800" b="1">
                <a:solidFill>
                  <a:srgbClr val="9F342B"/>
                </a:solidFill>
              </a:rPr>
              <a:t>Não priorizar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3A1112-23AA-465D-B9AD-CC6278E92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305300"/>
            <a:ext cx="7334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4F5D68"/>
                </a:solidFill>
              </a:defRPr>
            </a:pPr>
            <a:r>
              <a:rPr sz="1575" b="0">
                <a:solidFill>
                  <a:srgbClr val="4F5D68"/>
                </a:solidFill>
              </a:rPr>
              <a:t>Copilot Pro individual, Jasper, Gamma como entrega final, SEO dedicado, avatares sintéticos e contas criativas soltas.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8E6929-398D-4E4A-8900-0C394F9C7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2333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026"/>
                </a:solidFill>
              </a:defRPr>
            </a:pPr>
            <a:r>
              <a:rPr sz="1800" b="1">
                <a:solidFill>
                  <a:srgbClr val="172026"/>
                </a:solidFill>
              </a:rPr>
              <a:t>Decisão esperada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FF769D-87DD-4FE2-BD09-CC2C0F3AD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295900"/>
            <a:ext cx="7334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4F5D68"/>
                </a:solidFill>
              </a:defRPr>
            </a:pPr>
            <a:r>
              <a:rPr sz="1575" b="0">
                <a:solidFill>
                  <a:srgbClr val="4F5D68"/>
                </a:solidFill>
              </a:rPr>
              <a:t>Autorizar validação com TI, Jurídico, Compras e usuários-chave, usando ganhos de produção e segurança como critérios.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855D7B3-8C8F-42D8-B88A-C02903F44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7838C"/>
                </a:solidFill>
              </a:defRPr>
            </a:pPr>
            <a:r>
              <a:rPr sz="825" b="0">
                <a:solidFill>
                  <a:srgbClr val="77838C"/>
                </a:solidFill>
              </a:rPr>
              <a:t>VLI | Comunicação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7F6A063-5EF1-4C54-8CCE-A40A0D2E7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7838C"/>
                </a:solidFill>
              </a:defRPr>
            </a:pPr>
            <a:r>
              <a:rPr sz="825" b="0">
                <a:solidFill>
                  <a:srgbClr val="77838C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0362041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27D6F05-86B4-4146-8A07-D6F7F9691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9525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72026"/>
                </a:solidFill>
              </a:defRPr>
            </a:pPr>
            <a:r>
              <a:rPr sz="2475" b="1">
                <a:solidFill>
                  <a:srgbClr val="172026"/>
                </a:solidFill>
              </a:rPr>
              <a:t>Modelo de ganho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CDB031-A0A4-4E30-844F-986AB9A17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962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F5D68"/>
                </a:solidFill>
              </a:defRPr>
            </a:pPr>
            <a:r>
              <a:rPr sz="1350" b="0">
                <a:solidFill>
                  <a:srgbClr val="4F5D68"/>
                </a:solidFill>
              </a:rPr>
              <a:t>A lógica de avaliação é a mesma para LP, campanha, vídeo, comunicado, tradução ou cobertura de evento.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F77753-502A-489B-AA6F-365696468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2381250" cy="1314450"/>
          </a:xfrm>
          <a:prstGeom xmlns:a="http://schemas.openxmlformats.org/drawingml/2006/main" prst="roundRect">
            <a:avLst>
              <a:gd name="adj" fmla="val 14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DE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FD5EB5-B94C-4D5D-93A1-781FD481A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2381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7A1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B6D6A8-66AE-455C-8520-23271813B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0980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26"/>
                </a:solidFill>
              </a:defRPr>
            </a:pPr>
            <a:r>
              <a:rPr sz="1500" b="1">
                <a:solidFill>
                  <a:srgbClr val="172026"/>
                </a:solidFill>
              </a:rPr>
              <a:t>Custo unitário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D23407-EF8F-4B88-B55B-F70F299C0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52700"/>
            <a:ext cx="2000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4F5D68"/>
                </a:solidFill>
              </a:defRPr>
            </a:pPr>
            <a:r>
              <a:rPr sz="1163" b="0">
                <a:solidFill>
                  <a:srgbClr val="4F5D68"/>
                </a:solidFill>
              </a:rPr>
              <a:t>Quanto custa produzir cada entrega hoje, incluindo fornecedor, ajustes e versões.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88C286-D163-4A87-82F7-784C5C331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952625"/>
            <a:ext cx="2381250" cy="1314450"/>
          </a:xfrm>
          <a:prstGeom xmlns:a="http://schemas.openxmlformats.org/drawingml/2006/main" prst="roundRect">
            <a:avLst>
              <a:gd name="adj" fmla="val 14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DE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D5F7A6-2662-403F-8A25-465CF5A4E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952625"/>
            <a:ext cx="2381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4B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77511C-55EE-4A48-B891-6B2802468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20980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26"/>
                </a:solidFill>
              </a:defRPr>
            </a:pPr>
            <a:r>
              <a:rPr sz="1500" b="1">
                <a:solidFill>
                  <a:srgbClr val="172026"/>
                </a:solidFill>
              </a:rPr>
              <a:t>Tempo de ciclo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738A33-FD00-4F88-940D-1A5743F4B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552700"/>
            <a:ext cx="2000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4F5D68"/>
                </a:solidFill>
              </a:defRPr>
            </a:pPr>
            <a:r>
              <a:rPr sz="1163" b="0">
                <a:solidFill>
                  <a:srgbClr val="4F5D68"/>
                </a:solidFill>
              </a:rPr>
              <a:t>Quanto tempo passa entre briefing, primeira versão, aprovação e publicação.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4CF757-6E91-4D57-834C-39D7D131F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952625"/>
            <a:ext cx="2381250" cy="1314450"/>
          </a:xfrm>
          <a:prstGeom xmlns:a="http://schemas.openxmlformats.org/drawingml/2006/main" prst="roundRect">
            <a:avLst>
              <a:gd name="adj" fmla="val 14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DE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6A5AC4-026D-48A5-9257-A041547C0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952625"/>
            <a:ext cx="2381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F34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FCC10B-12AF-43BD-9E6F-D234BB279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20980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26"/>
                </a:solidFill>
              </a:defRPr>
            </a:pPr>
            <a:r>
              <a:rPr sz="1500" b="1">
                <a:solidFill>
                  <a:srgbClr val="172026"/>
                </a:solidFill>
              </a:rPr>
              <a:t>Refação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195187-C0A0-42E8-81E3-D0F2604D3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52700"/>
            <a:ext cx="2000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4F5D68"/>
                </a:solidFill>
              </a:defRPr>
            </a:pPr>
            <a:r>
              <a:rPr sz="1163" b="0">
                <a:solidFill>
                  <a:srgbClr val="4F5D68"/>
                </a:solidFill>
              </a:rPr>
              <a:t>Quantas rodadas de retrabalho acontecem por briefing, revisão ou material incompleto.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7CCC6E-4E70-4751-BEFC-559B3D439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952625"/>
            <a:ext cx="2381250" cy="1314450"/>
          </a:xfrm>
          <a:prstGeom xmlns:a="http://schemas.openxmlformats.org/drawingml/2006/main" prst="roundRect">
            <a:avLst>
              <a:gd name="adj" fmla="val 14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DE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536257-492E-4CEA-88F2-1C63265AF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952625"/>
            <a:ext cx="2381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7A5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BC6138-A952-493D-BCD1-587402EE7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20980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26"/>
                </a:solidFill>
              </a:defRPr>
            </a:pPr>
            <a:r>
              <a:rPr sz="1500" b="1">
                <a:solidFill>
                  <a:srgbClr val="172026"/>
                </a:solidFill>
              </a:rPr>
              <a:t>Autonomia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877660-D919-4924-B198-B7F14F6E4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552700"/>
            <a:ext cx="2000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4F5D68"/>
                </a:solidFill>
              </a:defRPr>
            </a:pPr>
            <a:r>
              <a:rPr sz="1163" b="0">
                <a:solidFill>
                  <a:srgbClr val="4F5D68"/>
                </a:solidFill>
              </a:rPr>
              <a:t>Quais entregas simples podem ser resolvidas sem acionar fornecedor a cada ajuste.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F4978A-9789-4D99-B936-2E22D3020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9886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DD758FB-BC75-427D-87D6-DAE04AA86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026"/>
                </a:solidFill>
              </a:defRPr>
            </a:pPr>
            <a:r>
              <a:rPr sz="1800" b="1">
                <a:solidFill>
                  <a:srgbClr val="172026"/>
                </a:solidFill>
              </a:rPr>
              <a:t>Como aplicar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65F30B5-E703-4CEF-B586-C00670B0E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343400"/>
            <a:ext cx="76676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4F5D68"/>
                </a:solidFill>
              </a:defRPr>
            </a:pPr>
            <a:r>
              <a:rPr sz="1575" b="0">
                <a:solidFill>
                  <a:srgbClr val="4F5D68"/>
                </a:solidFill>
              </a:rPr>
              <a:t>A LP de R$ 14 mil é uma unidade de raciocínio: medir custo atual, prazo, etapas terceirizadas e refações para estimar ganhos similares em páginas, vídeos curtos, traduções, campanhas e adaptações.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D077B36-4FD7-4DFA-BD92-032EA70D7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026"/>
                </a:solidFill>
              </a:defRPr>
            </a:pPr>
            <a:r>
              <a:rPr sz="1800" b="1">
                <a:solidFill>
                  <a:srgbClr val="172026"/>
                </a:solidFill>
              </a:rPr>
              <a:t>Saída esperada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0D08E54-37EA-48C0-B84D-F697F8484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524500"/>
            <a:ext cx="7667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4F5D68"/>
                </a:solidFill>
              </a:defRPr>
            </a:pPr>
            <a:r>
              <a:rPr sz="1575" b="0">
                <a:solidFill>
                  <a:srgbClr val="4F5D68"/>
                </a:solidFill>
              </a:rPr>
              <a:t>Decidir a stack por impacto mensurável, não por preferência de ferramenta.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0C8D834-F8A4-410F-B333-AA9435085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7838C"/>
                </a:solidFill>
              </a:defRPr>
            </a:pPr>
            <a:r>
              <a:rPr sz="825" b="0">
                <a:solidFill>
                  <a:srgbClr val="77838C"/>
                </a:solidFill>
              </a:rPr>
              <a:t>VLI | Comunicação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A70EF4E-22F1-4D0E-BBC2-BA63791DF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7838C"/>
                </a:solidFill>
              </a:defRPr>
            </a:pPr>
            <a:r>
              <a:rPr sz="825" b="0">
                <a:solidFill>
                  <a:srgbClr val="77838C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472575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7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3B36EE0-8C46-48C5-9649-1C927169F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9525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72026"/>
                </a:solidFill>
              </a:defRPr>
            </a:pPr>
            <a:r>
              <a:rPr sz="2475" b="1">
                <a:solidFill>
                  <a:srgbClr val="172026"/>
                </a:solidFill>
              </a:rPr>
              <a:t>Onde cada ferramenta otimiza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7087C7-9AFA-4D1D-85F6-4CDA739CE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962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F5D68"/>
                </a:solidFill>
              </a:defRPr>
            </a:pPr>
            <a:r>
              <a:rPr sz="1350" b="0">
                <a:solidFill>
                  <a:srgbClr val="4F5D68"/>
                </a:solidFill>
              </a:rPr>
              <a:t>A recomendação só se sustenta se cada ferramenta tiver papel claro no custo, no prazo ou na qualidade.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5504B7-034A-4E51-844B-C0FB7843E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764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77838C"/>
                </a:solidFill>
              </a:defRPr>
            </a:pPr>
            <a:r>
              <a:rPr sz="938" b="1">
                <a:solidFill>
                  <a:srgbClr val="77838C"/>
                </a:solidFill>
              </a:rPr>
              <a:t>Ferramenta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F60BFF-AAC1-4EC4-AAA3-1A25CD8F4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6764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77838C"/>
                </a:solidFill>
              </a:defRPr>
            </a:pPr>
            <a:r>
              <a:rPr sz="938" b="1">
                <a:solidFill>
                  <a:srgbClr val="77838C"/>
                </a:solidFill>
              </a:rPr>
              <a:t>O que faz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184A66-B06C-45F9-A047-DF63778A8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1676400"/>
            <a:ext cx="233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77838C"/>
                </a:solidFill>
              </a:defRPr>
            </a:pPr>
            <a:r>
              <a:rPr sz="938" b="1">
                <a:solidFill>
                  <a:srgbClr val="77838C"/>
                </a:solidFill>
              </a:rPr>
              <a:t>O que resolve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1D33A8-0DA8-4090-9566-D7A1A3BB6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76400"/>
            <a:ext cx="2428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77838C"/>
                </a:solidFill>
              </a:defRPr>
            </a:pPr>
            <a:r>
              <a:rPr sz="938" b="1">
                <a:solidFill>
                  <a:srgbClr val="77838C"/>
                </a:solidFill>
              </a:rPr>
              <a:t>Ganho previsto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3D5FEB-1283-4937-8F72-8D13BDEEF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4B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386C0D-2A91-4B01-BC32-5046AE654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3835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0E74BA"/>
                </a:solidFill>
              </a:defRPr>
            </a:pPr>
            <a:r>
              <a:rPr sz="1088" b="1">
                <a:solidFill>
                  <a:srgbClr val="0E74BA"/>
                </a:solidFill>
              </a:rPr>
              <a:t>Claude Team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B85F88-8EB1-4DDF-8691-F06BF6E49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03835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4F5D68"/>
                </a:solidFill>
              </a:defRPr>
            </a:pPr>
            <a:r>
              <a:rPr sz="1088" b="0">
                <a:solidFill>
                  <a:srgbClr val="4F5D68"/>
                </a:solidFill>
              </a:rPr>
              <a:t>redação, revisão, síntese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0AF078-5CF5-4A88-865B-4DF611575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038350"/>
            <a:ext cx="2333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4F5D68"/>
                </a:solidFill>
              </a:defRPr>
            </a:pPr>
            <a:r>
              <a:rPr sz="1088" b="0">
                <a:solidFill>
                  <a:srgbClr val="4F5D68"/>
                </a:solidFill>
              </a:rPr>
              <a:t>texto fraco, briefing ruim, retrabalho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862951-6915-44BE-A90B-A69659583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038350"/>
            <a:ext cx="24288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4F5D68"/>
                </a:solidFill>
              </a:defRPr>
            </a:pPr>
            <a:r>
              <a:rPr sz="1088" b="0">
                <a:solidFill>
                  <a:srgbClr val="4F5D68"/>
                </a:solidFill>
              </a:rPr>
              <a:t>mais qualidade e menos refação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53F337-5E73-4F60-BE8E-87ACD333B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5270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703A4A-C2D8-4A83-B7EA-CF6C85F38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0985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0E74BA"/>
                </a:solidFill>
              </a:defRPr>
            </a:pPr>
            <a:r>
              <a:rPr sz="1088" b="1">
                <a:solidFill>
                  <a:srgbClr val="0E74BA"/>
                </a:solidFill>
              </a:rPr>
              <a:t>Claude Code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0008E1-A0DD-43D0-A7AF-03416939D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60985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4F5D68"/>
                </a:solidFill>
              </a:defRPr>
            </a:pPr>
            <a:r>
              <a:rPr sz="1088" b="0">
                <a:solidFill>
                  <a:srgbClr val="4F5D68"/>
                </a:solidFill>
              </a:rPr>
              <a:t>páginas e protótipos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7BC00E-8260-458D-95F4-34A4635CC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609850"/>
            <a:ext cx="2333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4F5D68"/>
                </a:solidFill>
              </a:defRPr>
            </a:pPr>
            <a:r>
              <a:rPr sz="1088" b="0">
                <a:solidFill>
                  <a:srgbClr val="4F5D68"/>
                </a:solidFill>
              </a:rPr>
              <a:t>fila para ajustes digitais simples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6A58B9-94E7-4B5A-9A6A-FFE0657FE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609850"/>
            <a:ext cx="24288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4F5D68"/>
                </a:solidFill>
              </a:defRPr>
            </a:pPr>
            <a:r>
              <a:rPr sz="1088" b="0">
                <a:solidFill>
                  <a:srgbClr val="4F5D68"/>
                </a:solidFill>
              </a:rPr>
              <a:t>mais autonomia em LPs e hotsites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31BAE9-EC1D-4C8E-A069-13EA870A2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2420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896C9B-CC58-44D4-AF38-883314F6E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8135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073F63"/>
                </a:solidFill>
              </a:defRPr>
            </a:pPr>
            <a:r>
              <a:rPr sz="1088" b="1">
                <a:solidFill>
                  <a:srgbClr val="073F63"/>
                </a:solidFill>
              </a:rPr>
              <a:t>Microsoft Copilot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0D94973-96F8-49B8-BF98-6FFDB0EE7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18135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4F5D68"/>
                </a:solidFill>
              </a:defRPr>
            </a:pPr>
            <a:r>
              <a:rPr sz="1088" b="0">
                <a:solidFill>
                  <a:srgbClr val="4F5D68"/>
                </a:solidFill>
              </a:rPr>
              <a:t>reuniões, documentos, SharePoint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10DC0C4-21F8-48D5-A253-40C34785E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3181350"/>
            <a:ext cx="2333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4F5D68"/>
                </a:solidFill>
              </a:defRPr>
            </a:pPr>
            <a:r>
              <a:rPr sz="1088" b="0">
                <a:solidFill>
                  <a:srgbClr val="4F5D68"/>
                </a:solidFill>
              </a:rPr>
              <a:t>perda de decisão e busca manual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A52E7AB-8F10-493A-B18A-B768F3511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181350"/>
            <a:ext cx="24288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4F5D68"/>
                </a:solidFill>
              </a:defRPr>
            </a:pPr>
            <a:r>
              <a:rPr sz="1088" b="0">
                <a:solidFill>
                  <a:srgbClr val="4F5D68"/>
                </a:solidFill>
              </a:rPr>
              <a:t>governança e produtividade interna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3FAED16-9522-4637-8B69-708F3D35A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9570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573B341-4C6E-4B87-85AD-4D980A4A2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5285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EF7A1D"/>
                </a:solidFill>
              </a:defRPr>
            </a:pPr>
            <a:r>
              <a:rPr sz="1088" b="1">
                <a:solidFill>
                  <a:srgbClr val="EF7A1D"/>
                </a:solidFill>
              </a:rPr>
              <a:t>Adobe Firefly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1E31CC3-F62B-45CE-84D8-9ADE38D63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75285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4F5D68"/>
                </a:solidFill>
              </a:defRPr>
            </a:pPr>
            <a:r>
              <a:rPr sz="1088" b="0">
                <a:solidFill>
                  <a:srgbClr val="4F5D68"/>
                </a:solidFill>
              </a:rPr>
              <a:t>imagem, vídeo, assets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ED8B141-BACB-4518-BBBA-0581A5D42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3752850"/>
            <a:ext cx="2333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4F5D68"/>
                </a:solidFill>
              </a:defRPr>
            </a:pPr>
            <a:r>
              <a:rPr sz="1088" b="0">
                <a:solidFill>
                  <a:srgbClr val="4F5D68"/>
                </a:solidFill>
              </a:rPr>
              <a:t>peça simples externa e risco visual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E49EE81-5856-4521-93F1-DD5F753CA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752850"/>
            <a:ext cx="24288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4F5D68"/>
                </a:solidFill>
              </a:defRPr>
            </a:pPr>
            <a:r>
              <a:rPr sz="1088" b="0">
                <a:solidFill>
                  <a:srgbClr val="4F5D68"/>
                </a:solidFill>
              </a:rPr>
              <a:t>criação premium defensável para TI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D79127D-6DBB-4F61-81B0-912F81C25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0A91DEE-86CD-4653-962B-B9999E18D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2435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D7A54"/>
                </a:solidFill>
              </a:defRPr>
            </a:pPr>
            <a:r>
              <a:rPr sz="1088" b="1">
                <a:solidFill>
                  <a:srgbClr val="1D7A54"/>
                </a:solidFill>
              </a:rPr>
              <a:t>ElevenLabs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DB4D890-6CB2-412A-B71B-7DEC8A211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32435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4F5D68"/>
                </a:solidFill>
              </a:defRPr>
            </a:pPr>
            <a:r>
              <a:rPr sz="1088" b="0">
                <a:solidFill>
                  <a:srgbClr val="4F5D68"/>
                </a:solidFill>
              </a:rPr>
              <a:t>voz, narração, dublagem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2F8B300-9BEC-4676-B62E-E041DF9F0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4324350"/>
            <a:ext cx="2333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4F5D68"/>
                </a:solidFill>
              </a:defRPr>
            </a:pPr>
            <a:r>
              <a:rPr sz="1088" b="0">
                <a:solidFill>
                  <a:srgbClr val="4F5D68"/>
                </a:solidFill>
              </a:rPr>
              <a:t>áudio/voz sem solução eficiente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2F4C129-5220-4D35-B790-F8C3D15D2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324350"/>
            <a:ext cx="24288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4F5D68"/>
                </a:solidFill>
              </a:defRPr>
            </a:pPr>
            <a:r>
              <a:rPr sz="1088" b="0">
                <a:solidFill>
                  <a:srgbClr val="4F5D68"/>
                </a:solidFill>
              </a:rPr>
              <a:t>voiceover e versões internacionais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6B2A565-BDAE-4CB5-8672-A3EF9E0A9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3870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E559C43-23B9-46BA-AC9A-1E42DEA6A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9585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0E74BA"/>
                </a:solidFill>
              </a:defRPr>
            </a:pPr>
            <a:r>
              <a:rPr sz="1088" b="1">
                <a:solidFill>
                  <a:srgbClr val="0E74BA"/>
                </a:solidFill>
              </a:rPr>
              <a:t>Perplexity / DeepL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37887DE-B007-4709-9521-0290A513C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89585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4F5D68"/>
                </a:solidFill>
              </a:defRPr>
            </a:pPr>
            <a:r>
              <a:rPr sz="1088" b="0">
                <a:solidFill>
                  <a:srgbClr val="4F5D68"/>
                </a:solidFill>
              </a:rPr>
              <a:t>pesquisa e tradução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35C066C-A08D-4D44-8775-B3310C7E4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4895850"/>
            <a:ext cx="2333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4F5D68"/>
                </a:solidFill>
              </a:defRPr>
            </a:pPr>
            <a:r>
              <a:rPr sz="1088" b="0">
                <a:solidFill>
                  <a:srgbClr val="4F5D68"/>
                </a:solidFill>
              </a:rPr>
              <a:t>risco factual e tradução inconsistente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C129CD6-4039-4A47-9852-E8A586A6C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895850"/>
            <a:ext cx="24288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4F5D68"/>
                </a:solidFill>
              </a:defRPr>
            </a:pPr>
            <a:r>
              <a:rPr sz="1088" b="0">
                <a:solidFill>
                  <a:srgbClr val="4F5D68"/>
                </a:solidFill>
              </a:rPr>
              <a:t>conteúdo mais confiável e adaptado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7B3FB9A-FFD1-4369-8575-E84F503FE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1020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6AA3D2D-2398-4F2D-A354-9E3E4F08A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7838C"/>
                </a:solidFill>
              </a:defRPr>
            </a:pPr>
            <a:r>
              <a:rPr sz="825" b="0">
                <a:solidFill>
                  <a:srgbClr val="77838C"/>
                </a:solidFill>
              </a:rPr>
              <a:t>VLI | Comunicação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09350CF-2A06-4EB0-AE86-CA45F7A2D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7838C"/>
                </a:solidFill>
              </a:defRPr>
            </a:pPr>
            <a:r>
              <a:rPr sz="825" b="0">
                <a:solidFill>
                  <a:srgbClr val="77838C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55006861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7D94F7-4353-453F-8CF0-CE081E0F5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9525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72026"/>
                </a:solidFill>
              </a:defRPr>
            </a:pPr>
            <a:r>
              <a:rPr sz="2475" b="1">
                <a:solidFill>
                  <a:srgbClr val="172026"/>
                </a:solidFill>
              </a:rPr>
              <a:t>Áudio e voz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31EAC0-A09D-46AB-BE9F-4B3C1BABC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962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F5D68"/>
                </a:solidFill>
              </a:defRPr>
            </a:pPr>
            <a:r>
              <a:rPr sz="1350" b="0">
                <a:solidFill>
                  <a:srgbClr val="4F5D68"/>
                </a:solidFill>
              </a:rPr>
              <a:t>Essa camada precisa ficar explícita porque a stack principal não cobre tudo com a mesma eficiência.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AF5B2E-88AB-4EA3-90B1-9FD2C4AB1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05000"/>
            <a:ext cx="48387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048A46-708E-4166-903A-023CF8C19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905000"/>
            <a:ext cx="48387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DE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C06480-0357-45F0-9817-CAC705A80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3837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D7A54"/>
                </a:solidFill>
              </a:defRPr>
            </a:pPr>
            <a:r>
              <a:rPr sz="1875" b="1">
                <a:solidFill>
                  <a:srgbClr val="1D7A54"/>
                </a:solidFill>
              </a:rPr>
              <a:t>Recomendação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FD0639-3342-462A-AED5-B8C95B6B3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38450"/>
            <a:ext cx="37147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026"/>
                </a:solidFill>
              </a:defRPr>
            </a:pPr>
            <a:r>
              <a:rPr sz="1575" b="0">
                <a:solidFill>
                  <a:srgbClr val="172026"/>
                </a:solidFill>
              </a:rPr>
              <a:t>ElevenLabs deve ser tratado como ferramenta prioritária para narração, dublagem, voiceover, versões internacionais e áudio sintético de qualidade.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361FF8-1C97-42F1-BB10-A5A885CA6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23837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026"/>
                </a:solidFill>
              </a:defRPr>
            </a:pPr>
            <a:r>
              <a:rPr sz="1875" b="1">
                <a:solidFill>
                  <a:srgbClr val="172026"/>
                </a:solidFill>
              </a:rPr>
              <a:t>Por quê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A68836-C91A-48E8-97BF-A86E70150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838450"/>
            <a:ext cx="37147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4F5D68"/>
                </a:solidFill>
              </a:defRPr>
            </a:pPr>
            <a:r>
              <a:rPr sz="1575" b="0">
                <a:solidFill>
                  <a:srgbClr val="4F5D68"/>
                </a:solidFill>
              </a:rPr>
              <a:t>Claude escreve roteiro, Adobe edita e gera visual, Microsoft organiza reuniões. Nenhuma dessas camadas resolve áudio e voz premium de ponta a ponta com a mesma eficiência.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4DBB71-7C8D-48A2-9741-C3E1DE164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9886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F085DB-B4E7-4E69-8B64-0318439F9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86375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026"/>
                </a:solidFill>
              </a:defRPr>
            </a:pPr>
            <a:r>
              <a:rPr sz="1725" b="1">
                <a:solidFill>
                  <a:srgbClr val="172026"/>
                </a:solidFill>
              </a:rPr>
              <a:t>Condição de uso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71F457-C8C9-4A43-9AC5-7A1434E92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238750"/>
            <a:ext cx="7429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F5D68"/>
                </a:solidFill>
              </a:defRPr>
            </a:pPr>
            <a:r>
              <a:rPr sz="1500" b="0">
                <a:solidFill>
                  <a:srgbClr val="4F5D68"/>
                </a:solidFill>
              </a:rPr>
              <a:t>Uso de voz sintética exige consentimento, identificação quando necessário, política de uso, segurança enterprise e aprovação de Comunicação/Jurídico.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1277E4-D857-479A-9B99-801603C29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7838C"/>
                </a:solidFill>
              </a:defRPr>
            </a:pPr>
            <a:r>
              <a:rPr sz="825" b="0">
                <a:solidFill>
                  <a:srgbClr val="77838C"/>
                </a:solidFill>
              </a:rPr>
              <a:t>VLI | Comunicação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CB0B8A-5020-49AE-83D6-4ABC5ED51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7838C"/>
                </a:solidFill>
              </a:defRPr>
            </a:pPr>
            <a:r>
              <a:rPr sz="825" b="0">
                <a:solidFill>
                  <a:srgbClr val="77838C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42744795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7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59005BD-0EE6-495B-82FF-4F3BF6788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9525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72026"/>
                </a:solidFill>
              </a:defRPr>
            </a:pPr>
            <a:r>
              <a:rPr sz="2475" b="1">
                <a:solidFill>
                  <a:srgbClr val="172026"/>
                </a:solidFill>
              </a:rPr>
              <a:t>Fluxos de maior impacto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73D00C-1FA0-459E-A057-6D99D5EFE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962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F5D68"/>
                </a:solidFill>
              </a:defRPr>
            </a:pPr>
            <a:r>
              <a:rPr sz="1350" b="0">
                <a:solidFill>
                  <a:srgbClr val="4F5D68"/>
                </a:solidFill>
              </a:rPr>
              <a:t>O ganho precisa aparecer no trabalho real, não em demonstrações isoladas.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AA8876-8324-4953-930A-8F3F5B20A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619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77838C"/>
                </a:solidFill>
              </a:defRPr>
            </a:pPr>
            <a:r>
              <a:rPr sz="938" b="1">
                <a:solidFill>
                  <a:srgbClr val="77838C"/>
                </a:solidFill>
              </a:rPr>
              <a:t>Fluxo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66747E-F389-4073-8404-253797FB8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695450"/>
            <a:ext cx="3333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77838C"/>
                </a:solidFill>
              </a:defRPr>
            </a:pPr>
            <a:r>
              <a:rPr sz="938" b="1">
                <a:solidFill>
                  <a:srgbClr val="77838C"/>
                </a:solidFill>
              </a:rPr>
              <a:t>Stack aplicada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18BB5A-7792-4F17-B49E-59B0672DF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1695450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77838C"/>
                </a:solidFill>
              </a:defRPr>
            </a:pPr>
            <a:r>
              <a:rPr sz="938" b="1">
                <a:solidFill>
                  <a:srgbClr val="77838C"/>
                </a:solidFill>
              </a:rPr>
              <a:t>Melhoria esperada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BAA141-7585-48AE-9EEC-C4A8A2CDF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4B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94C5A6-A888-4959-8827-4FCA06A9E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95500"/>
            <a:ext cx="1619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6"/>
                </a:solidFill>
              </a:defRPr>
            </a:pPr>
            <a:r>
              <a:rPr sz="1125" b="1">
                <a:solidFill>
                  <a:srgbClr val="172026"/>
                </a:solidFill>
              </a:rPr>
              <a:t>Campanha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6F3722-530A-44CB-9E5D-2F3B3F1CD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095500"/>
            <a:ext cx="2524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4F5D68"/>
                </a:solidFill>
              </a:defRPr>
            </a:pPr>
            <a:r>
              <a:rPr sz="1088" b="0">
                <a:solidFill>
                  <a:srgbClr val="4F5D68"/>
                </a:solidFill>
              </a:rPr>
              <a:t>briefing e fornecedores em sequência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A52171-2FF5-40F1-9BEE-9D4807AF5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095500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0E74BA"/>
                </a:solidFill>
              </a:defRPr>
            </a:pPr>
            <a:r>
              <a:rPr sz="1088" b="1">
                <a:solidFill>
                  <a:srgbClr val="0E74BA"/>
                </a:solidFill>
              </a:rPr>
              <a:t>Perplexity + Claude + Adobe + Microsoft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EF125F-6657-41C8-9EAB-F52D4695F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095500"/>
            <a:ext cx="2333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4F5D68"/>
                </a:solidFill>
              </a:defRPr>
            </a:pPr>
            <a:r>
              <a:rPr sz="1088" b="0">
                <a:solidFill>
                  <a:srgbClr val="4F5D68"/>
                </a:solidFill>
              </a:rPr>
              <a:t>menos espera entre conceito, peça, página e aprovação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78272A-3CB4-47D6-9A3F-05E3401D9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673B33-0A65-45A5-BDF2-7CC284EF9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43200"/>
            <a:ext cx="1619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6"/>
                </a:solidFill>
              </a:defRPr>
            </a:pPr>
            <a:r>
              <a:rPr sz="1125" b="1">
                <a:solidFill>
                  <a:srgbClr val="172026"/>
                </a:solidFill>
              </a:rPr>
              <a:t>Release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D25DD9-EA37-41DE-8786-6BA643523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743200"/>
            <a:ext cx="2524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4F5D68"/>
                </a:solidFill>
              </a:defRPr>
            </a:pPr>
            <a:r>
              <a:rPr sz="1088" b="0">
                <a:solidFill>
                  <a:srgbClr val="4F5D68"/>
                </a:solidFill>
              </a:rPr>
              <a:t>texto, fonte e tradução separados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4D409D-74CA-45FB-BD90-484FA6BF0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743200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0E74BA"/>
                </a:solidFill>
              </a:defRPr>
            </a:pPr>
            <a:r>
              <a:rPr sz="1088" b="1">
                <a:solidFill>
                  <a:srgbClr val="0E74BA"/>
                </a:solidFill>
              </a:rPr>
              <a:t>Perplexity + Claude + DeepL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0BB73F-CBBE-439E-A0AD-3DF88AB81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743200"/>
            <a:ext cx="2333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4F5D68"/>
                </a:solidFill>
              </a:defRPr>
            </a:pPr>
            <a:r>
              <a:rPr sz="1088" b="0">
                <a:solidFill>
                  <a:srgbClr val="4F5D68"/>
                </a:solidFill>
              </a:rPr>
              <a:t>mais lastro factual e menos revisão tardia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7428E8-9D11-4E55-A9C5-17F615533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565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E8EA03-E709-4824-A5A0-8CB2DF7FF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90900"/>
            <a:ext cx="1619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6"/>
                </a:solidFill>
              </a:defRPr>
            </a:pPr>
            <a:r>
              <a:rPr sz="1125" b="1">
                <a:solidFill>
                  <a:srgbClr val="172026"/>
                </a:solidFill>
              </a:rPr>
              <a:t>Landing page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8F8674-16D4-4018-9B70-2FC3DA936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390900"/>
            <a:ext cx="2524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4F5D68"/>
                </a:solidFill>
              </a:defRPr>
            </a:pPr>
            <a:r>
              <a:rPr sz="1088" b="0">
                <a:solidFill>
                  <a:srgbClr val="4F5D68"/>
                </a:solidFill>
              </a:rPr>
              <a:t>custo unitário e prazo altos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BF608E-6718-4994-876A-E4D34FDC7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390900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0E74BA"/>
                </a:solidFill>
              </a:defRPr>
            </a:pPr>
            <a:r>
              <a:rPr sz="1088" b="1">
                <a:solidFill>
                  <a:srgbClr val="0E74BA"/>
                </a:solidFill>
              </a:rPr>
              <a:t>Claude + Claude Code + Adobe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7393F32-606F-4F43-9898-966A779C2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3390900"/>
            <a:ext cx="2333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4F5D68"/>
                </a:solidFill>
              </a:defRPr>
            </a:pPr>
            <a:r>
              <a:rPr sz="1088" b="0">
                <a:solidFill>
                  <a:srgbClr val="4F5D68"/>
                </a:solidFill>
              </a:rPr>
              <a:t>menos fila e mais autonomia em páginas simples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B6D1A3D-8001-4B6A-B113-294423E6D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4335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494FA7F-4730-4E5F-9F9D-8A1C26E3F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38600"/>
            <a:ext cx="1619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6"/>
                </a:solidFill>
              </a:defRPr>
            </a:pPr>
            <a:r>
              <a:rPr sz="1125" b="1">
                <a:solidFill>
                  <a:srgbClr val="172026"/>
                </a:solidFill>
              </a:rPr>
              <a:t>Vídeo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B305E4A-0516-4274-9843-164CF2EF9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038600"/>
            <a:ext cx="2524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4F5D68"/>
                </a:solidFill>
              </a:defRPr>
            </a:pPr>
            <a:r>
              <a:rPr sz="1088" b="0">
                <a:solidFill>
                  <a:srgbClr val="4F5D68"/>
                </a:solidFill>
              </a:rPr>
              <a:t>imagem, edição e voz fragmentadas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FAFACD6-5045-46D9-917C-152D92195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038600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0E74BA"/>
                </a:solidFill>
              </a:defRPr>
            </a:pPr>
            <a:r>
              <a:rPr sz="1088" b="1">
                <a:solidFill>
                  <a:srgbClr val="0E74BA"/>
                </a:solidFill>
              </a:rPr>
              <a:t>Firefly + Runway/Veo + ElevenLabs + Descript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B8BD726-3322-4744-863D-269A8CF90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038600"/>
            <a:ext cx="2333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4F5D68"/>
                </a:solidFill>
              </a:defRPr>
            </a:pPr>
            <a:r>
              <a:rPr sz="1088" b="0">
                <a:solidFill>
                  <a:srgbClr val="4F5D68"/>
                </a:solidFill>
              </a:rPr>
              <a:t>b-roll, voz, dublagem, cortes e versões sociais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C617962-31A4-4030-B9CE-C955ADA16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9105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81228AE-D95C-4A65-83F2-F7BA21103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86300"/>
            <a:ext cx="1619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6"/>
                </a:solidFill>
              </a:defRPr>
            </a:pPr>
            <a:r>
              <a:rPr sz="1125" b="1">
                <a:solidFill>
                  <a:srgbClr val="172026"/>
                </a:solidFill>
              </a:rPr>
              <a:t>Reuniões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8A8920C-9D68-4C06-BE04-CF2DEA287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686300"/>
            <a:ext cx="2524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4F5D68"/>
                </a:solidFill>
              </a:defRPr>
            </a:pPr>
            <a:r>
              <a:rPr sz="1088" b="0">
                <a:solidFill>
                  <a:srgbClr val="4F5D68"/>
                </a:solidFill>
              </a:rPr>
              <a:t>decisões se perdem entre áreas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4B99021-D69F-48E8-A40B-26B872A5D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686300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0E74BA"/>
                </a:solidFill>
              </a:defRPr>
            </a:pPr>
            <a:r>
              <a:rPr sz="1088" b="1">
                <a:solidFill>
                  <a:srgbClr val="0E74BA"/>
                </a:solidFill>
              </a:rPr>
              <a:t>Copilot ou Fireflies + Claude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BBAFE12-F4A0-42D1-B2C2-BFA71DE8C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686300"/>
            <a:ext cx="2333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4F5D68"/>
                </a:solidFill>
              </a:defRPr>
            </a:pPr>
            <a:r>
              <a:rPr sz="1088" b="0">
                <a:solidFill>
                  <a:srgbClr val="4F5D68"/>
                </a:solidFill>
              </a:rPr>
              <a:t>ata, ações e briefing executivo em menos tempo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CD73F8C-E945-4B9E-8F0C-36F290B94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AD5DAF0-26BA-4C2C-A9DA-074FF73D6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7838C"/>
                </a:solidFill>
              </a:defRPr>
            </a:pPr>
            <a:r>
              <a:rPr sz="825" b="0">
                <a:solidFill>
                  <a:srgbClr val="77838C"/>
                </a:solidFill>
              </a:rPr>
              <a:t>VLI | Comunicação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F46816F-9C0B-48A6-8F50-A986A7DB2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7838C"/>
                </a:solidFill>
              </a:defRPr>
            </a:pPr>
            <a:r>
              <a:rPr sz="825" b="0">
                <a:solidFill>
                  <a:srgbClr val="77838C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75308860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9CE5308-8F2F-4573-B7BE-759DF6091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9525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72026"/>
                </a:solidFill>
              </a:defRPr>
            </a:pPr>
            <a:r>
              <a:rPr sz="2475" b="1">
                <a:solidFill>
                  <a:srgbClr val="172026"/>
                </a:solidFill>
              </a:rPr>
              <a:t>Segurança e governança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075A6B-E2F9-4210-BF31-6FBDE3AE2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962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F5D68"/>
                </a:solidFill>
              </a:defRPr>
            </a:pPr>
            <a:r>
              <a:rPr sz="1350" b="0">
                <a:solidFill>
                  <a:srgbClr val="4F5D68"/>
                </a:solidFill>
              </a:rPr>
              <a:t>Critérios que definem se uma ferramenta pode sair de teste para uso real.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8470A6-626B-4B14-B34F-4AD1BA726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209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77838C"/>
                </a:solidFill>
              </a:defRPr>
            </a:pPr>
            <a:r>
              <a:rPr sz="938" b="1">
                <a:solidFill>
                  <a:srgbClr val="77838C"/>
                </a:solidFill>
              </a:rPr>
              <a:t>Critério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F12139-0108-4D8A-988C-11B52A628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6954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77838C"/>
                </a:solidFill>
              </a:defRPr>
            </a:pPr>
            <a:r>
              <a:rPr sz="938" b="1">
                <a:solidFill>
                  <a:srgbClr val="77838C"/>
                </a:solidFill>
              </a:rPr>
              <a:t>O que precisa estar claro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E0C4F6-9B15-4DB3-9D65-69F95CFFE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69545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77838C"/>
                </a:solidFill>
              </a:defRPr>
            </a:pPr>
            <a:r>
              <a:rPr sz="938" b="1">
                <a:solidFill>
                  <a:srgbClr val="77838C"/>
                </a:solidFill>
              </a:rPr>
              <a:t>Impacto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644125-902B-47DC-87D9-BCBC2D354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4B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75B5CC-E59A-424C-9F69-CC17E72CC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7645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72026"/>
                </a:solidFill>
              </a:defRPr>
            </a:pPr>
            <a:r>
              <a:rPr sz="1088" b="1">
                <a:solidFill>
                  <a:srgbClr val="172026"/>
                </a:solidFill>
              </a:rPr>
              <a:t>Dados e treinamento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A5FE84-4AED-45CE-806A-1AF63F375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076450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4F5D68"/>
                </a:solidFill>
              </a:defRPr>
            </a:pPr>
            <a:r>
              <a:rPr sz="1088" b="0">
                <a:solidFill>
                  <a:srgbClr val="4F5D68"/>
                </a:solidFill>
              </a:rPr>
              <a:t>Prompts, arquivos e outputs não podem treinar modelos por padrão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D86E99-8B9E-48B5-9C0F-ACBAFECBB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7645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4F5D68"/>
                </a:solidFill>
              </a:defRPr>
            </a:pPr>
            <a:r>
              <a:rPr sz="1088" b="0">
                <a:solidFill>
                  <a:srgbClr val="4F5D68"/>
                </a:solidFill>
              </a:rPr>
              <a:t>requisito eliminatório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848BB2-C263-41E8-83BA-446363912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985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A04DF3-91A3-4412-81B8-BACC515FC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0510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72026"/>
                </a:solidFill>
              </a:defRPr>
            </a:pPr>
            <a:r>
              <a:rPr sz="1088" b="1">
                <a:solidFill>
                  <a:srgbClr val="172026"/>
                </a:solidFill>
              </a:rPr>
              <a:t>PI e uso comercial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FC758E-813B-47EF-9C51-326549F74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705100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4F5D68"/>
                </a:solidFill>
              </a:defRPr>
            </a:pPr>
            <a:r>
              <a:rPr sz="1088" b="0">
                <a:solidFill>
                  <a:srgbClr val="4F5D68"/>
                </a:solidFill>
              </a:rPr>
              <a:t>Peças externas exigem termos claros e proteção comercial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EFD9F0-A72C-4FBD-9E14-35701691A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051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4F5D68"/>
                </a:solidFill>
              </a:defRPr>
            </a:pPr>
            <a:r>
              <a:rPr sz="1088" b="0">
                <a:solidFill>
                  <a:srgbClr val="4F5D68"/>
                </a:solidFill>
              </a:rPr>
              <a:t>favorece Adobe em criação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56BD0C-B1D7-4B96-9A97-C6F6593F5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9296D6-17D0-4D87-9D05-6A7589B24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3375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72026"/>
                </a:solidFill>
              </a:defRPr>
            </a:pPr>
            <a:r>
              <a:rPr sz="1088" b="1">
                <a:solidFill>
                  <a:srgbClr val="172026"/>
                </a:solidFill>
              </a:rPr>
              <a:t>SSO, admin e logs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152FB7-1B2B-4DB4-9F39-647EC6011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333750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4F5D68"/>
                </a:solidFill>
              </a:defRPr>
            </a:pPr>
            <a:r>
              <a:rPr sz="1088" b="0">
                <a:solidFill>
                  <a:srgbClr val="4F5D68"/>
                </a:solidFill>
              </a:rPr>
              <a:t>TI precisa controlar acesso, desligamento e rastreabilidade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E2A181-4B71-472A-9899-18069D8CD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33375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4F5D68"/>
                </a:solidFill>
              </a:defRPr>
            </a:pPr>
            <a:r>
              <a:rPr sz="1088" b="0">
                <a:solidFill>
                  <a:srgbClr val="4F5D68"/>
                </a:solidFill>
              </a:rPr>
              <a:t>favorece planos enterprise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FA30E7D-5936-4362-84DF-21D86AE3C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070E98F-6D2D-468D-A55E-FC2237191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6240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72026"/>
                </a:solidFill>
              </a:defRPr>
            </a:pPr>
            <a:r>
              <a:rPr sz="1088" b="1">
                <a:solidFill>
                  <a:srgbClr val="172026"/>
                </a:solidFill>
              </a:rPr>
              <a:t>Áudio e voz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F82049D-AF8C-44ED-84C7-E50A6718E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962400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4F5D68"/>
                </a:solidFill>
              </a:defRPr>
            </a:pPr>
            <a:r>
              <a:rPr sz="1088" b="0">
                <a:solidFill>
                  <a:srgbClr val="4F5D68"/>
                </a:solidFill>
              </a:rPr>
              <a:t>Consentimento, identificação, política de uso e segurança enterprise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0214F84-F601-4533-B105-4C7FAAC32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9624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4F5D68"/>
                </a:solidFill>
              </a:defRPr>
            </a:pPr>
            <a:r>
              <a:rPr sz="1088" b="0">
                <a:solidFill>
                  <a:srgbClr val="4F5D68"/>
                </a:solidFill>
              </a:rPr>
              <a:t>necessário para ElevenLabs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0237098-92E5-498E-89B7-69FFB0F48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9580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C252EC8-AFB3-43E3-A17A-894E4AB2D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9105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72026"/>
                </a:solidFill>
              </a:defRPr>
            </a:pPr>
            <a:r>
              <a:rPr sz="1088" b="1">
                <a:solidFill>
                  <a:srgbClr val="172026"/>
                </a:solidFill>
              </a:rPr>
              <a:t>Modelos parceiros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016C9B0-F086-40CE-A951-96B4CE320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591050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4F5D68"/>
                </a:solidFill>
              </a:defRPr>
            </a:pPr>
            <a:r>
              <a:rPr sz="1088" b="0">
                <a:solidFill>
                  <a:srgbClr val="4F5D68"/>
                </a:solidFill>
              </a:rPr>
              <a:t>Runway, Veo e ElevenLabs no Firefly exigem validação específica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981E0F4-DC66-4A60-B3E2-646C60865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9105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4F5D68"/>
                </a:solidFill>
              </a:defRPr>
            </a:pPr>
            <a:r>
              <a:rPr sz="1088" b="0">
                <a:solidFill>
                  <a:srgbClr val="4F5D68"/>
                </a:solidFill>
              </a:rPr>
              <a:t>usar hub governado, não contas soltas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77976DB-C6E2-41B8-A0E8-1B0AB7B62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2445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23337FE-AA07-476D-8887-B1B93B6C8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7838C"/>
                </a:solidFill>
              </a:defRPr>
            </a:pPr>
            <a:r>
              <a:rPr sz="825" b="0">
                <a:solidFill>
                  <a:srgbClr val="77838C"/>
                </a:solidFill>
              </a:rPr>
              <a:t>VLI | Comunicação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3FE7A3F-B74B-4648-8F74-C3F08BBD4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7838C"/>
                </a:solidFill>
              </a:defRPr>
            </a:pPr>
            <a:r>
              <a:rPr sz="825" b="0">
                <a:solidFill>
                  <a:srgbClr val="77838C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71385169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7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80729F0-4269-4C33-9397-85F393A39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9525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72026"/>
                </a:solidFill>
              </a:defRPr>
            </a:pPr>
            <a:r>
              <a:rPr sz="2475" b="1">
                <a:solidFill>
                  <a:srgbClr val="172026"/>
                </a:solidFill>
              </a:rPr>
              <a:t>Custos e decisão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1CB683-B0C4-4E2A-ABAF-760AD16D3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962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F5D68"/>
                </a:solidFill>
              </a:defRPr>
            </a:pPr>
            <a:r>
              <a:rPr sz="1350" b="0">
                <a:solidFill>
                  <a:srgbClr val="4F5D68"/>
                </a:solidFill>
              </a:rPr>
              <a:t>Valores estimados. Compra real depende de contratos existentes, câmbio, impostos, créditos e negociação enterprise.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C44238-42E9-4984-BBFF-3411E2AFD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19250"/>
            <a:ext cx="228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77838C"/>
                </a:solidFill>
              </a:defRPr>
            </a:pPr>
            <a:r>
              <a:rPr sz="938" b="1">
                <a:solidFill>
                  <a:srgbClr val="77838C"/>
                </a:solidFill>
              </a:rPr>
              <a:t>Ferramenta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2BA8FD-ED2F-4C45-B234-262C7B22D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6192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77838C"/>
                </a:solidFill>
              </a:defRPr>
            </a:pPr>
            <a:r>
              <a:rPr sz="938" b="1">
                <a:solidFill>
                  <a:srgbClr val="77838C"/>
                </a:solidFill>
              </a:rPr>
              <a:t>Preço de referência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2972DC-D538-4C77-B837-2EBA7E68F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619250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77838C"/>
                </a:solidFill>
              </a:defRPr>
            </a:pPr>
            <a:r>
              <a:rPr sz="938" b="1">
                <a:solidFill>
                  <a:srgbClr val="77838C"/>
                </a:solidFill>
              </a:rPr>
              <a:t>Entrada recomendada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3BD9A6-A7CE-487E-9E6A-7F2677235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85950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4B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55E66A-445D-4AA3-B2BF-A86F1554A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8120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72026"/>
                </a:solidFill>
              </a:defRPr>
            </a:pPr>
            <a:r>
              <a:rPr sz="1088" b="1">
                <a:solidFill>
                  <a:srgbClr val="172026"/>
                </a:solidFill>
              </a:rPr>
              <a:t>Claude Team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5079F9-FA11-491C-8CF2-4BFFC8679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8120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0E74BA"/>
                </a:solidFill>
              </a:defRPr>
            </a:pPr>
            <a:r>
              <a:rPr sz="1088" b="1">
                <a:solidFill>
                  <a:srgbClr val="0E74BA"/>
                </a:solidFill>
              </a:rPr>
              <a:t>US$ 20 a 25 por usuário/mês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39FB64-DEE5-4AEF-9438-70FCBFFC4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98120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4F5D68"/>
                </a:solidFill>
              </a:defRPr>
            </a:pPr>
            <a:r>
              <a:rPr sz="1088" b="0">
                <a:solidFill>
                  <a:srgbClr val="4F5D68"/>
                </a:solidFill>
              </a:rPr>
              <a:t>5 a 10 usuários para Comunicação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DD29D4-E3C8-47E0-9548-85409B119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5745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ADE39A-602C-4616-B19E-7E0258FB0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72026"/>
                </a:solidFill>
              </a:defRPr>
            </a:pPr>
            <a:r>
              <a:rPr sz="1088" b="1">
                <a:solidFill>
                  <a:srgbClr val="172026"/>
                </a:solidFill>
              </a:rPr>
              <a:t>Microsoft 365 Copilot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622923-1100-46F1-93E9-7976172EE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53365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073F63"/>
                </a:solidFill>
              </a:defRPr>
            </a:pPr>
            <a:r>
              <a:rPr sz="1088" b="1">
                <a:solidFill>
                  <a:srgbClr val="073F63"/>
                </a:solidFill>
              </a:rPr>
              <a:t>US$ 30 por usuário/mês + licença elegível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614CC8-84CC-4EEE-A921-EE179E514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5336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4F5D68"/>
                </a:solidFill>
              </a:defRPr>
            </a:pPr>
            <a:r>
              <a:rPr sz="1088" b="0">
                <a:solidFill>
                  <a:srgbClr val="4F5D68"/>
                </a:solidFill>
              </a:rPr>
              <a:t>validação corporativa com TI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02148B-53B5-430B-8F39-577CA3C8C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4D71BC-9510-4974-857F-ECDA18F06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8610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72026"/>
                </a:solidFill>
              </a:defRPr>
            </a:pPr>
            <a:r>
              <a:rPr sz="1088" b="1">
                <a:solidFill>
                  <a:srgbClr val="172026"/>
                </a:solidFill>
              </a:rPr>
              <a:t>Adobe Firefly + Creative Cloud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C04E41-1A57-4AA7-9FB2-11459FF44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08610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EF7A1D"/>
                </a:solidFill>
              </a:defRPr>
            </a:pPr>
            <a:r>
              <a:rPr sz="1088" b="1">
                <a:solidFill>
                  <a:srgbClr val="EF7A1D"/>
                </a:solidFill>
              </a:rPr>
              <a:t>~US$ 69,99/mês individual; business a confirmar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EF2A07-B40C-465E-9287-0420B4EB3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08610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4F5D68"/>
                </a:solidFill>
              </a:defRPr>
            </a:pPr>
            <a:r>
              <a:rPr sz="1088" b="0">
                <a:solidFill>
                  <a:srgbClr val="4F5D68"/>
                </a:solidFill>
              </a:rPr>
              <a:t>criativos, conteúdo e vídeo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517E727-E140-4055-8A85-27E66572C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6235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61B234-B924-4FBD-8E20-850265172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3855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72026"/>
                </a:solidFill>
              </a:defRPr>
            </a:pPr>
            <a:r>
              <a:rPr sz="1088" b="1">
                <a:solidFill>
                  <a:srgbClr val="172026"/>
                </a:solidFill>
              </a:rPr>
              <a:t>ElevenLabs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CD856B-D93A-48BE-A6B8-C102D32F8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63855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D7A54"/>
                </a:solidFill>
              </a:defRPr>
            </a:pPr>
            <a:r>
              <a:rPr sz="1088" b="1">
                <a:solidFill>
                  <a:srgbClr val="1D7A54"/>
                </a:solidFill>
              </a:rPr>
              <a:t>US$ 5, US$ 22, US$ 99/mês; Enterprise a confirmar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FAB2AB4-D198-48C6-9536-8AF5942F4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6385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4F5D68"/>
                </a:solidFill>
              </a:defRPr>
            </a:pPr>
            <a:r>
              <a:rPr sz="1088" b="0">
                <a:solidFill>
                  <a:srgbClr val="4F5D68"/>
                </a:solidFill>
              </a:rPr>
              <a:t>camada prioritária de áudio e voz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6AEF7F0-413E-49CB-8C3C-CDBCA1B65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1480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3B3B4E0-047F-4AD1-A6AE-33C211F6A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9100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72026"/>
                </a:solidFill>
              </a:defRPr>
            </a:pPr>
            <a:r>
              <a:rPr sz="1088" b="1">
                <a:solidFill>
                  <a:srgbClr val="172026"/>
                </a:solidFill>
              </a:rPr>
              <a:t>Perplexity Enterprise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5ACA22A-71DB-491A-BC1F-B0C85FF26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19100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0E74BA"/>
                </a:solidFill>
              </a:defRPr>
            </a:pPr>
            <a:r>
              <a:rPr sz="1088" b="1">
                <a:solidFill>
                  <a:srgbClr val="0E74BA"/>
                </a:solidFill>
              </a:rPr>
              <a:t>US$ 40 por usuário/mês ou US$ 400/ano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FC9BBEF-29D7-4D8F-B653-DB03FCDAB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9100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4F5D68"/>
                </a:solidFill>
              </a:defRPr>
            </a:pPr>
            <a:r>
              <a:rPr sz="1088" b="0">
                <a:solidFill>
                  <a:srgbClr val="4F5D68"/>
                </a:solidFill>
              </a:rPr>
              <a:t>pesquisa com fontes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2B7F108-5B09-42C4-8A0E-233C9AA8A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6725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6F6655F-AD06-460B-A00A-1BB6BB184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4345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72026"/>
                </a:solidFill>
              </a:defRPr>
            </a:pPr>
            <a:r>
              <a:rPr sz="1088" b="1">
                <a:solidFill>
                  <a:srgbClr val="172026"/>
                </a:solidFill>
              </a:rPr>
              <a:t>DeepL, Descript, Fireflies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F415E95-BE7B-42DE-A81C-C27198441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74345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4F5D68"/>
                </a:solidFill>
              </a:defRPr>
            </a:pPr>
            <a:r>
              <a:rPr sz="1088" b="1">
                <a:solidFill>
                  <a:srgbClr val="4F5D68"/>
                </a:solidFill>
              </a:rPr>
              <a:t>planos variáveis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125A818-A30C-4CA8-8C93-A7A02A812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7434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4F5D68"/>
                </a:solidFill>
              </a:defRPr>
            </a:pPr>
            <a:r>
              <a:rPr sz="1088" b="0">
                <a:solidFill>
                  <a:srgbClr val="4F5D68"/>
                </a:solidFill>
              </a:rPr>
              <a:t>contratar só por lacuna real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2C0FFA7-44E7-4045-81FD-77E38C775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235C96E-2078-4167-8FB6-1E70BEFA8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9886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8D07C98-280D-4063-814F-02E612683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81675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26"/>
                </a:solidFill>
              </a:defRPr>
            </a:pPr>
            <a:r>
              <a:rPr sz="1650" b="1">
                <a:solidFill>
                  <a:srgbClr val="172026"/>
                </a:solidFill>
              </a:rPr>
              <a:t>Decisão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354EA0D-2D11-4214-969F-26DA4BDB4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734050"/>
            <a:ext cx="781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F5D68"/>
                </a:solidFill>
              </a:defRPr>
            </a:pPr>
            <a:r>
              <a:rPr sz="1500" b="0">
                <a:solidFill>
                  <a:srgbClr val="4F5D68"/>
                </a:solidFill>
              </a:rPr>
              <a:t>Aprovar validação da stack, medir business case por custo unitário, tempo de ciclo, refação e qualidade, e tratar ElevenLabs como prioridade para áudio/voz.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0C61C07-E4D6-4B9E-978F-66F3D31BC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7838C"/>
                </a:solidFill>
              </a:defRPr>
            </a:pPr>
            <a:r>
              <a:rPr sz="825" b="0">
                <a:solidFill>
                  <a:srgbClr val="77838C"/>
                </a:solidFill>
              </a:rPr>
              <a:t>VLI | Comunicação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70E8A5A-7C6D-4BEE-993A-21BE4F720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7838C"/>
                </a:solidFill>
              </a:defRPr>
            </a:pPr>
            <a:r>
              <a:rPr sz="825" b="0">
                <a:solidFill>
                  <a:srgbClr val="77838C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34876139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2026-07-27T20:05:51.9660000Z</dcterms:created>
  <dcterms:modified xsi:type="dcterms:W3CDTF">2026-07-27T20:05:51.9660000Z</dcterms:modified>
</coreProperties>
</file>