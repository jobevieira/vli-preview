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c335abb9b4422f" /><Relationship Type="http://schemas.openxmlformats.org/officeDocument/2006/relationships/extended-properties" Target="/docProps/app.xml" Id="R8246f752af3d4f89" /><Relationship Type="http://schemas.openxmlformats.org/officeDocument/2006/relationships/officeDocument" Target="/ppt/presentation.xml" Id="R3f7b1b5abe7e46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806420b10e490a"/>
  </p:sldMasterIdLst>
  <p:notesMasterIdLst>
    <p:notesMasterId xmlns:r="http://schemas.openxmlformats.org/officeDocument/2006/relationships" r:id="R51c4d4696c354980"/>
  </p:notesMasterIdLst>
  <p:sldIdLst>
    <p:sldId xmlns:r="http://schemas.openxmlformats.org/officeDocument/2006/relationships" id="256" r:id="R3cf09a7c47c9453d"/>
    <p:sldId xmlns:r="http://schemas.openxmlformats.org/officeDocument/2006/relationships" id="257" r:id="R460665f650b442d1"/>
    <p:sldId xmlns:r="http://schemas.openxmlformats.org/officeDocument/2006/relationships" id="258" r:id="R3c2cfe78b6474464"/>
    <p:sldId xmlns:r="http://schemas.openxmlformats.org/officeDocument/2006/relationships" id="259" r:id="R90d631f86aba4ce3"/>
    <p:sldId xmlns:r="http://schemas.openxmlformats.org/officeDocument/2006/relationships" id="260" r:id="Rb29fbe14b0134d84"/>
    <p:sldId xmlns:r="http://schemas.openxmlformats.org/officeDocument/2006/relationships" id="261" r:id="R1e912f5df2d84f08"/>
    <p:sldId xmlns:r="http://schemas.openxmlformats.org/officeDocument/2006/relationships" id="262" r:id="R023445b9de804636"/>
    <p:sldId xmlns:r="http://schemas.openxmlformats.org/officeDocument/2006/relationships" id="263" r:id="R61183c89007340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bc23faf3764771" /><Relationship Type="http://schemas.openxmlformats.org/officeDocument/2006/relationships/slideMaster" Target="/ppt/slideMasters/slideMaster1.xml" Id="R34806420b10e490a" /><Relationship Type="http://schemas.openxmlformats.org/officeDocument/2006/relationships/notesMaster" Target="/ppt/notesMasters/notesMaster1.xml" Id="R51c4d4696c354980" /><Relationship Type="http://schemas.openxmlformats.org/officeDocument/2006/relationships/presProps" Target="/ppt/presProps.xml" Id="R750190249af44977" /><Relationship Type="http://schemas.openxmlformats.org/officeDocument/2006/relationships/tableStyles" Target="/ppt/tableStyles.xml" Id="Rb1ed8793ad3544bb" /><Relationship Type="http://schemas.openxmlformats.org/officeDocument/2006/relationships/slide" Target="/ppt/slides/slide1.xml" Id="R3cf09a7c47c9453d" /><Relationship Type="http://schemas.openxmlformats.org/officeDocument/2006/relationships/slide" Target="/ppt/slides/slide2.xml" Id="R460665f650b442d1" /><Relationship Type="http://schemas.openxmlformats.org/officeDocument/2006/relationships/slide" Target="/ppt/slides/slide3.xml" Id="R3c2cfe78b6474464" /><Relationship Type="http://schemas.openxmlformats.org/officeDocument/2006/relationships/slide" Target="/ppt/slides/slide4.xml" Id="R90d631f86aba4ce3" /><Relationship Type="http://schemas.openxmlformats.org/officeDocument/2006/relationships/slide" Target="/ppt/slides/slide5.xml" Id="Rb29fbe14b0134d84" /><Relationship Type="http://schemas.openxmlformats.org/officeDocument/2006/relationships/slide" Target="/ppt/slides/slide6.xml" Id="R1e912f5df2d84f08" /><Relationship Type="http://schemas.openxmlformats.org/officeDocument/2006/relationships/slide" Target="/ppt/slides/slide7.xml" Id="R023445b9de804636" /><Relationship Type="http://schemas.openxmlformats.org/officeDocument/2006/relationships/slide" Target="/ppt/slides/slide8.xml" Id="R61183c89007340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f7c077f9c545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abe258dc424e7d" /><Relationship Type="http://schemas.openxmlformats.org/officeDocument/2006/relationships/notesMaster" Target="/ppt/notesMasters/notesMaster1.xml" Id="Ref76f281375944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07f14aefca4434" /><Relationship Type="http://schemas.openxmlformats.org/officeDocument/2006/relationships/notesMaster" Target="/ppt/notesMasters/notesMaster1.xml" Id="R9b722cc7621942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677b7b1f3546a5" /><Relationship Type="http://schemas.openxmlformats.org/officeDocument/2006/relationships/notesMaster" Target="/ppt/notesMasters/notesMaster1.xml" Id="R33c178fedf104a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20f9b0b3d34a61" /><Relationship Type="http://schemas.openxmlformats.org/officeDocument/2006/relationships/notesMaster" Target="/ppt/notesMasters/notesMaster1.xml" Id="Rddb085366aaf49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56c5eb7f21456d" /><Relationship Type="http://schemas.openxmlformats.org/officeDocument/2006/relationships/notesMaster" Target="/ppt/notesMasters/notesMaster1.xml" Id="R841739101817492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d45686542140df" /><Relationship Type="http://schemas.openxmlformats.org/officeDocument/2006/relationships/notesMaster" Target="/ppt/notesMasters/notesMaster1.xml" Id="Raff2c3a11b4342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64a74e6754485c" /><Relationship Type="http://schemas.openxmlformats.org/officeDocument/2006/relationships/notesMaster" Target="/ppt/notesMasters/notesMaster1.xml" Id="R0b44463f19fa4bf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768344820034bda" /><Relationship Type="http://schemas.openxmlformats.org/officeDocument/2006/relationships/notesMaster" Target="/ppt/notesMasters/notesMaster1.xml" Id="Rdc965714798643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Microsoft 365 Copilot Business: https://www.microsoft.com/en-us/microsoft-365-copilot/business</a:t>
            </a:r>
          </a:p>
          <a:p xmlns:a="http://schemas.openxmlformats.org/drawingml/2006/main">
            <a:r>
              <a:t>[Sources] Claude Pricing: https://claude.com/pricing</a:t>
            </a:r>
          </a:p>
          <a:p xmlns:a="http://schemas.openxmlformats.org/drawingml/2006/main">
            <a:r>
              <a:t>[Sources] Adobe Firefly Partner Models: https://www.adobe.com/products/firefly/partner-models.html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Síntese das referências de preço e segurança citadas nos slides seguintes.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Microsoft 365 Copilot Business: https://www.microsoft.com/en-us/microsoft-365-copilot/business</a:t>
            </a:r>
          </a:p>
          <a:p xmlns:a="http://schemas.openxmlformats.org/drawingml/2006/main">
            <a:r>
              <a:t>[Sources] Claude Code security: https://code.claude.com/docs/en/security</a:t>
            </a:r>
          </a:p>
          <a:p xmlns:a="http://schemas.openxmlformats.org/drawingml/2006/main">
            <a:r>
              <a:t>[Sources] Adobe Firefly approach: https://www.adobe.com/ai/overview/firefly/gen-ai-approach.html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Perplexity Enterprise: https://www.perplexity.ai/enterprise</a:t>
            </a:r>
          </a:p>
          <a:p xmlns:a="http://schemas.openxmlformats.org/drawingml/2006/main">
            <a:r>
              <a:t>[Sources] ElevenLabs dubbing: https://elevenlabs.io/docs/overview/capabilities/dubbing</a:t>
            </a:r>
          </a:p>
          <a:p xmlns:a="http://schemas.openxmlformats.org/drawingml/2006/main">
            <a:r>
              <a:t>[Sources] Adobe Firefly Partner Models: https://www.adobe.com/products/firefly/partner-models.html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Flow mapping derived from cited tool capabilities and user-provided Comunicação workflows.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Custo de R$ 14 mil por landing page informado pelo usuário; confirmar escopo, período e volume internamente.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Adobe Firefly approach: https://www.adobe.com/ai/overview/firefly/gen-ai-approach.html</a:t>
            </a:r>
          </a:p>
          <a:p xmlns:a="http://schemas.openxmlformats.org/drawingml/2006/main">
            <a:r>
              <a:t>[Sources] Adobe Legal Firefly product description: https://helpx.adobe.com/legal/product-descriptions/adobe-firefly.html</a:t>
            </a:r>
          </a:p>
          <a:p xmlns:a="http://schemas.openxmlformats.org/drawingml/2006/main">
            <a:r>
              <a:t>[Sources] ElevenLabs enterprise security: https://elevenlabs.io/enterprise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Claude Pricing: https://claude.com/pricing</a:t>
            </a:r>
          </a:p>
          <a:p xmlns:a="http://schemas.openxmlformats.org/drawingml/2006/main">
            <a:r>
              <a:t>[Sources] Microsoft 365 Copilot pricing: https://www.microsoft.com/en-us/microsoft-365/copilot/pricing/enterprise</a:t>
            </a:r>
          </a:p>
          <a:p xmlns:a="http://schemas.openxmlformats.org/drawingml/2006/main">
            <a:r>
              <a:t>[Sources] Adobe Creative Cloud pricing: https://www.adobe.com/creativecloud/pricing.html</a:t>
            </a:r>
          </a:p>
          <a:p xmlns:a="http://schemas.openxmlformats.org/drawingml/2006/main">
            <a:r>
              <a:t>[Sources] Perplexity Enterprise: https://www.perplexity.ai/enterprise</a:t>
            </a:r>
          </a:p>
          <a:p xmlns:a="http://schemas.openxmlformats.org/drawingml/2006/main">
            <a:r>
              <a:t>[Sources] ElevenLabs pricing: https://elevenlabs.io/pricing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a953d8ca334d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b3eaff71794a06" /><Relationship Type="http://schemas.openxmlformats.org/officeDocument/2006/relationships/slideLayout" Target="/ppt/slideLayouts/slideLayout1.xml" Id="Rba6ec1ebe1374e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6ec1ebe1374e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1de27304b84d34" /><Relationship Type="http://schemas.openxmlformats.org/officeDocument/2006/relationships/notesSlide" Target="/ppt/notesSlides/notesSlide1.xml" Id="Rcfcc8755caaf40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c29aed66b4471" /><Relationship Type="http://schemas.openxmlformats.org/officeDocument/2006/relationships/notesSlide" Target="/ppt/notesSlides/notesSlide2.xml" Id="R5473423ace0c46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066fe3cf24c07" /><Relationship Type="http://schemas.openxmlformats.org/officeDocument/2006/relationships/notesSlide" Target="/ppt/notesSlides/notesSlide3.xml" Id="R2a824786afd146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ec6a098aa9469c" /><Relationship Type="http://schemas.openxmlformats.org/officeDocument/2006/relationships/notesSlide" Target="/ppt/notesSlides/notesSlide4.xml" Id="R019c940a5d3740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2931567afd4120" /><Relationship Type="http://schemas.openxmlformats.org/officeDocument/2006/relationships/notesSlide" Target="/ppt/notesSlides/notesSlide5.xml" Id="R9891e34ba50a45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94bfe8aba448a" /><Relationship Type="http://schemas.openxmlformats.org/officeDocument/2006/relationships/notesSlide" Target="/ppt/notesSlides/notesSlide6.xml" Id="R09e94f4a568d46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aa62ee1744fc2" /><Relationship Type="http://schemas.openxmlformats.org/officeDocument/2006/relationships/notesSlide" Target="/ppt/notesSlides/notesSlide7.xml" Id="Re3a4c95ddf134d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85570f5824cc0" /><Relationship Type="http://schemas.openxmlformats.org/officeDocument/2006/relationships/notesSlide" Target="/ppt/notesSlides/notesSlide8.xml" Id="R9c3e13504f7440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3F6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770E3A-CEF7-4B31-815E-41357E6C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82CF20-ADE6-4CB8-B623-80DB5F1E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0"/>
            <a:ext cx="466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85F2B1-45E8-4C14-B6E0-A2204A38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800100"/>
            <a:ext cx="2571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9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BDB523-7973-48A2-A3E3-22E1E5F2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905250"/>
            <a:ext cx="2095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32E3F6-1E81-4BA8-A9EE-E094F7A6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0"/>
            <a:ext cx="752475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2F4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791E9-161A-40F4-8E52-5B233AF1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VLI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348EE-ED1E-4782-8896-B77B8ED4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IA para Comunicação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392D99-37D5-4431-AA5A-9DCFA2D2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619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6EAF5"/>
                </a:solidFill>
              </a:defRPr>
            </a:pPr>
            <a:r>
              <a:rPr sz="1800" b="0">
                <a:solidFill>
                  <a:srgbClr val="D6EAF5"/>
                </a:solidFill>
              </a:rPr>
              <a:t>Recomendação de stack, ganhos, custos e critérios de segurança para adoção em Comunicação.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469809-6BB4-4A3E-AEED-986035E6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Mensagem central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974BBF-C88B-41EF-BC21-EF9EB309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76850"/>
            <a:ext cx="600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6EAF5"/>
                </a:solidFill>
              </a:defRPr>
            </a:pPr>
            <a:r>
              <a:rPr sz="1650" b="0">
                <a:solidFill>
                  <a:srgbClr val="D6EAF5"/>
                </a:solidFill>
              </a:rPr>
              <a:t>Aprovar uma arquitetura em camadas: Microsoft para escala corporativa, Claude para qualidade, Adobe para criação segura e especialistas por lacuna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736D46-7804-43A6-A058-039D9B77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C8DBE6"/>
                </a:solidFill>
              </a:defRPr>
            </a:pPr>
            <a:r>
              <a:rPr sz="825" b="0">
                <a:solidFill>
                  <a:srgbClr val="C8DBE6"/>
                </a:solidFill>
              </a:rPr>
              <a:t>VLI | Comunicação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77DAD6-17F7-4BE7-A4F2-F9606895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C8DBE6"/>
                </a:solidFill>
              </a:defRPr>
            </a:pPr>
            <a:r>
              <a:rPr sz="825" b="0">
                <a:solidFill>
                  <a:srgbClr val="C8DBE6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289903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5933EE-5C27-482E-AEEA-A6C2D826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Decisão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8F826-26CA-48C5-B25C-9C804367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E5B66"/>
                </a:solidFill>
              </a:defRPr>
            </a:pPr>
            <a:r>
              <a:rPr sz="1350" b="0">
                <a:solidFill>
                  <a:srgbClr val="4E5B66"/>
                </a:solidFill>
              </a:rPr>
              <a:t>O que a liderança precisa aprovar e o que não deve virar contratação agora.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39D46-1F51-4D2F-B8AF-51D13DD5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3143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0F8C6F-7AF3-47F5-BB67-4A27AAEF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8843D-7272-45C6-AF09-5B437919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6695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E5B66"/>
                </a:solidFill>
              </a:defRPr>
            </a:pPr>
            <a:r>
              <a:rPr sz="1275" b="1">
                <a:solidFill>
                  <a:srgbClr val="4E5B66"/>
                </a:solidFill>
              </a:rPr>
              <a:t>Aprovar como núcleo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BFA94C-D665-4AB8-BCB0-F9B4BE49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26"/>
                </a:solidFill>
              </a:defRPr>
            </a:pPr>
            <a:r>
              <a:rPr sz="1725" b="1">
                <a:solidFill>
                  <a:srgbClr val="172026"/>
                </a:solidFill>
              </a:rPr>
              <a:t>Microsoft + Claude + Adobe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62984-060E-4064-8E92-FCBB65D3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00250"/>
            <a:ext cx="3143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3AFB1C-CE92-4939-BD43-1B2F9D84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0025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478DDC-2A48-49B3-97F2-9F35CBC9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6695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E5B66"/>
                </a:solidFill>
              </a:defRPr>
            </a:pPr>
            <a:r>
              <a:rPr sz="1275" b="1">
                <a:solidFill>
                  <a:srgbClr val="4E5B66"/>
                </a:solidFill>
              </a:rPr>
              <a:t>Usar sob demanda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1B0ACD-825C-44DF-8932-FE4AF9E2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28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26"/>
                </a:solidFill>
              </a:defRPr>
            </a:pPr>
            <a:r>
              <a:rPr sz="1725" b="1">
                <a:solidFill>
                  <a:srgbClr val="172026"/>
                </a:solidFill>
              </a:rPr>
              <a:t>Perplexity, DeepL, ElevenLabs e vídeo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315DB6-70C7-4EB5-AF2A-0AD1FB36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00250"/>
            <a:ext cx="3143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E78F98-90AF-40AA-A7F7-34FF316F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0025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CA28E2-B4C3-4CFA-94FF-F77131B0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E5B66"/>
                </a:solidFill>
              </a:defRPr>
            </a:pPr>
            <a:r>
              <a:rPr sz="1275" b="1">
                <a:solidFill>
                  <a:srgbClr val="4E5B66"/>
                </a:solidFill>
              </a:rPr>
              <a:t>Não priorizar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F77BAB-BE6F-44DB-A063-58D8100C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28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26"/>
                </a:solidFill>
              </a:defRPr>
            </a:pPr>
            <a:r>
              <a:rPr sz="1725" b="1">
                <a:solidFill>
                  <a:srgbClr val="172026"/>
                </a:solidFill>
              </a:rPr>
              <a:t>Copilot Pro, Jasper, Gamma final e contas soltas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7BD109-C983-481A-9CF7-F03B191C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BC1D32-8BDA-4DC8-82E1-7536CBD2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Estimativa inicial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49F8F-0801-4271-83B9-8190560C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2435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E5B66"/>
                </a:solidFill>
              </a:defRPr>
            </a:pPr>
            <a:r>
              <a:rPr sz="1575" b="0">
                <a:solidFill>
                  <a:srgbClr val="4E5B66"/>
                </a:solidFill>
              </a:rPr>
              <a:t>Stack enxuta em centenas a poucos milhares de dólares por mês, antes de Microsoft em escala, impostos, câmbio, créditos generativos e negociação enterprise.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230DF7-D603-4858-B62A-4019B413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Decisão esperada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D3CAA9-7B54-4F44-9B3F-9FA63F83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959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E5B66"/>
                </a:solidFill>
              </a:defRPr>
            </a:pPr>
            <a:r>
              <a:rPr sz="1575" b="0">
                <a:solidFill>
                  <a:srgbClr val="4E5B66"/>
                </a:solidFill>
              </a:rPr>
              <a:t>Autorizar validação com TI, Jurídico, Compras e usuários-chave, usando custo, segurança e ganho de produtividade como critérios.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020660-9F20-43A3-A811-4FF69B1D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VLI | Comunicação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6D350E-1DFA-4653-8C6A-6631883B2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073442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242870-E018-4A82-981D-B75C379F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Ferramentas principais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56289D-8F27-4815-A54A-E92575C0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E5B66"/>
                </a:solidFill>
              </a:defRPr>
            </a:pPr>
            <a:r>
              <a:rPr sz="1350" b="0">
                <a:solidFill>
                  <a:srgbClr val="4E5B66"/>
                </a:solidFill>
              </a:rPr>
              <a:t>O que fazem, o que resolvem e o ganho esperado para Comunicação.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AB431E-FBBF-41CD-AE0D-EF9FCC73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23850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2E192-47A7-4A2F-B9D5-F66CFAE0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238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44933B-93D0-44EE-B3CD-91FF35C9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26"/>
                </a:solidFill>
              </a:defRPr>
            </a:pPr>
            <a:r>
              <a:rPr sz="1575" b="1">
                <a:solidFill>
                  <a:srgbClr val="172026"/>
                </a:solidFill>
              </a:rPr>
              <a:t>Microsoft 365 Copilot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6999E6-C1A2-4F9C-9FA4-6E8ECD94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73F63"/>
                </a:solidFill>
              </a:defRPr>
            </a:pPr>
            <a:r>
              <a:rPr sz="1125" b="1">
                <a:solidFill>
                  <a:srgbClr val="073F63"/>
                </a:solidFill>
              </a:rPr>
              <a:t>Camada corporativa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8FF8F3-DD14-410C-B0F8-8A5F11F6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Reuniões, e-mails, documentos, apresentações, SharePoint, busca interna e automações.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EDDF0-BEDC-4370-9383-C7EC3D70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Ganho: escala, governança e menos perda de decisão.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C239B-7304-4970-BC40-2E7DC40F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23850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0B8506-4798-46E3-8272-2733C978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238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59F91C-8D82-4C2A-8615-213EEDE2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383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26"/>
                </a:solidFill>
              </a:defRPr>
            </a:pPr>
            <a:r>
              <a:rPr sz="1575" b="1">
                <a:solidFill>
                  <a:srgbClr val="172026"/>
                </a:solidFill>
              </a:rPr>
              <a:t>Claude Team + 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95D3E0-04F2-459B-93A9-D44574E2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62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4BA"/>
                </a:solidFill>
              </a:defRPr>
            </a:pPr>
            <a:r>
              <a:rPr sz="1125" b="1">
                <a:solidFill>
                  <a:srgbClr val="0E74BA"/>
                </a:solidFill>
              </a:rPr>
              <a:t>Bancada editorial e prototipação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28C058-DD05-4FBA-8A2E-22693D79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432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Redação, revisão crítica, síntese, roteiros, desdobramento e páginas simples.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289EE-A3BD-4BDB-974B-3FC2F837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38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Ganho: qualidade, autonomia e menos refação.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B65FA7-4F39-405F-BA49-9294E97F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09750"/>
            <a:ext cx="323850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1E29C5-C19D-4F53-B4F9-99A02333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09750"/>
            <a:ext cx="3238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CB87EB-2BFD-4B97-9214-21A6DF72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383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26"/>
                </a:solidFill>
              </a:defRPr>
            </a:pPr>
            <a:r>
              <a:rPr sz="1575" b="1">
                <a:solidFill>
                  <a:srgbClr val="172026"/>
                </a:solidFill>
              </a:rPr>
              <a:t>Adobe Firefly + Creative Cloud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09C1D4-7FF5-4722-9971-EC401813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F7A1D"/>
                </a:solidFill>
              </a:defRPr>
            </a:pPr>
            <a:r>
              <a:rPr sz="1125" b="1">
                <a:solidFill>
                  <a:srgbClr val="EF7A1D"/>
                </a:solidFill>
              </a:rPr>
              <a:t>Hub criativo seguro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202328-EC39-425A-8DAF-1A4DA800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432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Imagem, vídeo, assets, acabamento e modelos parceiros como Runway, Veo, Kling e Luma.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65B1B9-4575-4627-9A1D-1EEC7936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38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Ganho: criação premium com defesa para TI.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10E6F9-BA5D-4133-9D1C-0059E5ED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108204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F1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738A45-87DC-421C-A29F-4A0D331C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3F63"/>
                </a:solidFill>
              </a:defRPr>
            </a:pPr>
            <a:r>
              <a:rPr sz="1725" b="1">
                <a:solidFill>
                  <a:srgbClr val="073F63"/>
                </a:solidFill>
              </a:rPr>
              <a:t>Fronteira importante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97105A-979E-4C00-B1C7-5F729ECB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33900"/>
            <a:ext cx="742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6"/>
                </a:solidFill>
              </a:defRPr>
            </a:pPr>
            <a:r>
              <a:rPr sz="1500" b="0">
                <a:solidFill>
                  <a:srgbClr val="172026"/>
                </a:solidFill>
              </a:rPr>
              <a:t>Copilot é ótimo para produtividade no Microsoft 365, mas não substitui Claude em qualidade editorial nem Adobe em criação premium e segurança criativa.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1FAA42-010F-4447-9FF3-5E4195AE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VLI | Comunicação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E9DF86-C955-4196-B995-1692529D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223914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3F5FEF-0D00-4884-AF31-7BDA8A3A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Especialistas recomendados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AE0926-EC8B-4595-9E96-E74295CD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E5B66"/>
                </a:solidFill>
              </a:defRPr>
            </a:pPr>
            <a:r>
              <a:rPr sz="1350" b="0">
                <a:solidFill>
                  <a:srgbClr val="4E5B66"/>
                </a:solidFill>
              </a:rPr>
              <a:t>Entram quando resolvem uma lacuna real melhor que a suíte principal.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646A7E-81AE-4B12-BAC5-791B9DAB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A858E"/>
                </a:solidFill>
              </a:defRPr>
            </a:pPr>
            <a:r>
              <a:rPr sz="975" b="1">
                <a:solidFill>
                  <a:srgbClr val="7A858E"/>
                </a:solidFill>
              </a:rPr>
              <a:t>Ferramenta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B5EA60-7955-4F5B-981E-D934937F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80975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A858E"/>
                </a:solidFill>
              </a:defRPr>
            </a:pPr>
            <a:r>
              <a:rPr sz="975" b="1">
                <a:solidFill>
                  <a:srgbClr val="7A858E"/>
                </a:solidFill>
              </a:rPr>
              <a:t>Resolve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170604-2AED-4961-9931-5C7F6D7C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09750"/>
            <a:ext cx="371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A858E"/>
                </a:solidFill>
              </a:defRPr>
            </a:pPr>
            <a:r>
              <a:rPr sz="975" b="1">
                <a:solidFill>
                  <a:srgbClr val="7A858E"/>
                </a:solidFill>
              </a:rPr>
              <a:t>Ganho para Comunicação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CECD-99AD-4E51-BD78-8E93BE1B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12956D-4634-4DAD-9E90-EF4E8DDB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4BA"/>
                </a:solidFill>
              </a:defRPr>
            </a:pPr>
            <a:r>
              <a:rPr sz="1125" b="1">
                <a:solidFill>
                  <a:srgbClr val="0E74BA"/>
                </a:solidFill>
              </a:rPr>
              <a:t>Perplexity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B666A8-7DC7-48D4-9D59-7FA44384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907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Pesquisa com fontes e contexto externo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521AAE-F283-4E78-A706-6323FCCC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1907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Menos risco factual em releases, pautas e apresentações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FBAF15-D72A-4A16-967F-6FC41E81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9F3E47-0BF9-4CFD-A8A6-A286BF53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146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D7A54"/>
                </a:solidFill>
              </a:defRPr>
            </a:pPr>
            <a:r>
              <a:rPr sz="1125" b="1">
                <a:solidFill>
                  <a:srgbClr val="1D7A54"/>
                </a:solidFill>
              </a:rPr>
              <a:t>DeepL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89322-B88E-4B38-8EF2-3BA4A3FD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146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Tradução e glossário institucional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EEE257-C514-49D5-A604-D85C1AAF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71462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Consistência terminológica e adaptação internacional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DD8A6C-A39D-448A-AC43-1710BDE9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EEA236-F7A6-45CF-8F7C-6D5D2275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F7A1D"/>
                </a:solidFill>
              </a:defRPr>
            </a:pPr>
            <a:r>
              <a:rPr sz="1125" b="1">
                <a:solidFill>
                  <a:srgbClr val="EF7A1D"/>
                </a:solidFill>
              </a:rPr>
              <a:t>ElevenLabs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A9F0D5-1B08-4C36-84EB-C072E8AD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385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Narração, dublagem e voz sintética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B3BFD0-DD3A-414A-A982-BA4AB4472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2385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Áudio premium para vídeos, campanhas e versões internacionais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3EC4FD-918D-4BD4-8EA9-7D03DAB0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23E32C-997B-4BEA-B8FB-95D9AD23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62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F7A1D"/>
                </a:solidFill>
              </a:defRPr>
            </a:pPr>
            <a:r>
              <a:rPr sz="1125" b="1">
                <a:solidFill>
                  <a:srgbClr val="EF7A1D"/>
                </a:solidFill>
              </a:rPr>
              <a:t>Runway/Veo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087395-0BB8-41C7-84CA-243C39CC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623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Vídeo generativo mais cinematográfico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639ED3-25C7-4359-BCEC-17B05AE8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6237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B-roll, cenas curtas e exploração visual com maior impacto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7738D6-5DAC-432A-AA25-ECCF40FC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0052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15FC9A-B73B-4A0D-809A-A724624B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4BA"/>
                </a:solidFill>
              </a:defRPr>
            </a:pPr>
            <a:r>
              <a:rPr sz="1125" b="1">
                <a:solidFill>
                  <a:srgbClr val="0E74BA"/>
                </a:solidFill>
              </a:rPr>
              <a:t>Descript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DF8C85-5B1F-4D17-9FD3-E5ACB913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Edição por transcrição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795DF9-12F4-483F-BD70-18E5222F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2862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Cortes de entrevista, legenda e versões sociais com rapidez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E37012-E57F-47AE-9A72-F02819EEC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47E39B-2100-471D-B460-BF07E164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01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D7A54"/>
                </a:solidFill>
              </a:defRPr>
            </a:pPr>
            <a:r>
              <a:rPr sz="1125" b="1">
                <a:solidFill>
                  <a:srgbClr val="1D7A54"/>
                </a:solidFill>
              </a:rPr>
              <a:t>Fireflies/Adobe Podcast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CB5435-D891-4441-97D0-071C4FDA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101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Atas ou recuperação de áudio ruim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EFFB05-FD6B-423E-89E9-AB20C502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81012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Menos perda de decisão e mais aproveitamento de gravações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4B697A-FC41-4F6C-85B4-958E6E09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4827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C439B0-C110-4C35-B6F1-36E8DB4D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VLI | Comunicação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A31605-7E98-4711-B885-0DB4C713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55636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D2B91F-0AAC-4640-AD75-3546005C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Fluxos de maior impacto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ACE991-559B-4A31-9FE7-1EE168A9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E5B66"/>
                </a:solidFill>
              </a:defRPr>
            </a:pPr>
            <a:r>
              <a:rPr sz="1350" b="0">
                <a:solidFill>
                  <a:srgbClr val="4E5B66"/>
                </a:solidFill>
              </a:rPr>
              <a:t>Onde a stack muda qualidade, prazo, custo e dependência externa.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50B585-3DA6-4314-8BCE-D5D8B2CC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621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A858E"/>
                </a:solidFill>
              </a:defRPr>
            </a:pPr>
            <a:r>
              <a:rPr sz="975" b="1">
                <a:solidFill>
                  <a:srgbClr val="7A858E"/>
                </a:solidFill>
              </a:rPr>
              <a:t>Fluxo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64E9D4-66EA-4096-8296-B7F9998A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62125"/>
            <a:ext cx="333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A858E"/>
                </a:solidFill>
              </a:defRPr>
            </a:pPr>
            <a:r>
              <a:rPr sz="975" b="1">
                <a:solidFill>
                  <a:srgbClr val="7A858E"/>
                </a:solidFill>
              </a:rPr>
              <a:t>Stack aplicada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0560E-9CFA-4DF9-AA35-07175B51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17621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A858E"/>
                </a:solidFill>
              </a:defRPr>
            </a:pPr>
            <a:r>
              <a:rPr sz="975" b="1">
                <a:solidFill>
                  <a:srgbClr val="7A858E"/>
                </a:solidFill>
              </a:rPr>
              <a:t>Ganho concreto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8AE496-F153-4B31-BE1A-01D545CB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B3F49A-C7B6-482C-B690-EC409654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526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Campanha institucional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ECD068-5EC5-442C-B098-C325FC7A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526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4BA"/>
                </a:solidFill>
              </a:defRPr>
            </a:pPr>
            <a:r>
              <a:rPr sz="1125" b="1">
                <a:solidFill>
                  <a:srgbClr val="0E74BA"/>
                </a:solidFill>
              </a:rPr>
              <a:t>Perplexity + Claude + Adobe + Microsoft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3B625F-E14C-4C4B-ACDA-3BF04A099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1526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Conceito, peças, página, aprovação e distribuição com menos espera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F82DED-00B1-425E-BF0E-2B36B4C1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B525E1-6044-42A0-B6FB-B1E69A59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Comunicado ou release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7695C6-4340-4036-A5F1-1415CE48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241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4BA"/>
                </a:solidFill>
              </a:defRPr>
            </a:pPr>
            <a:r>
              <a:rPr sz="1125" b="1">
                <a:solidFill>
                  <a:srgbClr val="0E74BA"/>
                </a:solidFill>
              </a:rPr>
              <a:t>Perplexity + Claude + DeepL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9041DA-633A-47C4-B735-A5420B87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7241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Texto melhor lastreado, tradução e adaptação por público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633A9E-B683-4E27-AEE5-0A5DF310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B344EA-76FD-44B9-94C2-51EA1826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Landing page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99AD1F-253A-4E39-B62D-6522BB8F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956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F7A1D"/>
                </a:solidFill>
              </a:defRPr>
            </a:pPr>
            <a:r>
              <a:rPr sz="1125" b="1">
                <a:solidFill>
                  <a:srgbClr val="EF7A1D"/>
                </a:solidFill>
              </a:rPr>
              <a:t>Claude + Claude Code + Adobe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EF3032-8E18-467B-84E1-3D7FA88AA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2956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Reduz custo unitário, fila de fornecedor e prazo de ajustes simples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6B5543-E314-4CCC-8713-E67ACECE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5CC998-F25B-403E-8D11-4998C0D1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Vídeo institucional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E422A8-5081-4ED3-AAA6-3A81A5ED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671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F7A1D"/>
                </a:solidFill>
              </a:defRPr>
            </a:pPr>
            <a:r>
              <a:rPr sz="1125" b="1">
                <a:solidFill>
                  <a:srgbClr val="EF7A1D"/>
                </a:solidFill>
              </a:rPr>
              <a:t>Firefly + Runway/Veo + ElevenLabs + Descript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5C6E44-9CB8-47B7-A00A-B9BEC9A1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8671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Imagem, b-roll, voz, dublagem, edição e versões sociais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E90DAE-377F-46E8-84E1-A2A9FFF2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B43903-D7D8-4DCB-8A47-6CCC3D8E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386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Reuniões e briefing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1A035D-CE56-417D-9F56-B7AE3D02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4386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D7A54"/>
                </a:solidFill>
              </a:defRPr>
            </a:pPr>
            <a:r>
              <a:rPr sz="1125" b="1">
                <a:solidFill>
                  <a:srgbClr val="1D7A54"/>
                </a:solidFill>
              </a:rPr>
              <a:t>Copilot ou Fireflies + Claude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698AAF-ACBC-46EF-BE3A-57E4E620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4386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Atas, decisões, próximos passos e briefing executivo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BBF9A5-4DCF-4168-8E18-F641D890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5E7C18-F4C3-48BD-9D97-517E7941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53367B-B36B-416B-8AE6-616625EE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435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26"/>
                </a:solidFill>
              </a:defRPr>
            </a:pPr>
            <a:r>
              <a:rPr sz="1575" b="1">
                <a:solidFill>
                  <a:srgbClr val="172026"/>
                </a:solidFill>
              </a:rPr>
              <a:t>Regra fixa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DBF32E-A72E-44E4-8552-0F4D43AC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5054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E5B66"/>
                </a:solidFill>
              </a:defRPr>
            </a:pPr>
            <a:r>
              <a:rPr sz="1500" b="0">
                <a:solidFill>
                  <a:srgbClr val="4E5B66"/>
                </a:solidFill>
              </a:rPr>
              <a:t>Nada publica sozinho. IA prepara, acelera e melhora, mas a saída institucional continua com revisão humana.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91F53C-48A5-44B6-8C24-C69F740D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VLI | Comunicação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E41419-869F-4EB8-B452-7253B91A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670221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83D9BD-70AE-4E9E-B9DD-937216C1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Business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CC04F8-A043-41ED-9C82-FD7AC653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E5B66"/>
                </a:solidFill>
              </a:defRPr>
            </a:pPr>
            <a:r>
              <a:rPr sz="1350" b="0">
                <a:solidFill>
                  <a:srgbClr val="4E5B66"/>
                </a:solidFill>
              </a:rPr>
              <a:t>A lógica econômica está na redução de tempo de ciclo, custo unitário e refações.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14D65C-0840-4CEA-826C-3EA7C4FC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3143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169793-E58F-4CA7-AC6D-E3251905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90EDD4-1BDF-40C8-AA6D-0A41D268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6695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E5B66"/>
                </a:solidFill>
              </a:defRPr>
            </a:pPr>
            <a:r>
              <a:rPr sz="1275" b="1">
                <a:solidFill>
                  <a:srgbClr val="4E5B66"/>
                </a:solidFill>
              </a:rPr>
              <a:t>Referência conhecida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D23FB-A8CB-4FC7-A3A2-DB49F116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26"/>
                </a:solidFill>
              </a:defRPr>
            </a:pPr>
            <a:r>
              <a:rPr sz="1725" b="1">
                <a:solidFill>
                  <a:srgbClr val="172026"/>
                </a:solidFill>
              </a:rPr>
              <a:t>R$ 14 mil por LP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78215-D667-441D-885D-8E229BCC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00250"/>
            <a:ext cx="3143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0457EF-A4F5-43F5-907D-13546573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0025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1D09AF-1297-4B72-B0E6-C969B3AA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6695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E5B66"/>
                </a:solidFill>
              </a:defRPr>
            </a:pPr>
            <a:r>
              <a:rPr sz="1275" b="1">
                <a:solidFill>
                  <a:srgbClr val="4E5B66"/>
                </a:solidFill>
              </a:rPr>
              <a:t>Custo invisível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13C94C-36DC-477B-B86D-F26E6CEA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28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26"/>
                </a:solidFill>
              </a:defRPr>
            </a:pPr>
            <a:r>
              <a:rPr sz="1725" b="1">
                <a:solidFill>
                  <a:srgbClr val="172026"/>
                </a:solidFill>
              </a:rPr>
              <a:t>tempo alto de produção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423A8A-B36E-4606-B328-CFD284BC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00250"/>
            <a:ext cx="3143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7DA8E1-D6C7-41FD-B006-30C54DCB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0025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531057-3918-451D-8E57-BC8BD565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E5B66"/>
                </a:solidFill>
              </a:defRPr>
            </a:pPr>
            <a:r>
              <a:rPr sz="1275" b="1">
                <a:solidFill>
                  <a:srgbClr val="4E5B66"/>
                </a:solidFill>
              </a:rPr>
              <a:t>Ganho esperado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BFE277-5A48-4899-AF84-9A2AFE8B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28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26"/>
                </a:solidFill>
              </a:defRPr>
            </a:pPr>
            <a:r>
              <a:rPr sz="1725" b="1">
                <a:solidFill>
                  <a:srgbClr val="172026"/>
                </a:solidFill>
              </a:rPr>
              <a:t>menos fila e refação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6C27BE-D539-473E-A111-ADD74EFE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FA77C0-D0F2-4458-BD8E-7CF770D4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Como medir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3F7BAE-EE78-46F4-8001-23886C07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291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E5B66"/>
                </a:solidFill>
              </a:defRPr>
            </a:pPr>
            <a:r>
              <a:rPr sz="1575" b="0">
                <a:solidFill>
                  <a:srgbClr val="4E5B66"/>
                </a:solidFill>
              </a:rPr>
              <a:t>Volume anual de entregas recorrentes, custo médio por entrega, prazo médio atual, número de rodadas de ajuste, etapas terceirizadas e percentual internalizável sem perda de qualidade.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A28099-3071-4E4D-B808-DE952E69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Oportunidade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07075D-D751-43B3-ABF2-021BDF5E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95900"/>
            <a:ext cx="781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E5B66"/>
                </a:solidFill>
              </a:defRPr>
            </a:pPr>
            <a:r>
              <a:rPr sz="1575" b="0">
                <a:solidFill>
                  <a:srgbClr val="4E5B66"/>
                </a:solidFill>
              </a:rPr>
              <a:t>Mesmo sem substituir fornecedores, a stack pode reduzir demandas simples, melhorar briefings e liberar orçamento para entregas de maior complexidade.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67DFB5-A4E8-468B-B57C-578CFE0F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VLI | Comunicação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9087B3-439C-4784-A68E-E0701C8A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436535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84E561-0CED-4504-8762-83BC2A4F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Segurança e governança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123FA-F52E-4947-85E8-C71B546B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E5B66"/>
                </a:solidFill>
              </a:defRPr>
            </a:pPr>
            <a:r>
              <a:rPr sz="1350" b="0">
                <a:solidFill>
                  <a:srgbClr val="4E5B66"/>
                </a:solidFill>
              </a:rPr>
              <a:t>Critérios que precisam estar claros antes de contratação ou uso em peças sensíveis.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45D6CF-F039-429F-BE3C-5F05CC09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A858E"/>
                </a:solidFill>
              </a:defRPr>
            </a:pPr>
            <a:r>
              <a:rPr sz="975" b="1">
                <a:solidFill>
                  <a:srgbClr val="7A858E"/>
                </a:solidFill>
              </a:rPr>
              <a:t>Critério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8B8D4-81EA-49C5-958E-55E9D041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097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A858E"/>
                </a:solidFill>
              </a:defRPr>
            </a:pPr>
            <a:r>
              <a:rPr sz="975" b="1">
                <a:solidFill>
                  <a:srgbClr val="7A858E"/>
                </a:solidFill>
              </a:rPr>
              <a:t>Impacto na decisão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FCD0CE-4F5E-4257-A0EC-2DF1408B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097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A858E"/>
                </a:solidFill>
              </a:defRPr>
            </a:pPr>
            <a:r>
              <a:rPr sz="975" b="1">
                <a:solidFill>
                  <a:srgbClr val="7A858E"/>
                </a:solidFill>
              </a:rPr>
              <a:t>Ferramentas favorecidas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B6BDDB-2E16-4F73-B7E8-6A8E9E66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5B0148-ED5D-4863-BE87-E5B33AD4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Dados e treinamento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5B6D76-3502-429A-A767-CD76A1A3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098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Não usar dados da VLI para treinar modelos por padrão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6339E0-3B22-49FF-9F3C-AD05F9A6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098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4BA"/>
                </a:solidFill>
              </a:defRPr>
            </a:pPr>
            <a:r>
              <a:rPr sz="1125" b="1">
                <a:solidFill>
                  <a:srgbClr val="0E74BA"/>
                </a:solidFill>
              </a:rPr>
              <a:t>Microsoft, Adobe, Claude Enterprise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50C71B-A58C-4E43-A5FA-FE01E19E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AC3BD-D815-439D-A687-AFC5E40B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PI e uso comercial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4DD2C7-32F8-4901-B963-9277CF376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813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Peças externas exigem termos claros e proteção comercial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6382BC-0821-44A2-9719-7BE679B9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813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F7A1D"/>
                </a:solidFill>
              </a:defRPr>
            </a:pPr>
            <a:r>
              <a:rPr sz="1125" b="1">
                <a:solidFill>
                  <a:srgbClr val="EF7A1D"/>
                </a:solidFill>
              </a:rPr>
              <a:t>Adobe Firefly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DEF6F7-E046-42F6-841E-549EF3A0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03386D-5133-4D8D-97CB-13A4C70C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SSO, administração e logs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F4CD5D-9FD4-4FE2-801F-C1330FE3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528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Evitar contas individuais e perda de controle de acesso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60A13D-43EC-4C1E-A046-45254658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528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D7A54"/>
                </a:solidFill>
              </a:defRPr>
            </a:pPr>
            <a:r>
              <a:rPr sz="1125" b="1">
                <a:solidFill>
                  <a:srgbClr val="1D7A54"/>
                </a:solidFill>
              </a:rPr>
              <a:t>Microsoft, Adobe, ElevenLabs Enterprise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549632-2F33-4C3B-A044-A17D534D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B6D4E8-DFA1-4F48-99E1-F7DF7171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4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LGPD, DPA e subprocessadores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F3FBF9-3B20-4AD6-8834-CE36689B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243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Jurídico precisa validar retenção, região e transferência internacional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83C0A3-54CD-4A45-8BC0-912BB72D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243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4BA"/>
                </a:solidFill>
              </a:defRPr>
            </a:pPr>
            <a:r>
              <a:rPr sz="1125" b="1">
                <a:solidFill>
                  <a:srgbClr val="0E74BA"/>
                </a:solidFill>
              </a:rPr>
              <a:t>Planos enterprise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836315-1F3D-4136-8911-82C77931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2233B1-30C3-4828-8686-B4F12E65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Modelos parceiros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8DC6B8-8D32-49C2-B8B5-D4FB44EF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958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Runway, Veo, Kling e ElevenLabs no Firefly exigem validação específica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427FEB-59B5-4B8C-9D31-4EED54E5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958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F7A1D"/>
                </a:solidFill>
              </a:defRPr>
            </a:pPr>
            <a:r>
              <a:rPr sz="1125" b="1">
                <a:solidFill>
                  <a:srgbClr val="EF7A1D"/>
                </a:solidFill>
              </a:rPr>
              <a:t>Adobe como hub, não contas soltas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CC6520-7301-462A-B774-E97B3BB5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A5BA47-D488-4BD5-AD49-93B62450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VLI | Comunicação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CEB717-E81E-4460-ADC8-854A6CD7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49660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0BBDC3-4AC3-4A87-B104-94182589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Investimento e decisão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1D990-B547-4356-AB39-34DA3445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E5B66"/>
                </a:solidFill>
              </a:defRPr>
            </a:pPr>
            <a:r>
              <a:rPr sz="1350" b="0">
                <a:solidFill>
                  <a:srgbClr val="4E5B66"/>
                </a:solidFill>
              </a:rPr>
              <a:t>Valores estimados. Compra real depende de contratos existentes, câmbio, impostos, créditos e negociação enterprise.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59BE9A-A54C-4BFF-80F4-CEA2231F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A858E"/>
                </a:solidFill>
              </a:defRPr>
            </a:pPr>
            <a:r>
              <a:rPr sz="975" b="1">
                <a:solidFill>
                  <a:srgbClr val="7A858E"/>
                </a:solidFill>
              </a:rPr>
              <a:t>Ferramenta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F121B3-49B2-4810-A732-C7249242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7640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A858E"/>
                </a:solidFill>
              </a:defRPr>
            </a:pPr>
            <a:r>
              <a:rPr sz="975" b="1">
                <a:solidFill>
                  <a:srgbClr val="7A858E"/>
                </a:solidFill>
              </a:rPr>
              <a:t>Preço de referência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39A65-97CF-417A-9E4F-D440BB97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A858E"/>
                </a:solidFill>
              </a:defRPr>
            </a:pPr>
            <a:r>
              <a:rPr sz="975" b="1">
                <a:solidFill>
                  <a:srgbClr val="7A858E"/>
                </a:solidFill>
              </a:rPr>
              <a:t>Entrada recomendada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AEF10C-C430-42C7-A77C-7AD721F0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4A761-AE64-49A3-B836-369DB412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Claude Team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B1AD2B-B32B-4A88-A1E0-57FD2317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574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4BA"/>
                </a:solidFill>
              </a:defRPr>
            </a:pPr>
            <a:r>
              <a:rPr sz="1125" b="1">
                <a:solidFill>
                  <a:srgbClr val="0E74BA"/>
                </a:solidFill>
              </a:rPr>
              <a:t>US$ 20 a 25 por usuário/mês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B73734-AC41-4688-B589-D44DC98F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574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5 a 10 usuários para Comunicação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DB0694-148F-4014-9550-703EE3B9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46AC5F-2E58-4616-8376-13D86669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Microsoft 365 Copilot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E71FBD-07E8-4AE3-B510-3C001704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73F63"/>
                </a:solidFill>
              </a:defRPr>
            </a:pPr>
            <a:r>
              <a:rPr sz="1125" b="1">
                <a:solidFill>
                  <a:srgbClr val="073F63"/>
                </a:solidFill>
              </a:rPr>
              <a:t>US$ 30 por usuário/mês + licença elegível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12938B-335E-40C5-9790-73EE510F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717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validação corporativa com TI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5878D8-3315-4699-91EF-07E7EC64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A72A51-589D-4072-85A1-12EBA815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Adobe Firefly + Creative Cloud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D63EEA-BA46-42DF-B7C6-DD4F0078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861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F7A1D"/>
                </a:solidFill>
              </a:defRPr>
            </a:pPr>
            <a:r>
              <a:rPr sz="1125" b="1">
                <a:solidFill>
                  <a:srgbClr val="EF7A1D"/>
                </a:solidFill>
              </a:rPr>
              <a:t>~US$ 69,99/mês individual; business a confirmar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26926F-4E40-4259-A0A3-E85CFB9D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86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criativos, conteúdo e vídeo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96C38-43B6-4F4B-B2BF-113FD8F3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234D3B-0C27-4549-A18F-72FC7446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Perplexity Enterprise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A5015D-3777-46CE-8F57-D48BE02D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004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4BA"/>
                </a:solidFill>
              </a:defRPr>
            </a:pPr>
            <a:r>
              <a:rPr sz="1125" b="1">
                <a:solidFill>
                  <a:srgbClr val="0E74BA"/>
                </a:solidFill>
              </a:rPr>
              <a:t>US$ 40 por usuário/mês ou US$ 400/ano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663194-3FEA-45FB-9DD7-76B3DFFA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pesquisa com fontes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7DC50C-2DBD-4B27-944B-8D3B497A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8E20D2-E661-4D70-9A38-B23FB622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ElevenLabs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D7D14C-D08F-476B-ACB4-93632297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1148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D7A54"/>
                </a:solidFill>
              </a:defRPr>
            </a:pPr>
            <a:r>
              <a:rPr sz="1125" b="1">
                <a:solidFill>
                  <a:srgbClr val="1D7A54"/>
                </a:solidFill>
              </a:rPr>
              <a:t>US$ 5, US$ 22, US$ 99/mês; Enterprise a confirmar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BA1AAA-1AEF-44FA-A4EB-2EADFB93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148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voz, narração e dublagem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816439-AE88-46A3-BB9B-15DCE77F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55CE0D-4FC0-431D-AAA9-0821CD57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DeepL, Descript, Fireflies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0793C7-0AD2-4BE3-AEB0-A1E8A80E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291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E5B66"/>
                </a:solidFill>
              </a:defRPr>
            </a:pPr>
            <a:r>
              <a:rPr sz="1125" b="1">
                <a:solidFill>
                  <a:srgbClr val="4E5B66"/>
                </a:solidFill>
              </a:rPr>
              <a:t>planos variáveis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EA882E-1140-413B-8434-5AFCA8C7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291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5B66"/>
                </a:solidFill>
              </a:defRPr>
            </a:pPr>
            <a:r>
              <a:rPr sz="1125" b="0">
                <a:solidFill>
                  <a:srgbClr val="4E5B66"/>
                </a:solidFill>
              </a:rPr>
              <a:t>contratar só por lacuna real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52B51F-504F-424F-89AC-9249D414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0D81B7-F173-4C91-83CC-6A4041FD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ECA25E-846B-4D89-8971-AB8CCBB8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Decisão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A9B0F1-EAC1-4205-A1AB-824E43AA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67375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E5B66"/>
                </a:solidFill>
              </a:defRPr>
            </a:pPr>
            <a:r>
              <a:rPr sz="1500" b="0">
                <a:solidFill>
                  <a:srgbClr val="4E5B66"/>
                </a:solidFill>
              </a:rPr>
              <a:t>Autorizar validação da stack principal, levantar contratos existentes e medir business case por custo, prazo, refação e qualidade.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EF610A-3CB8-4085-B612-D90E8430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VLI | Comunicação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816E0A-ABE0-41C5-9899-130975CC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858E"/>
                </a:solidFill>
              </a:defRPr>
            </a:pPr>
            <a:r>
              <a:rPr sz="825" b="0">
                <a:solidFill>
                  <a:srgbClr val="7A858E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94679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2026-07-27T19:17:45.3980000Z</dcterms:created>
  <dcterms:modified xsi:type="dcterms:W3CDTF">2026-07-27T19:17:45.3980000Z</dcterms:modified>
</coreProperties>
</file>