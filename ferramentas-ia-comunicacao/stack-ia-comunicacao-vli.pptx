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24addb9e15427d" /><Relationship Type="http://schemas.openxmlformats.org/officeDocument/2006/relationships/extended-properties" Target="/docProps/app.xml" Id="Rd4d9400625b74cc5" /><Relationship Type="http://schemas.openxmlformats.org/officeDocument/2006/relationships/officeDocument" Target="/ppt/presentation.xml" Id="R53172cc353b348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8b5900f1bb4831"/>
  </p:sldMasterIdLst>
  <p:notesMasterIdLst>
    <p:notesMasterId xmlns:r="http://schemas.openxmlformats.org/officeDocument/2006/relationships" r:id="R30983f45960d4d7d"/>
  </p:notesMasterIdLst>
  <p:sldIdLst>
    <p:sldId xmlns:r="http://schemas.openxmlformats.org/officeDocument/2006/relationships" id="256" r:id="Rbc2ac7391cca47d4"/>
    <p:sldId xmlns:r="http://schemas.openxmlformats.org/officeDocument/2006/relationships" id="257" r:id="R8fea22a2369c42df"/>
    <p:sldId xmlns:r="http://schemas.openxmlformats.org/officeDocument/2006/relationships" id="258" r:id="Ra931cc577c224b64"/>
    <p:sldId xmlns:r="http://schemas.openxmlformats.org/officeDocument/2006/relationships" id="259" r:id="R61bd13bf8924493e"/>
    <p:sldId xmlns:r="http://schemas.openxmlformats.org/officeDocument/2006/relationships" id="260" r:id="R9ec56a6104884f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8c15a1049c4a67" /><Relationship Type="http://schemas.openxmlformats.org/officeDocument/2006/relationships/slideMaster" Target="/ppt/slideMasters/slideMaster1.xml" Id="Rdc8b5900f1bb4831" /><Relationship Type="http://schemas.openxmlformats.org/officeDocument/2006/relationships/notesMaster" Target="/ppt/notesMasters/notesMaster1.xml" Id="R30983f45960d4d7d" /><Relationship Type="http://schemas.openxmlformats.org/officeDocument/2006/relationships/presProps" Target="/ppt/presProps.xml" Id="R315e5a8f204e4740" /><Relationship Type="http://schemas.openxmlformats.org/officeDocument/2006/relationships/tableStyles" Target="/ppt/tableStyles.xml" Id="R5225e88fa0a04ae3" /><Relationship Type="http://schemas.openxmlformats.org/officeDocument/2006/relationships/slide" Target="/ppt/slides/slide1.xml" Id="Rbc2ac7391cca47d4" /><Relationship Type="http://schemas.openxmlformats.org/officeDocument/2006/relationships/slide" Target="/ppt/slides/slide2.xml" Id="R8fea22a2369c42df" /><Relationship Type="http://schemas.openxmlformats.org/officeDocument/2006/relationships/slide" Target="/ppt/slides/slide3.xml" Id="Ra931cc577c224b64" /><Relationship Type="http://schemas.openxmlformats.org/officeDocument/2006/relationships/slide" Target="/ppt/slides/slide4.xml" Id="R61bd13bf8924493e" /><Relationship Type="http://schemas.openxmlformats.org/officeDocument/2006/relationships/slide" Target="/ppt/slides/slide5.xml" Id="R9ec56a6104884f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886f8774ff41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8041c5f4724a60" /><Relationship Type="http://schemas.openxmlformats.org/officeDocument/2006/relationships/notesMaster" Target="/ppt/notesMasters/notesMaster1.xml" Id="R19de0713de984f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0b68a06aad4f58" /><Relationship Type="http://schemas.openxmlformats.org/officeDocument/2006/relationships/notesMaster" Target="/ppt/notesMasters/notesMaster1.xml" Id="R5632f2cff40d4a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d48f08529b4d1a" /><Relationship Type="http://schemas.openxmlformats.org/officeDocument/2006/relationships/notesMaster" Target="/ppt/notesMasters/notesMaster1.xml" Id="Rd88bd2e9ede6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159a1fc05b474f" /><Relationship Type="http://schemas.openxmlformats.org/officeDocument/2006/relationships/notesMaster" Target="/ppt/notesMasters/notesMaster1.xml" Id="R61b82cab466346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a4bbad6cd24fd7" /><Relationship Type="http://schemas.openxmlformats.org/officeDocument/2006/relationships/notesMaster" Target="/ppt/notesMasters/notesMaster1.xml" Id="R9fe2556899dd40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Code security: https://code.claude.com/docs/en/security</a:t>
            </a:r>
          </a:p>
          <a:p xmlns:a="http://schemas.openxmlformats.org/drawingml/2006/main">
            <a:r>
              <a:t>[Sources] ElevenLabs dubbing: https://elevenlabs.io/docs/overview/capabilities/dubbing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Custo de R$ 14 mil por landing page informado pelo usuário; confirmar escopo, período e volume internamente.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Adobe Firefly approach: https://www.adobe.com/ai/overview/firefly/gen-ai-approach.html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  <a:p xmlns:a="http://schemas.openxmlformats.org/drawingml/2006/main">
            <a:r>
              <a:t>[Sources] ElevenLabs enterprise security: https://elevenlabs.io/enterprise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Microsoft 365 Copilot pricing: https://www.microsoft.com/en-us/microsoft-365/copilot/pricing/enterprise</a:t>
            </a:r>
          </a:p>
          <a:p xmlns:a="http://schemas.openxmlformats.org/drawingml/2006/main">
            <a:r>
              <a:t>[Sources] Adobe Creative Cloud pricing: https://www.adobe.com/creativecloud/pricing.html</a:t>
            </a:r>
          </a:p>
          <a:p xmlns:a="http://schemas.openxmlformats.org/drawingml/2006/main">
            <a:r>
              <a:t>[Sources] Perplexity Enterprise: https://www.perplexity.ai/enterprise</a:t>
            </a:r>
          </a:p>
          <a:p xmlns:a="http://schemas.openxmlformats.org/drawingml/2006/main">
            <a:r>
              <a:t>[Sources] ElevenLabs pricing: https://elevenlabs.io/pricing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b70e4864e4e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dbef3c2a86486a" /><Relationship Type="http://schemas.openxmlformats.org/officeDocument/2006/relationships/slideLayout" Target="/ppt/slideLayouts/slideLayout1.xml" Id="R6ec951f6e10146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c951f6e10146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5c6b5299642d2" /><Relationship Type="http://schemas.openxmlformats.org/officeDocument/2006/relationships/notesSlide" Target="/ppt/notesSlides/notesSlide1.xml" Id="R33a8f713f9fd40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4b4ecc76346fa" /><Relationship Type="http://schemas.openxmlformats.org/officeDocument/2006/relationships/notesSlide" Target="/ppt/notesSlides/notesSlide2.xml" Id="R6ba5208afbf54f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bb64928684680" /><Relationship Type="http://schemas.openxmlformats.org/officeDocument/2006/relationships/notesSlide" Target="/ppt/notesSlides/notesSlide3.xml" Id="Rad58728dd6af40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a0af6dff2426a" /><Relationship Type="http://schemas.openxmlformats.org/officeDocument/2006/relationships/notesSlide" Target="/ppt/notesSlides/notesSlide4.xml" Id="Rcfbe1fe6814d4c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0991436ac4dd2" /><Relationship Type="http://schemas.openxmlformats.org/officeDocument/2006/relationships/notesSlide" Target="/ppt/notesSlides/notesSlide5.xml" Id="R4fec35ff711d44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3F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45CCC-1FF5-4FAB-94A3-5F2C6BD5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8816F-39D8-4F75-A403-65BAF698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0"/>
            <a:ext cx="409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CF20C-7DCF-4934-A309-6CC6123D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7429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5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837AF-7204-45AF-A62A-CDE21ABA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E09C6-4E2A-45EF-BC6E-CDE417DC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VLI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4140B-0653-4DB4-A1AE-C9987027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47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IA para Comunicação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3C713-99FF-466A-903E-C5A8A8C1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57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CEFF8"/>
                </a:solidFill>
              </a:defRPr>
            </a:pPr>
            <a:r>
              <a:rPr sz="1875" b="0">
                <a:solidFill>
                  <a:srgbClr val="DCEFF8"/>
                </a:solidFill>
              </a:rPr>
              <a:t>Proposta de stack para qualidade, produtividade, segurança e redução de custo operacional.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7FFE1-68D6-4CD4-99A5-6BFFDEC8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Decisão executiva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7714EF-84EF-46CA-B61C-0B9DFF42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295900"/>
            <a:ext cx="581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CEFF8"/>
                </a:solidFill>
              </a:defRPr>
            </a:pPr>
            <a:r>
              <a:rPr sz="1725" b="0">
                <a:solidFill>
                  <a:srgbClr val="DCEFF8"/>
                </a:solidFill>
              </a:rPr>
              <a:t>Validar Microsoft, Claude e Adobe como núcleo. Especialistas entram só por lacuna comprovada.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164055-B855-4459-8171-F0ABFC6E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8E2"/>
                </a:solidFill>
              </a:defRPr>
            </a:pPr>
            <a:r>
              <a:rPr sz="825" b="0">
                <a:solidFill>
                  <a:srgbClr val="C8D8E2"/>
                </a:solidFill>
              </a:rPr>
              <a:t>VLI | Comunicação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1431B-D04A-4A69-BC74-BF6B2A19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8E2"/>
                </a:solidFill>
              </a:defRPr>
            </a:pPr>
            <a:r>
              <a:rPr sz="825" b="0">
                <a:solidFill>
                  <a:srgbClr val="C8D8E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256495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05A69-D472-4275-88C7-BFB0CDF1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6"/>
                </a:solidFill>
              </a:defRPr>
            </a:pPr>
            <a:r>
              <a:rPr sz="2550" b="1">
                <a:solidFill>
                  <a:srgbClr val="172026"/>
                </a:solidFill>
              </a:rPr>
              <a:t>Proposta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3B85C-5EFE-49F5-92C3-114E730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06B"/>
                </a:solidFill>
              </a:defRPr>
            </a:pPr>
            <a:r>
              <a:rPr sz="1425" b="0">
                <a:solidFill>
                  <a:srgbClr val="52606B"/>
                </a:solidFill>
              </a:rPr>
              <a:t>Uma arquitetura simples, com papéis claros e baixa tolerância a duplicidade.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9574F-9FA6-4828-8501-5AB84AB9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953000" cy="1381125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D17E2-C7CF-457B-B8D8-A7472AFD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99C87-6686-4EC3-A662-66271AD7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Microsoft 365 Copilot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F1EEB-CE11-47C3-A4E8-5921EF4C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4514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6B"/>
                </a:solidFill>
              </a:defRPr>
            </a:pPr>
            <a:r>
              <a:rPr sz="1275" b="0">
                <a:solidFill>
                  <a:srgbClr val="52606B"/>
                </a:solidFill>
              </a:rPr>
              <a:t>Camada corporativa: reuniões, e-mails, documentos, SharePoint, busca interna e automações.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91035-D634-489F-BE2C-4AA73232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52625"/>
            <a:ext cx="4953000" cy="1381125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A71BC-796D-4746-A754-8069D8A1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52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99332-522F-49A4-B394-C2642DBF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62175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Claude Team + Claude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5132F-B60D-4DB5-B95C-92B96227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62225"/>
            <a:ext cx="4514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6B"/>
                </a:solidFill>
              </a:defRPr>
            </a:pPr>
            <a:r>
              <a:rPr sz="1275" b="0">
                <a:solidFill>
                  <a:srgbClr val="52606B"/>
                </a:solidFill>
              </a:rPr>
              <a:t>Bancada editorial e de prototipação: textos, síntese, roteiros, páginas simples e desdobramento.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2403D-342E-4C3F-91C2-67C01E04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4953000" cy="1381125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02403-6E14-4EF3-BBCE-793F205B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032E0-D4F8-4528-B292-D5E64E17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Adobe Firefly + Creative Cloud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5905A-CF43-4D58-BA5C-E4A1BFBD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7225"/>
            <a:ext cx="4514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6B"/>
                </a:solidFill>
              </a:defRPr>
            </a:pPr>
            <a:r>
              <a:rPr sz="1275" b="0">
                <a:solidFill>
                  <a:srgbClr val="52606B"/>
                </a:solidFill>
              </a:rPr>
              <a:t>Hub criativo seguro: imagem, vídeo, assets, acabamento e modelos parceiros com governança.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1DA67-1693-4A3E-8D58-578BBD7F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57625"/>
            <a:ext cx="4953000" cy="1381125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0E033-3046-4AAE-824A-EAA8EA85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57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4458D7-9017-4A2E-8E54-677354E0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67175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Especialistas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67D1B0-F197-48BC-BB19-E219111A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67225"/>
            <a:ext cx="4514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6B"/>
                </a:solidFill>
              </a:defRPr>
            </a:pPr>
            <a:r>
              <a:rPr sz="1275" b="0">
                <a:solidFill>
                  <a:srgbClr val="52606B"/>
                </a:solidFill>
              </a:rPr>
              <a:t>Perplexity, DeepL, ElevenLabs, Descript, Fireflies e Adobe Podcast entram apenas quando superam a suíte principal.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71EE52-9D4E-4016-9ED6-10B179D0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VLI | Comunicação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958F0-311C-420F-92E7-BA6AE4AE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3761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70E39A-1E81-420C-8489-88FFF75A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6"/>
                </a:solidFill>
              </a:defRPr>
            </a:pPr>
            <a:r>
              <a:rPr sz="2550" b="1">
                <a:solidFill>
                  <a:srgbClr val="172026"/>
                </a:solidFill>
              </a:rPr>
              <a:t>Ganhos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B2536-DDF6-42D9-9FEF-A28B564A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06B"/>
                </a:solidFill>
              </a:defRPr>
            </a:pPr>
            <a:r>
              <a:rPr sz="1425" b="0">
                <a:solidFill>
                  <a:srgbClr val="52606B"/>
                </a:solidFill>
              </a:rPr>
              <a:t>O impacto esperado está no ciclo de produção, não na ferramenta isolada.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578B8-2FE8-480A-9230-5F27D5F6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1247B-EBE1-454D-B713-144F55C2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0D387-D2AC-45AA-BACC-BA48A7D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6A9A5-2779-4CB7-84D7-57F05D30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3F63"/>
                </a:solidFill>
              </a:defRPr>
            </a:pPr>
            <a:r>
              <a:rPr sz="2250" b="1">
                <a:solidFill>
                  <a:srgbClr val="073F63"/>
                </a:solidFill>
              </a:rPr>
              <a:t>Qualidade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7547A-62C0-403F-ADF7-82597ACE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Textos mais consistentes, melhor briefing, revisão crítica e menos desalinhamento.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2E19FE-701D-46D7-A9FC-F38EB7D6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Velocidade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C7421-2BFE-40BB-A9A4-552FB957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5275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Primeira versão, variações e ajustes antes de acionar fornecedor.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56E1D4-E8DD-49C2-B788-A3B1C906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86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D7A54"/>
                </a:solidFill>
              </a:defRPr>
            </a:pPr>
            <a:r>
              <a:rPr sz="2250" b="1">
                <a:solidFill>
                  <a:srgbClr val="1D7A54"/>
                </a:solidFill>
              </a:rPr>
              <a:t>Custo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D808B-BD9B-45FB-A61E-17D404BD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5275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Redução de custo unitário em entregas recorrentes e menos refação paga.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9F716-FFF0-4283-BDB5-587E7BA5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7BD1B-A11A-4A89-B421-F75BE194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Referência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E7A6F-8D81-4A82-BCF8-691B555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19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Landing page com custo médio informado de R$ 14 mil ajuda a dimensionar o potencial de economia em páginas, campanhas, adaptações e ajustes simples.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3403A9-E9F8-42A4-BEA7-00C64464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VLI | Comunicação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04EF28-6641-4679-8657-7874C3C7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85080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A70E32-1B20-410C-9AE0-00605729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6"/>
                </a:solidFill>
              </a:defRPr>
            </a:pPr>
            <a:r>
              <a:rPr sz="2550" b="1">
                <a:solidFill>
                  <a:srgbClr val="172026"/>
                </a:solidFill>
              </a:rPr>
              <a:t>Segurança e criação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74BC3-7C1B-4234-9203-3AEB9815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06B"/>
                </a:solidFill>
              </a:defRPr>
            </a:pPr>
            <a:r>
              <a:rPr sz="1425" b="0">
                <a:solidFill>
                  <a:srgbClr val="52606B"/>
                </a:solidFill>
              </a:rPr>
              <a:t>A recomendação precisa ser defensável para Comunicação, TI e Jurídico.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ADC606-CE84-453A-AAC2-F0EA318D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A95A5-9AF4-4222-9479-4F1CCB5D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B5A46-BC53-475B-BD01-695208FB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F7A1D"/>
                </a:solidFill>
              </a:defRPr>
            </a:pPr>
            <a:r>
              <a:rPr sz="2100" b="1">
                <a:solidFill>
                  <a:srgbClr val="EF7A1D"/>
                </a:solidFill>
              </a:rPr>
              <a:t>Por que Firefly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577A1-CAAB-4139-9A60-C2DE7C61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É a frente criativa mais governável: documentação comercial, ecossistema Adobe, controles enterprise e acesso a modelos parceiros sem pulverizar contas.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131CC-660E-4B62-8CE5-01697E73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D7A54"/>
                </a:solidFill>
              </a:defRPr>
            </a:pPr>
            <a:r>
              <a:rPr sz="2100" b="1">
                <a:solidFill>
                  <a:srgbClr val="1D7A54"/>
                </a:solidFill>
              </a:rPr>
              <a:t>Áudio e voz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D5388-28BC-4A41-9A0A-6DF2E749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146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ElevenLabs deve ser avaliado como especialista recomendado para narração, dublagem e versões internacionais, com consentimento e governança.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0B81D-60D9-47B1-B073-CD00D729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3AA7D-89FA-44B9-8577-3ED1DA88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Condição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4A9FF-09C0-4B96-A5D7-FA265ADE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53050"/>
            <a:ext cx="752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Modelos parceiros só avançam em peças sensíveis com validação de plano, termos, créditos, região, dados e cobertura jurídica.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1BCB9-00FC-4EC7-8B33-239BAAAE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VLI | Comunicação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06F2F-C351-47F0-A507-8129E748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53614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DABF6D-C609-4CE2-BB24-4C254EED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6"/>
                </a:solidFill>
              </a:defRPr>
            </a:pPr>
            <a:r>
              <a:rPr sz="2550" b="1">
                <a:solidFill>
                  <a:srgbClr val="172026"/>
                </a:solidFill>
              </a:rPr>
              <a:t>Custos e decisão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2CFFA-6084-4789-A8C3-5D85C52C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06B"/>
                </a:solidFill>
              </a:defRPr>
            </a:pPr>
            <a:r>
              <a:rPr sz="1425" b="0">
                <a:solidFill>
                  <a:srgbClr val="52606B"/>
                </a:solidFill>
              </a:rPr>
              <a:t>Valores de referência. Compra real depende de contratos existentes, câmbio, impostos, créditos e negociação enterprise.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07B55-59AA-4AC3-8655-FD1237F4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Claude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9B-BC2A-4AD4-B766-20A87C1B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05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4BA"/>
                </a:solidFill>
              </a:defRPr>
            </a:pPr>
            <a:r>
              <a:rPr sz="1350" b="1">
                <a:solidFill>
                  <a:srgbClr val="0E74BA"/>
                </a:solidFill>
              </a:rPr>
              <a:t>US$ 20 a 25 usuário/mês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1BE86-BFB5-4ECC-B57D-79BAF743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base editorial e prototipação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1CD11-2F9C-4DB3-857B-0FE62787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A1AF7-582E-4878-B63A-7793E218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Microsoft 365 Copilot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F8E66-EE18-4299-8E48-BB8EA1A5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3F63"/>
                </a:solidFill>
              </a:defRPr>
            </a:pPr>
            <a:r>
              <a:rPr sz="1350" b="1">
                <a:solidFill>
                  <a:srgbClr val="073F63"/>
                </a:solidFill>
              </a:rPr>
              <a:t>US$ 30 usuário/mês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90B7F-60D2-4E8A-99C0-0CB568E7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licença elegível necessária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BD70-763D-4A6B-A2D3-4B30403D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73483-3F3B-449C-9F7D-C7A3289E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Adobe Firefly + Creative Cloud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29D5BF-0ACC-4F83-A774-6CBEA6FD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71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7A1D"/>
                </a:solidFill>
              </a:defRPr>
            </a:pPr>
            <a:r>
              <a:rPr sz="1350" b="1">
                <a:solidFill>
                  <a:srgbClr val="EF7A1D"/>
                </a:solidFill>
              </a:rPr>
              <a:t>~US$ 69,99/mês individual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D6D4C-2823-4456-AFF4-1AD13D1A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52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business e créditos a confirmar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9AD3F5-C103-44D9-8B4E-CFBE0E8C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0EAB9-B738-46FB-9F1C-B0EDDEE7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Perplexity Enterprise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6897C-3029-49E8-B9A4-4A085C3C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05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4BA"/>
                </a:solidFill>
              </a:defRPr>
            </a:pPr>
            <a:r>
              <a:rPr sz="1350" b="1">
                <a:solidFill>
                  <a:srgbClr val="0E74BA"/>
                </a:solidFill>
              </a:rPr>
              <a:t>US$ 40 usuário/mês ou US$ 400/ano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52381A-3BFF-477D-A72A-6014DA52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861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pesquisa com fontes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22906A-3C2C-48E5-B4FF-F58AF77D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E5232-1256-4B5E-A533-3685ADF7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ElevenLabs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E9464-C109-40DA-96E0-96F94C8B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7A54"/>
                </a:solidFill>
              </a:defRPr>
            </a:pPr>
            <a:r>
              <a:rPr sz="1350" b="1">
                <a:solidFill>
                  <a:srgbClr val="1D7A54"/>
                </a:solidFill>
              </a:rPr>
              <a:t>US$ 5, US$ 22, US$ 99/mês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EA41D-3C38-4546-BB7F-54471597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195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Enterprise a confirmar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5EB79-0D2D-478D-AEBD-9D4E659B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767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83FA6B-30E2-4139-95EC-9D80483B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DeepL, Descript, Fireflies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64F436-7D91-47A4-8183-74159E57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72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06B"/>
                </a:solidFill>
              </a:defRPr>
            </a:pPr>
            <a:r>
              <a:rPr sz="1350" b="1">
                <a:solidFill>
                  <a:srgbClr val="52606B"/>
                </a:solidFill>
              </a:rPr>
              <a:t>planos variáveis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797DA7-4B4F-4687-82D4-CC5D86F7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529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B"/>
                </a:solidFill>
              </a:defRPr>
            </a:pPr>
            <a:r>
              <a:rPr sz="1200" b="0">
                <a:solidFill>
                  <a:srgbClr val="52606B"/>
                </a:solidFill>
              </a:rPr>
              <a:t>contratar só por lacuna real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8FEA16-3C92-45E5-8482-B4389D88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5EEC0-AAE0-488E-A098-3E350966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18BCEE-B17D-49C8-8FB6-E478240F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Decisão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4D4C49-C0E5-4299-A116-D667F442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578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B"/>
                </a:solidFill>
              </a:defRPr>
            </a:pPr>
            <a:r>
              <a:rPr sz="1500" b="0">
                <a:solidFill>
                  <a:srgbClr val="52606B"/>
                </a:solidFill>
              </a:rPr>
              <a:t>Autorizar validação com TI, Jurídico, Compras e usuários-chave, priorizando Microsoft, Claude e Adobe como núcleo.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360DCE-ED58-4DE4-B601-515C0EE3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VLI | Comunicação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7ADDC6-7B96-42F2-A5DC-F8AC059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B"/>
                </a:solidFill>
              </a:defRPr>
            </a:pPr>
            <a:r>
              <a:rPr sz="825" b="0">
                <a:solidFill>
                  <a:srgbClr val="52606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600529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2026-07-27T19:11:21.9990000Z</dcterms:created>
  <dcterms:modified xsi:type="dcterms:W3CDTF">2026-07-27T19:11:21.9990000Z</dcterms:modified>
</coreProperties>
</file>