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3E15A-FAB1-43A3-8336-CFEFCDE67CF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A90B8-059A-41BA-BDA8-8EDDDCCD51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76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h32b996b1233d03f5_28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h32b996b1233d03f5_28_3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Quadro resumo SNT: Digital (mídia on/off e repercussão orgânica), Imprensa (69 inserções, 6,3 mi de alcance, recorde), Comunicação Interna e contenção de custo (R$ 60 mil orçados, ~R$ 35 mil realizados; −70% vs última campanha de R$ 115 mil).</a:t>
            </a:r>
          </a:p>
        </p:txBody>
      </p:sp>
      <p:sp>
        <p:nvSpPr>
          <p:cNvPr id="1121" name="Google Shape;1121;h32b996b1233d03f5_28_3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F3D75-9A4A-DBFA-A909-5696E1F6B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646B8-464D-392B-56AD-EAEFDC79B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AF1321-46C4-6C10-BEAF-04D7ABC6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F0986-D66A-8AEE-F151-AE1262FA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12370C-14F5-8067-C419-F95331CA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31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C7C3C-3E5C-C7CE-96CC-ECB45F50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0FA34-01EA-F3C9-B438-07304008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74B58F-7E3E-AC40-357A-D22FDB2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B01722-A6C4-65FE-C88F-D7186141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6D62BA-B5B6-CDF9-5CBB-C4CB1A4A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6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458A4-8ABA-6DDB-58FB-CD1717C1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6FB7B5-17FC-E1EE-295B-22005EFB9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22420E-05CA-5FA2-030D-9EC8FA8A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6AAF40-561F-2329-B14E-DF2687AF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A3EA07-9456-88BB-0A78-3E559A67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8CE2E-2F85-8517-60A5-26BCAAFA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6F48FF-8570-404D-880D-D3AF0B9B3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9E1924-05A2-367F-CDD6-6EFF3D66C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8BF7A0-38AC-0D7A-3D6C-D5CE69CE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33BF8D-5955-68E3-8433-DA02F387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CEA8E2-493B-F2D0-4012-B27B869D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37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9B8B6-521F-CC97-C702-EA48405F3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C9A626-8F84-FEA0-F372-2C60F5E77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4706C9-B7EA-D78B-6E95-9B1176984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61312D-6260-90B7-08D3-03739D082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7E9310-6649-CCC9-7B06-42DFF122E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D6A3E2-78AA-E703-7289-FE22F525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87529F-5CD2-CCB4-EC3E-4E86FB71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1DF1C6-7B39-AE59-5A1C-1BEF7274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52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BA275-2C94-F0B5-8954-84DBAF80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48B870-291D-EF5F-E128-425E36E6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4EE70F-02D9-A902-B498-143C398E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D0DF1C-C0F1-4041-828C-8A65D0E1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02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015FA2-F844-D660-97BD-B346B9D0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18AE29-4449-D022-B72F-33E4898B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0523EB-F691-69EF-5632-A271D6FC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612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38989-71F1-BAAF-4572-9CC691C9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03E44-D99B-1204-A8E5-EB186C5E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B96E15-FE78-EEA9-7D0D-09DB4DE91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68908D-EBED-CB92-0F17-C6D628A2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BE4A63-9CEF-6CAD-AB1E-237E9951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6840D8-4E55-B346-DF6F-9C7FD4EA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6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CE745-1FFA-BF6C-00A2-4696F521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55903F-BC22-5519-8767-49B1BEF40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6B41E4-2428-4862-56E3-83F4B21DD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42CAAC-875D-FDA6-F930-3C3428EB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1FD59B-3533-EB4D-7DB4-F2C2B9A8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7B968F-73D2-AF6E-8A05-B58E3166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83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BB61C-4A8F-CD62-BB02-680DCFD1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6B4F1A-4DEC-6B48-9A30-E3B5DA6B5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4905A-3A22-67AC-6690-F5453A7D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DD3F0B-0DA6-DC3F-D4CD-A91C3AA1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791798-ACAD-1A35-68A2-A32060C8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74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F191FC-E40C-48EC-CCB3-2B7F25AD7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F90050-E56A-1490-8663-2926E022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71FE5-6D8E-156B-9F9E-924C66AB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48D0C5-B62C-4B76-F4EA-2A1E0811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3932E0-BD04-5DCC-7A72-EBD162E4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247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80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3D9158A-0CCE-AEA0-B1EF-5118A868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60D887-A565-84E1-2EAF-6E9D87094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FF9B7-4291-474C-3E5F-C04C8186A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EE3BE-682A-4A39-93D8-C46E7D9042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48096-D8A8-9831-8719-DA7C3C0D0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193B2F-1409-6E3B-83B2-A7AF8B5CF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324B3-53F6-4C79-8E76-C2E36BC5DC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3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1"/>
          <p:cNvSpPr/>
          <p:nvPr/>
        </p:nvSpPr>
        <p:spPr>
          <a:xfrm>
            <a:off x="0" y="0"/>
            <a:ext cx="12191700" cy="960000"/>
          </a:xfrm>
          <a:prstGeom prst="rect">
            <a:avLst/>
          </a:prstGeom>
          <a:solidFill>
            <a:srgbClr val="1971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24" name="Google Shape;1124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048" y="219456"/>
            <a:ext cx="1097283" cy="566929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31"/>
          <p:cNvSpPr/>
          <p:nvPr/>
        </p:nvSpPr>
        <p:spPr>
          <a:xfrm>
            <a:off x="1737360" y="228600"/>
            <a:ext cx="13800" cy="567000"/>
          </a:xfrm>
          <a:prstGeom prst="rect">
            <a:avLst/>
          </a:prstGeom>
          <a:solidFill>
            <a:srgbClr val="FFFFFF">
              <a:alpha val="27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1"/>
          <p:cNvSpPr txBox="1"/>
          <p:nvPr/>
        </p:nvSpPr>
        <p:spPr>
          <a:xfrm>
            <a:off x="1956816" y="237744"/>
            <a:ext cx="6949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AAA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7AAAD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ONEPAGE DE CAMPANHA</a:t>
            </a:r>
            <a:endParaRPr sz="1050" i="0" u="none" strike="noStrike" cap="non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127" name="Google Shape;1127;p31"/>
          <p:cNvSpPr txBox="1"/>
          <p:nvPr/>
        </p:nvSpPr>
        <p:spPr>
          <a:xfrm>
            <a:off x="1956816" y="475488"/>
            <a:ext cx="7498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SNT | Movimento Nacional pela Segurança Ferroviária</a:t>
            </a:r>
            <a:endParaRPr sz="15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28" name="Google Shape;1128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384048"/>
            <a:ext cx="1097280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Tile alcance na imprensa"/>
          <p:cNvSpPr/>
          <p:nvPr/>
        </p:nvSpPr>
        <p:spPr>
          <a:xfrm>
            <a:off x="301752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Big alcance na imprensa"/>
          <p:cNvSpPr txBox="1"/>
          <p:nvPr/>
        </p:nvSpPr>
        <p:spPr>
          <a:xfrm>
            <a:off x="411480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37919"/>
                </a:solidFill>
                <a:latin typeface="Manrope"/>
              </a:rPr>
              <a:t>6,3 mi</a:t>
            </a:r>
          </a:p>
        </p:txBody>
      </p:sp>
      <p:sp>
        <p:nvSpPr>
          <p:cNvPr id="1131" name="Rótulo alcance na imprensa"/>
          <p:cNvSpPr txBox="1"/>
          <p:nvPr/>
        </p:nvSpPr>
        <p:spPr>
          <a:xfrm>
            <a:off x="411480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alcance na imprensa</a:t>
            </a:r>
          </a:p>
        </p:txBody>
      </p:sp>
      <p:sp>
        <p:nvSpPr>
          <p:cNvPr id="1132" name="Sub alcance na imprensa"/>
          <p:cNvSpPr txBox="1"/>
          <p:nvPr/>
        </p:nvSpPr>
        <p:spPr>
          <a:xfrm>
            <a:off x="411480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maior já registrado</a:t>
            </a:r>
          </a:p>
        </p:txBody>
      </p:sp>
      <p:sp>
        <p:nvSpPr>
          <p:cNvPr id="1133" name="Tile inserções na imprensa"/>
          <p:cNvSpPr/>
          <p:nvPr/>
        </p:nvSpPr>
        <p:spPr>
          <a:xfrm>
            <a:off x="2254910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Big inserções na imprensa"/>
          <p:cNvSpPr txBox="1"/>
          <p:nvPr/>
        </p:nvSpPr>
        <p:spPr>
          <a:xfrm>
            <a:off x="2364638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37919"/>
                </a:solidFill>
                <a:latin typeface="Manrope"/>
              </a:rPr>
              <a:t>69</a:t>
            </a:r>
          </a:p>
        </p:txBody>
      </p:sp>
      <p:sp>
        <p:nvSpPr>
          <p:cNvPr id="1135" name="Rótulo inserções na imprensa"/>
          <p:cNvSpPr txBox="1"/>
          <p:nvPr/>
        </p:nvSpPr>
        <p:spPr>
          <a:xfrm>
            <a:off x="2364638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inserções na imprensa</a:t>
            </a:r>
          </a:p>
        </p:txBody>
      </p:sp>
      <p:sp>
        <p:nvSpPr>
          <p:cNvPr id="1136" name="Sub inserções na imprensa"/>
          <p:cNvSpPr txBox="1"/>
          <p:nvPr/>
        </p:nvSpPr>
        <p:spPr>
          <a:xfrm>
            <a:off x="2364638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clipping da SNT</a:t>
            </a:r>
          </a:p>
        </p:txBody>
      </p:sp>
      <p:sp>
        <p:nvSpPr>
          <p:cNvPr id="1137" name="Tile repercussão orgânica"/>
          <p:cNvSpPr/>
          <p:nvPr/>
        </p:nvSpPr>
        <p:spPr>
          <a:xfrm>
            <a:off x="4208068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Big repercussão orgânica"/>
          <p:cNvSpPr txBox="1"/>
          <p:nvPr/>
        </p:nvSpPr>
        <p:spPr>
          <a:xfrm>
            <a:off x="4317796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71BA"/>
                </a:solidFill>
                <a:latin typeface="Manrope"/>
              </a:rPr>
              <a:t>10,8 mi</a:t>
            </a:r>
          </a:p>
        </p:txBody>
      </p:sp>
      <p:sp>
        <p:nvSpPr>
          <p:cNvPr id="1139" name="Rótulo repercussão orgânica"/>
          <p:cNvSpPr txBox="1"/>
          <p:nvPr/>
        </p:nvSpPr>
        <p:spPr>
          <a:xfrm>
            <a:off x="4317796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repercussão orgânica</a:t>
            </a:r>
          </a:p>
        </p:txBody>
      </p:sp>
      <p:sp>
        <p:nvSpPr>
          <p:cNvPr id="1140" name="Sub repercussão orgânica"/>
          <p:cNvSpPr txBox="1"/>
          <p:nvPr/>
        </p:nvSpPr>
        <p:spPr>
          <a:xfrm>
            <a:off x="4317796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potencial nas redes</a:t>
            </a:r>
          </a:p>
        </p:txBody>
      </p:sp>
      <p:sp>
        <p:nvSpPr>
          <p:cNvPr id="1141" name="Tile alcance da mídia on"/>
          <p:cNvSpPr/>
          <p:nvPr/>
        </p:nvSpPr>
        <p:spPr>
          <a:xfrm>
            <a:off x="6161227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Big alcance da mídia on"/>
          <p:cNvSpPr txBox="1"/>
          <p:nvPr/>
        </p:nvSpPr>
        <p:spPr>
          <a:xfrm>
            <a:off x="6270955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71BA"/>
                </a:solidFill>
                <a:latin typeface="Manrope"/>
              </a:rPr>
              <a:t>1,36 mi</a:t>
            </a:r>
          </a:p>
        </p:txBody>
      </p:sp>
      <p:sp>
        <p:nvSpPr>
          <p:cNvPr id="1143" name="Rótulo alcance da mídia on"/>
          <p:cNvSpPr txBox="1"/>
          <p:nvPr/>
        </p:nvSpPr>
        <p:spPr>
          <a:xfrm>
            <a:off x="6270955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alcance da mídia on</a:t>
            </a:r>
          </a:p>
        </p:txBody>
      </p:sp>
      <p:sp>
        <p:nvSpPr>
          <p:cNvPr id="1144" name="Sub alcance da mídia on"/>
          <p:cNvSpPr txBox="1"/>
          <p:nvPr/>
        </p:nvSpPr>
        <p:spPr>
          <a:xfrm>
            <a:off x="6270955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+15% vs projetado</a:t>
            </a:r>
          </a:p>
        </p:txBody>
      </p:sp>
      <p:sp>
        <p:nvSpPr>
          <p:cNvPr id="1145" name="Tile leitura no ZAP"/>
          <p:cNvSpPr/>
          <p:nvPr/>
        </p:nvSpPr>
        <p:spPr>
          <a:xfrm>
            <a:off x="8114385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Big leitura no ZAP"/>
          <p:cNvSpPr txBox="1"/>
          <p:nvPr/>
        </p:nvSpPr>
        <p:spPr>
          <a:xfrm>
            <a:off x="8224113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43597E"/>
                </a:solidFill>
                <a:latin typeface="Manrope"/>
              </a:rPr>
              <a:t>56,5%</a:t>
            </a:r>
          </a:p>
        </p:txBody>
      </p:sp>
      <p:sp>
        <p:nvSpPr>
          <p:cNvPr id="1147" name="Rótulo leitura no ZAP"/>
          <p:cNvSpPr txBox="1"/>
          <p:nvPr/>
        </p:nvSpPr>
        <p:spPr>
          <a:xfrm>
            <a:off x="8224113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leitura no ZAP</a:t>
            </a:r>
          </a:p>
        </p:txBody>
      </p:sp>
      <p:sp>
        <p:nvSpPr>
          <p:cNvPr id="1148" name="Sub leitura no ZAP"/>
          <p:cNvSpPr txBox="1"/>
          <p:nvPr/>
        </p:nvSpPr>
        <p:spPr>
          <a:xfrm>
            <a:off x="8224113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181 interações</a:t>
            </a:r>
          </a:p>
        </p:txBody>
      </p:sp>
      <p:sp>
        <p:nvSpPr>
          <p:cNvPr id="1149" name="Tile custo vs orçado"/>
          <p:cNvSpPr/>
          <p:nvPr/>
        </p:nvSpPr>
        <p:spPr>
          <a:xfrm>
            <a:off x="10067544" y="1051560"/>
            <a:ext cx="1819656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Big custo vs orçado"/>
          <p:cNvSpPr txBox="1"/>
          <p:nvPr/>
        </p:nvSpPr>
        <p:spPr>
          <a:xfrm>
            <a:off x="10177272" y="1069848"/>
            <a:ext cx="1636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7F4E"/>
                </a:solidFill>
                <a:latin typeface="Manrope"/>
              </a:rPr>
              <a:t>−42%</a:t>
            </a:r>
          </a:p>
        </p:txBody>
      </p:sp>
      <p:sp>
        <p:nvSpPr>
          <p:cNvPr id="1151" name="Rótulo custo vs orçado"/>
          <p:cNvSpPr txBox="1"/>
          <p:nvPr/>
        </p:nvSpPr>
        <p:spPr>
          <a:xfrm>
            <a:off x="10177272" y="1444752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2B52"/>
                </a:solidFill>
                <a:latin typeface="Manrope"/>
              </a:rPr>
              <a:t>custo vs orçado</a:t>
            </a:r>
          </a:p>
        </p:txBody>
      </p:sp>
      <p:sp>
        <p:nvSpPr>
          <p:cNvPr id="1152" name="Sub custo vs orçado"/>
          <p:cNvSpPr txBox="1"/>
          <p:nvPr/>
        </p:nvSpPr>
        <p:spPr>
          <a:xfrm>
            <a:off x="10177272" y="1618488"/>
            <a:ext cx="163677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−70% vs última (R$115 mil)</a:t>
            </a:r>
          </a:p>
        </p:txBody>
      </p:sp>
      <p:sp>
        <p:nvSpPr>
          <p:cNvPr id="1153" name="Seção DIGITAL  |  MÍDIA ON E OFF"/>
          <p:cNvSpPr/>
          <p:nvPr/>
        </p:nvSpPr>
        <p:spPr>
          <a:xfrm>
            <a:off x="301752" y="1920240"/>
            <a:ext cx="7424927" cy="237744"/>
          </a:xfrm>
          <a:prstGeom prst="roundRect">
            <a:avLst>
              <a:gd name="adj" fmla="val 30000"/>
            </a:avLst>
          </a:prstGeom>
          <a:solidFill>
            <a:srgbClr val="197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Seção texto DIGITAL  |  MÍDIA ON E OFF"/>
          <p:cNvSpPr txBox="1"/>
          <p:nvPr/>
        </p:nvSpPr>
        <p:spPr>
          <a:xfrm>
            <a:off x="411480" y="1920240"/>
            <a:ext cx="7242047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DIGITAL  |  MÍDIA ON E OFF</a:t>
            </a:r>
          </a:p>
        </p:txBody>
      </p:sp>
      <p:sp>
        <p:nvSpPr>
          <p:cNvPr id="1155" name="KPI ALCANCE"/>
          <p:cNvSpPr/>
          <p:nvPr/>
        </p:nvSpPr>
        <p:spPr>
          <a:xfrm>
            <a:off x="301752" y="2240280"/>
            <a:ext cx="1234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KPI rótulo ALCANCE"/>
          <p:cNvSpPr txBox="1"/>
          <p:nvPr/>
        </p:nvSpPr>
        <p:spPr>
          <a:xfrm>
            <a:off x="393192" y="2295144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894"/>
                </a:solidFill>
                <a:latin typeface="Manrope"/>
              </a:rPr>
              <a:t>ALCANCE</a:t>
            </a:r>
          </a:p>
        </p:txBody>
      </p:sp>
      <p:sp>
        <p:nvSpPr>
          <p:cNvPr id="1157" name="KPI valor ALCANCE"/>
          <p:cNvSpPr txBox="1"/>
          <p:nvPr/>
        </p:nvSpPr>
        <p:spPr>
          <a:xfrm>
            <a:off x="393192" y="244144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2B52"/>
                </a:solidFill>
                <a:latin typeface="Manrope"/>
              </a:rPr>
              <a:t>1.360.593</a:t>
            </a:r>
          </a:p>
        </p:txBody>
      </p:sp>
      <p:sp>
        <p:nvSpPr>
          <p:cNvPr id="1158" name="KPI delta ALCANCE"/>
          <p:cNvSpPr txBox="1"/>
          <p:nvPr/>
        </p:nvSpPr>
        <p:spPr>
          <a:xfrm>
            <a:off x="393192" y="273405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B7F4E"/>
                </a:solidFill>
                <a:latin typeface="Manrope"/>
              </a:rPr>
              <a:t>+15% proj.</a:t>
            </a:r>
          </a:p>
        </p:txBody>
      </p:sp>
      <p:sp>
        <p:nvSpPr>
          <p:cNvPr id="1159" name="KPI IMPRESSÕES"/>
          <p:cNvSpPr/>
          <p:nvPr/>
        </p:nvSpPr>
        <p:spPr>
          <a:xfrm>
            <a:off x="1581912" y="2240280"/>
            <a:ext cx="1234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KPI rótulo IMPRESSÕES"/>
          <p:cNvSpPr txBox="1"/>
          <p:nvPr/>
        </p:nvSpPr>
        <p:spPr>
          <a:xfrm>
            <a:off x="1673352" y="2295144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894"/>
                </a:solidFill>
                <a:latin typeface="Manrope"/>
              </a:rPr>
              <a:t>IMPRESSÕES</a:t>
            </a:r>
          </a:p>
        </p:txBody>
      </p:sp>
      <p:sp>
        <p:nvSpPr>
          <p:cNvPr id="1161" name="KPI valor IMPRESSÕES"/>
          <p:cNvSpPr txBox="1"/>
          <p:nvPr/>
        </p:nvSpPr>
        <p:spPr>
          <a:xfrm>
            <a:off x="1673352" y="244144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2B52"/>
                </a:solidFill>
                <a:latin typeface="Manrope"/>
              </a:rPr>
              <a:t>2.449.067</a:t>
            </a:r>
          </a:p>
        </p:txBody>
      </p:sp>
      <p:sp>
        <p:nvSpPr>
          <p:cNvPr id="1162" name="KPI delta IMPRESSÕES"/>
          <p:cNvSpPr txBox="1"/>
          <p:nvPr/>
        </p:nvSpPr>
        <p:spPr>
          <a:xfrm>
            <a:off x="1673352" y="273405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F37919"/>
                </a:solidFill>
                <a:latin typeface="Manrope"/>
              </a:rPr>
              <a:t>−33% proj.</a:t>
            </a:r>
          </a:p>
        </p:txBody>
      </p:sp>
      <p:sp>
        <p:nvSpPr>
          <p:cNvPr id="1163" name="KPI CLIQUES"/>
          <p:cNvSpPr/>
          <p:nvPr/>
        </p:nvSpPr>
        <p:spPr>
          <a:xfrm>
            <a:off x="301752" y="3017520"/>
            <a:ext cx="1234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KPI rótulo CLIQUES"/>
          <p:cNvSpPr txBox="1"/>
          <p:nvPr/>
        </p:nvSpPr>
        <p:spPr>
          <a:xfrm>
            <a:off x="393192" y="3072384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894"/>
                </a:solidFill>
                <a:latin typeface="Manrope"/>
              </a:rPr>
              <a:t>CLIQUES</a:t>
            </a:r>
          </a:p>
        </p:txBody>
      </p:sp>
      <p:sp>
        <p:nvSpPr>
          <p:cNvPr id="1165" name="KPI valor CLIQUES"/>
          <p:cNvSpPr txBox="1"/>
          <p:nvPr/>
        </p:nvSpPr>
        <p:spPr>
          <a:xfrm>
            <a:off x="393192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2B52"/>
                </a:solidFill>
                <a:latin typeface="Manrope"/>
              </a:rPr>
              <a:t>29.233</a:t>
            </a:r>
          </a:p>
        </p:txBody>
      </p:sp>
      <p:sp>
        <p:nvSpPr>
          <p:cNvPr id="1166" name="KPI delta CLIQUES"/>
          <p:cNvSpPr txBox="1"/>
          <p:nvPr/>
        </p:nvSpPr>
        <p:spPr>
          <a:xfrm>
            <a:off x="393192" y="351129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B7F4E"/>
                </a:solidFill>
                <a:latin typeface="Manrope"/>
              </a:rPr>
              <a:t>+26% proj.</a:t>
            </a:r>
          </a:p>
        </p:txBody>
      </p:sp>
      <p:sp>
        <p:nvSpPr>
          <p:cNvPr id="1167" name="KPI NOVOS SEGUIDORES"/>
          <p:cNvSpPr/>
          <p:nvPr/>
        </p:nvSpPr>
        <p:spPr>
          <a:xfrm>
            <a:off x="1581912" y="3017520"/>
            <a:ext cx="123444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KPI rótulo NOVOS SEGUIDORES"/>
          <p:cNvSpPr txBox="1"/>
          <p:nvPr/>
        </p:nvSpPr>
        <p:spPr>
          <a:xfrm>
            <a:off x="1673352" y="3072384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894"/>
                </a:solidFill>
                <a:latin typeface="Manrope"/>
              </a:rPr>
              <a:t>NOVOS SEGUIDORES</a:t>
            </a:r>
          </a:p>
        </p:txBody>
      </p:sp>
      <p:sp>
        <p:nvSpPr>
          <p:cNvPr id="1169" name="KPI valor NOVOS SEGUIDORES"/>
          <p:cNvSpPr txBox="1"/>
          <p:nvPr/>
        </p:nvSpPr>
        <p:spPr>
          <a:xfrm>
            <a:off x="1673352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2B52"/>
                </a:solidFill>
                <a:latin typeface="Manrope"/>
              </a:rPr>
              <a:t>137</a:t>
            </a:r>
          </a:p>
        </p:txBody>
      </p:sp>
      <p:sp>
        <p:nvSpPr>
          <p:cNvPr id="1170" name="KPI delta NOVOS SEGUIDORES"/>
          <p:cNvSpPr txBox="1"/>
          <p:nvPr/>
        </p:nvSpPr>
        <p:spPr>
          <a:xfrm>
            <a:off x="1673352" y="351129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B7F4E"/>
                </a:solidFill>
                <a:latin typeface="Manrope"/>
              </a:rPr>
              <a:t>+2.640% proj.</a:t>
            </a:r>
          </a:p>
        </p:txBody>
      </p:sp>
      <p:sp>
        <p:nvSpPr>
          <p:cNvPr id="1171" name="Invest ON"/>
          <p:cNvSpPr txBox="1"/>
          <p:nvPr/>
        </p:nvSpPr>
        <p:spPr>
          <a:xfrm>
            <a:off x="301752" y="3813048"/>
            <a:ext cx="2514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94"/>
                </a:solidFill>
                <a:latin typeface="Manrope"/>
              </a:rPr>
              <a:t>Investimento on  </a:t>
            </a:r>
            <a:r>
              <a:rPr sz="1000" b="1">
                <a:solidFill>
                  <a:srgbClr val="142B52"/>
                </a:solidFill>
                <a:latin typeface="Manrope"/>
              </a:rPr>
              <a:t>R$ 10.539,60</a:t>
            </a:r>
          </a:p>
        </p:txBody>
      </p:sp>
      <p:sp>
        <p:nvSpPr>
          <p:cNvPr id="1172" name="Título off"/>
          <p:cNvSpPr txBox="1"/>
          <p:nvPr/>
        </p:nvSpPr>
        <p:spPr>
          <a:xfrm>
            <a:off x="301752" y="4114800"/>
            <a:ext cx="2514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3597E"/>
                </a:solidFill>
                <a:latin typeface="Manrope"/>
              </a:rPr>
              <a:t>MÍDIA OFF</a:t>
            </a:r>
          </a:p>
        </p:txBody>
      </p:sp>
      <p:pic>
        <p:nvPicPr>
          <p:cNvPr id="1173" name="Foto OOH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4343400"/>
            <a:ext cx="1097280" cy="734684"/>
          </a:xfrm>
          <a:prstGeom prst="rect">
            <a:avLst/>
          </a:prstGeom>
        </p:spPr>
      </p:pic>
      <p:sp>
        <p:nvSpPr>
          <p:cNvPr id="1174" name="Texto OOH"/>
          <p:cNvSpPr txBox="1"/>
          <p:nvPr/>
        </p:nvSpPr>
        <p:spPr>
          <a:xfrm>
            <a:off x="1481328" y="4343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2B52"/>
                </a:solidFill>
                <a:latin typeface="Manrope"/>
              </a:rPr>
              <a:t>OOH Betim (MG)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2B52"/>
                </a:solidFill>
                <a:latin typeface="Manrope"/>
              </a:rPr>
              <a:t>15/09 a 04/10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2B52"/>
                </a:solidFill>
                <a:latin typeface="Manrope"/>
              </a:rPr>
              <a:t>4 pontos em passagens em nível</a:t>
            </a:r>
          </a:p>
        </p:txBody>
      </p:sp>
      <p:sp>
        <p:nvSpPr>
          <p:cNvPr id="1175" name="Invest OFF"/>
          <p:cNvSpPr txBox="1"/>
          <p:nvPr/>
        </p:nvSpPr>
        <p:spPr>
          <a:xfrm>
            <a:off x="301752" y="5212080"/>
            <a:ext cx="2514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94"/>
                </a:solidFill>
                <a:latin typeface="Manrope"/>
              </a:rPr>
              <a:t>Investimento off  </a:t>
            </a:r>
            <a:r>
              <a:rPr sz="1000" b="1">
                <a:solidFill>
                  <a:srgbClr val="142B52"/>
                </a:solidFill>
                <a:latin typeface="Manrope"/>
              </a:rPr>
              <a:t>R$ 5.738,01</a:t>
            </a:r>
          </a:p>
        </p:txBody>
      </p:sp>
      <p:sp>
        <p:nvSpPr>
          <p:cNvPr id="1176" name="Destaques"/>
          <p:cNvSpPr/>
          <p:nvPr/>
        </p:nvSpPr>
        <p:spPr>
          <a:xfrm>
            <a:off x="2926080" y="2240280"/>
            <a:ext cx="4800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Destaques título"/>
          <p:cNvSpPr txBox="1"/>
          <p:nvPr/>
        </p:nvSpPr>
        <p:spPr>
          <a:xfrm>
            <a:off x="3035808" y="2286000"/>
            <a:ext cx="45811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3597E"/>
                </a:solidFill>
                <a:latin typeface="Manrope"/>
              </a:rPr>
              <a:t>DESTAQUES</a:t>
            </a:r>
          </a:p>
        </p:txBody>
      </p:sp>
      <p:sp>
        <p:nvSpPr>
          <p:cNvPr id="1178" name="Destaques texto"/>
          <p:cNvSpPr txBox="1"/>
          <p:nvPr/>
        </p:nvSpPr>
        <p:spPr>
          <a:xfrm>
            <a:off x="3035808" y="2468880"/>
            <a:ext cx="458114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B52"/>
                </a:solidFill>
                <a:latin typeface="Manrope"/>
              </a:rPr>
              <a:t>Criativo: </a:t>
            </a:r>
            <a:r>
              <a:rPr sz="1100" b="0">
                <a:solidFill>
                  <a:srgbClr val="142B52"/>
                </a:solidFill>
                <a:latin typeface="Manrope"/>
              </a:rPr>
              <a:t>identidade unificada do Movimento + ID Maio Amarelo.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B52"/>
                </a:solidFill>
                <a:latin typeface="Manrope"/>
              </a:rPr>
              <a:t>Mídia: </a:t>
            </a:r>
            <a:r>
              <a:rPr sz="1100" b="0">
                <a:solidFill>
                  <a:srgbClr val="142B52"/>
                </a:solidFill>
                <a:latin typeface="Manrope"/>
              </a:rPr>
              <a:t>Dia D + trânsito; público 45+ foi quase metade do alcance.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B52"/>
                </a:solidFill>
                <a:latin typeface="Manrope"/>
              </a:rPr>
              <a:t>Conteúdo: </a:t>
            </a:r>
            <a:r>
              <a:rPr sz="1100" b="0">
                <a:solidFill>
                  <a:srgbClr val="142B52"/>
                </a:solidFill>
                <a:latin typeface="Manrope"/>
              </a:rPr>
              <a:t>tom próximo e acessível elevou o alcance médio.</a:t>
            </a:r>
          </a:p>
        </p:txBody>
      </p:sp>
      <p:sp>
        <p:nvSpPr>
          <p:cNvPr id="1179" name="Título tabela"/>
          <p:cNvSpPr txBox="1"/>
          <p:nvPr/>
        </p:nvSpPr>
        <p:spPr>
          <a:xfrm>
            <a:off x="2926080" y="3401568"/>
            <a:ext cx="4800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3597E"/>
                </a:solidFill>
                <a:latin typeface="Manrope"/>
              </a:rPr>
              <a:t>CONTEÚDO DE REDES | DESTAQUES</a:t>
            </a:r>
          </a:p>
        </p:txBody>
      </p:sp>
      <p:graphicFrame>
        <p:nvGraphicFramePr>
          <p:cNvPr id="1180" name="Tabela conteúdos"/>
          <p:cNvGraphicFramePr>
            <a:graphicFrameLocks noGrp="1"/>
          </p:cNvGraphicFramePr>
          <p:nvPr/>
        </p:nvGraphicFramePr>
        <p:xfrm>
          <a:off x="2926080" y="3584448"/>
          <a:ext cx="4800600" cy="713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502920"/>
                <a:gridCol w="822960"/>
                <a:gridCol w="457200"/>
                <a:gridCol w="128016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nrope"/>
                        </a:rPr>
                        <a:t>CONTEÚDO</a:t>
                      </a:r>
                    </a:p>
                  </a:txBody>
                  <a:tcPr marL="45720" marR="45720" marT="18288" marB="18288" anchor="ctr"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nrope"/>
                        </a:rPr>
                        <a:t>REDE</a:t>
                      </a:r>
                    </a:p>
                  </a:txBody>
                  <a:tcPr marL="45720" marR="45720" marT="18288" marB="18288" anchor="ctr"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nrope"/>
                        </a:rPr>
                        <a:t>ALCANCE</a:t>
                      </a:r>
                    </a:p>
                  </a:txBody>
                  <a:tcPr marL="45720" marR="45720" marT="18288" marB="18288" anchor="ctr"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nrope"/>
                        </a:rPr>
                        <a:t>ENG.</a:t>
                      </a:r>
                    </a:p>
                  </a:txBody>
                  <a:tcPr marL="45720" marR="45720" marT="18288" marB="18288" anchor="ctr"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nrope"/>
                        </a:rPr>
                        <a:t>DESTAQUE</a:t>
                      </a:r>
                    </a:p>
                  </a:txBody>
                  <a:tcPr marL="45720" marR="45720" marT="18288" marB="18288" anchor="ctr">
                    <a:solidFill>
                      <a:srgbClr val="1971B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Chamada para a SNT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META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2B52"/>
                          </a:solidFill>
                          <a:latin typeface="Manrope"/>
                        </a:rPr>
                        <a:t>1.940.878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1,12%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TOP 5 Alcance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Setembro Amarelo com Dummy</a:t>
                      </a:r>
                    </a:p>
                  </a:txBody>
                  <a:tcPr marL="45720" marR="45720" marT="18288" marB="18288" anchor="ctr"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META</a:t>
                      </a:r>
                    </a:p>
                  </a:txBody>
                  <a:tcPr marL="45720" marR="45720" marT="18288" marB="18288" anchor="ctr"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42B52"/>
                          </a:solidFill>
                          <a:latin typeface="Manrope"/>
                        </a:rPr>
                        <a:t>1.853.420</a:t>
                      </a:r>
                    </a:p>
                  </a:txBody>
                  <a:tcPr marL="45720" marR="45720" marT="18288" marB="18288" anchor="ctr"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0,2%</a:t>
                      </a:r>
                    </a:p>
                  </a:txBody>
                  <a:tcPr marL="45720" marR="45720" marT="18288" marB="18288" anchor="ctr">
                    <a:solidFill>
                      <a:srgbClr val="E6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2B52"/>
                          </a:solidFill>
                          <a:latin typeface="Manrope"/>
                        </a:rPr>
                        <a:t>TOP 5 Alcance</a:t>
                      </a:r>
                    </a:p>
                  </a:txBody>
                  <a:tcPr marL="45720" marR="45720" marT="18288" marB="18288" anchor="ctr">
                    <a:solidFill>
                      <a:srgbClr val="E6EBF3"/>
                    </a:solidFill>
                  </a:tcPr>
                </a:tc>
              </a:tr>
            </a:tbl>
          </a:graphicData>
        </a:graphic>
      </p:graphicFrame>
      <p:pic>
        <p:nvPicPr>
          <p:cNvPr id="1181" name="Story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4389120"/>
            <a:ext cx="671151" cy="1051560"/>
          </a:xfrm>
          <a:prstGeom prst="rect">
            <a:avLst/>
          </a:prstGeom>
        </p:spPr>
      </p:pic>
      <p:pic>
        <p:nvPicPr>
          <p:cNvPr id="1182" name="Story 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4389120"/>
            <a:ext cx="672131" cy="1051560"/>
          </a:xfrm>
          <a:prstGeom prst="rect">
            <a:avLst/>
          </a:prstGeom>
        </p:spPr>
      </p:pic>
      <p:pic>
        <p:nvPicPr>
          <p:cNvPr id="1183" name="Story 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389120"/>
            <a:ext cx="636743" cy="1051560"/>
          </a:xfrm>
          <a:prstGeom prst="rect">
            <a:avLst/>
          </a:prstGeom>
        </p:spPr>
      </p:pic>
      <p:pic>
        <p:nvPicPr>
          <p:cNvPr id="1184" name="Story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4389120"/>
            <a:ext cx="630936" cy="1051560"/>
          </a:xfrm>
          <a:prstGeom prst="rect">
            <a:avLst/>
          </a:prstGeom>
        </p:spPr>
      </p:pic>
      <p:sp>
        <p:nvSpPr>
          <p:cNvPr id="1185" name="Rótulo criativo"/>
          <p:cNvSpPr txBox="1"/>
          <p:nvPr/>
        </p:nvSpPr>
        <p:spPr>
          <a:xfrm>
            <a:off x="6446520" y="4389120"/>
            <a:ext cx="12801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894"/>
                </a:solidFill>
                <a:latin typeface="Manrope"/>
              </a:rPr>
              <a:t>CRIATIVO PRINCIPAL</a:t>
            </a:r>
          </a:p>
        </p:txBody>
      </p:sp>
      <p:pic>
        <p:nvPicPr>
          <p:cNvPr id="1186" name="Criativo principa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4572000"/>
            <a:ext cx="1280160" cy="418207"/>
          </a:xfrm>
          <a:prstGeom prst="rect">
            <a:avLst/>
          </a:prstGeom>
        </p:spPr>
      </p:pic>
      <p:sp>
        <p:nvSpPr>
          <p:cNvPr id="1187" name="Seção DIGITAL  |  REPERCUSSÃO ORGÂNICA"/>
          <p:cNvSpPr/>
          <p:nvPr/>
        </p:nvSpPr>
        <p:spPr>
          <a:xfrm>
            <a:off x="7863840" y="1920240"/>
            <a:ext cx="4023360" cy="237744"/>
          </a:xfrm>
          <a:prstGeom prst="roundRect">
            <a:avLst>
              <a:gd name="adj" fmla="val 30000"/>
            </a:avLst>
          </a:prstGeom>
          <a:solidFill>
            <a:srgbClr val="197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Seção texto DIGITAL  |  REPERCUSSÃO ORGÂNICA"/>
          <p:cNvSpPr txBox="1"/>
          <p:nvPr/>
        </p:nvSpPr>
        <p:spPr>
          <a:xfrm>
            <a:off x="7973567" y="1920240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DIGITAL  |  REPERCUSSÃO ORGÂNICA</a:t>
            </a:r>
          </a:p>
        </p:txBody>
      </p:sp>
      <p:sp>
        <p:nvSpPr>
          <p:cNvPr id="1189" name="Card orgânico"/>
          <p:cNvSpPr/>
          <p:nvPr/>
        </p:nvSpPr>
        <p:spPr>
          <a:xfrm>
            <a:off x="7863840" y="2240280"/>
            <a:ext cx="40233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971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rgânico alcance"/>
          <p:cNvSpPr txBox="1"/>
          <p:nvPr/>
        </p:nvSpPr>
        <p:spPr>
          <a:xfrm>
            <a:off x="8001000" y="2267712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71BA"/>
                </a:solidFill>
                <a:latin typeface="Manrope"/>
              </a:rPr>
              <a:t>10,8 mi</a:t>
            </a:r>
          </a:p>
        </p:txBody>
      </p:sp>
      <p:sp>
        <p:nvSpPr>
          <p:cNvPr id="1191" name="Rótulo orgânico"/>
          <p:cNvSpPr txBox="1"/>
          <p:nvPr/>
        </p:nvSpPr>
        <p:spPr>
          <a:xfrm>
            <a:off x="8001000" y="277063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94"/>
                </a:solidFill>
                <a:latin typeface="Manrope"/>
              </a:rPr>
              <a:t>alcance potencial nas redes públicas</a:t>
            </a:r>
          </a:p>
        </p:txBody>
      </p:sp>
      <p:pic>
        <p:nvPicPr>
          <p:cNvPr id="1192" name="Repercussão foto 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1320" y="2304288"/>
            <a:ext cx="690118" cy="868680"/>
          </a:xfrm>
          <a:prstGeom prst="rect">
            <a:avLst/>
          </a:prstGeom>
        </p:spPr>
      </p:pic>
      <p:pic>
        <p:nvPicPr>
          <p:cNvPr id="1193" name="Repercussão foto 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92840" y="2350008"/>
            <a:ext cx="543143" cy="868680"/>
          </a:xfrm>
          <a:prstGeom prst="rect">
            <a:avLst/>
          </a:prstGeom>
        </p:spPr>
      </p:pic>
      <p:sp>
        <p:nvSpPr>
          <p:cNvPr id="1194" name="Título repercussão"/>
          <p:cNvSpPr txBox="1"/>
          <p:nvPr/>
        </p:nvSpPr>
        <p:spPr>
          <a:xfrm>
            <a:off x="8001000" y="3218688"/>
            <a:ext cx="37490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971BA"/>
                </a:solidFill>
                <a:latin typeface="Manrope"/>
              </a:rPr>
              <a:t>O CUIDADO ECOOU EM MAR ABERTO</a:t>
            </a:r>
          </a:p>
        </p:txBody>
      </p:sp>
      <p:sp>
        <p:nvSpPr>
          <p:cNvPr id="1195" name="Texto repercussão"/>
          <p:cNvSpPr txBox="1"/>
          <p:nvPr/>
        </p:nvSpPr>
        <p:spPr>
          <a:xfrm>
            <a:off x="8001000" y="3383280"/>
            <a:ext cx="3749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2B52"/>
                </a:solidFill>
                <a:latin typeface="Manrope"/>
              </a:rPr>
              <a:t>Imprensa e comunidades locais compartilharam o simulado, </a:t>
            </a:r>
            <a:r>
              <a:rPr sz="1000" b="1">
                <a:solidFill>
                  <a:srgbClr val="142B52"/>
                </a:solidFill>
                <a:latin typeface="Manrope"/>
              </a:rPr>
              <a:t>fortalecendo o IR da VLI.</a:t>
            </a:r>
          </a:p>
        </p:txBody>
      </p:sp>
      <p:sp>
        <p:nvSpPr>
          <p:cNvPr id="1196" name="Divisor orgânico"/>
          <p:cNvSpPr/>
          <p:nvPr/>
        </p:nvSpPr>
        <p:spPr>
          <a:xfrm>
            <a:off x="8001000" y="3794760"/>
            <a:ext cx="3749040" cy="0"/>
          </a:xfrm>
          <a:prstGeom prst="rect">
            <a:avLst/>
          </a:prstGeom>
          <a:noFill/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Collab KPI"/>
          <p:cNvSpPr txBox="1"/>
          <p:nvPr/>
        </p:nvSpPr>
        <p:spPr>
          <a:xfrm>
            <a:off x="8001000" y="3858768"/>
            <a:ext cx="1188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971BA"/>
                </a:solidFill>
                <a:latin typeface="Manrope"/>
              </a:rPr>
              <a:t>155 mil</a:t>
            </a:r>
          </a:p>
        </p:txBody>
      </p:sp>
      <p:sp>
        <p:nvSpPr>
          <p:cNvPr id="1198" name="Collab texto"/>
          <p:cNvSpPr txBox="1"/>
          <p:nvPr/>
        </p:nvSpPr>
        <p:spPr>
          <a:xfrm>
            <a:off x="9235440" y="385876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43597E"/>
                </a:solidFill>
                <a:latin typeface="Manrope"/>
              </a:rPr>
              <a:t>views orgânicas nos posts Collab</a:t>
            </a:r>
          </a:p>
        </p:txBody>
      </p:sp>
      <p:pic>
        <p:nvPicPr>
          <p:cNvPr id="1199" name="Collab 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7040" y="3858768"/>
            <a:ext cx="307683" cy="411480"/>
          </a:xfrm>
          <a:prstGeom prst="rect">
            <a:avLst/>
          </a:prstGeom>
        </p:spPr>
      </p:pic>
      <p:pic>
        <p:nvPicPr>
          <p:cNvPr id="1200" name="Collab 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64240" y="3858768"/>
            <a:ext cx="305212" cy="411480"/>
          </a:xfrm>
          <a:prstGeom prst="rect">
            <a:avLst/>
          </a:prstGeom>
        </p:spPr>
      </p:pic>
      <p:sp>
        <p:nvSpPr>
          <p:cNvPr id="1201" name="Seção IMPRENSA"/>
          <p:cNvSpPr/>
          <p:nvPr/>
        </p:nvSpPr>
        <p:spPr>
          <a:xfrm>
            <a:off x="7863840" y="4462272"/>
            <a:ext cx="4023360" cy="237744"/>
          </a:xfrm>
          <a:prstGeom prst="roundRect">
            <a:avLst>
              <a:gd name="adj" fmla="val 30000"/>
            </a:avLst>
          </a:prstGeom>
          <a:solidFill>
            <a:srgbClr val="F37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Seção texto IMPRENSA"/>
          <p:cNvSpPr txBox="1"/>
          <p:nvPr/>
        </p:nvSpPr>
        <p:spPr>
          <a:xfrm>
            <a:off x="7973567" y="4462272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IMPRENSA</a:t>
            </a:r>
          </a:p>
        </p:txBody>
      </p:sp>
      <p:sp>
        <p:nvSpPr>
          <p:cNvPr id="1203" name="Card imprensa"/>
          <p:cNvSpPr/>
          <p:nvPr/>
        </p:nvSpPr>
        <p:spPr>
          <a:xfrm>
            <a:off x="7863840" y="4782312"/>
            <a:ext cx="4023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37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Imprensa alcance"/>
          <p:cNvSpPr txBox="1"/>
          <p:nvPr/>
        </p:nvSpPr>
        <p:spPr>
          <a:xfrm>
            <a:off x="8001000" y="477316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37919"/>
                </a:solidFill>
                <a:latin typeface="Manrope"/>
              </a:rPr>
              <a:t>6,3 mi</a:t>
            </a:r>
          </a:p>
        </p:txBody>
      </p:sp>
      <p:sp>
        <p:nvSpPr>
          <p:cNvPr id="1205" name="Rótulo alcance imprensa"/>
          <p:cNvSpPr txBox="1"/>
          <p:nvPr/>
        </p:nvSpPr>
        <p:spPr>
          <a:xfrm>
            <a:off x="8001000" y="5230368"/>
            <a:ext cx="1463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894"/>
                </a:solidFill>
                <a:latin typeface="Manrope"/>
              </a:rPr>
              <a:t>de alcance</a:t>
            </a:r>
          </a:p>
        </p:txBody>
      </p:sp>
      <p:sp>
        <p:nvSpPr>
          <p:cNvPr id="1206" name="Imprensa inserções"/>
          <p:cNvSpPr txBox="1"/>
          <p:nvPr/>
        </p:nvSpPr>
        <p:spPr>
          <a:xfrm>
            <a:off x="9509760" y="4800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2B52"/>
                </a:solidFill>
                <a:latin typeface="Manrope"/>
              </a:rPr>
              <a:t>69</a:t>
            </a:r>
          </a:p>
        </p:txBody>
      </p:sp>
      <p:sp>
        <p:nvSpPr>
          <p:cNvPr id="1207" name="Rótulo inserções"/>
          <p:cNvSpPr txBox="1"/>
          <p:nvPr/>
        </p:nvSpPr>
        <p:spPr>
          <a:xfrm>
            <a:off x="9509760" y="5193792"/>
            <a:ext cx="9144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894"/>
                </a:solidFill>
                <a:latin typeface="Manrope"/>
              </a:rPr>
              <a:t>inserções</a:t>
            </a:r>
          </a:p>
        </p:txBody>
      </p:sp>
      <p:sp>
        <p:nvSpPr>
          <p:cNvPr id="1208" name="Selo recorde"/>
          <p:cNvSpPr/>
          <p:nvPr/>
        </p:nvSpPr>
        <p:spPr>
          <a:xfrm>
            <a:off x="10469880" y="4910328"/>
            <a:ext cx="1280160" cy="384048"/>
          </a:xfrm>
          <a:prstGeom prst="roundRect">
            <a:avLst>
              <a:gd name="adj" fmla="val 40000"/>
            </a:avLst>
          </a:prstGeom>
          <a:solidFill>
            <a:srgbClr val="F37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Selo texto"/>
          <p:cNvSpPr txBox="1"/>
          <p:nvPr/>
        </p:nvSpPr>
        <p:spPr>
          <a:xfrm>
            <a:off x="10469880" y="4910328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nrope"/>
              </a:rPr>
              <a:t>MAIOR ALCANCE JÁ REGISTRADO</a:t>
            </a:r>
          </a:p>
        </p:txBody>
      </p:sp>
      <p:sp>
        <p:nvSpPr>
          <p:cNvPr id="1210" name="Seção COMUNICAÇÃO INTERNA  |  Jornada integrada: E-mail MKT + ZAP + Intranet"/>
          <p:cNvSpPr/>
          <p:nvPr/>
        </p:nvSpPr>
        <p:spPr>
          <a:xfrm>
            <a:off x="301752" y="5577840"/>
            <a:ext cx="11585448" cy="237744"/>
          </a:xfrm>
          <a:prstGeom prst="roundRect">
            <a:avLst>
              <a:gd name="adj" fmla="val 30000"/>
            </a:avLst>
          </a:prstGeom>
          <a:solidFill>
            <a:srgbClr val="435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Seção texto COMUNICAÇÃO INTERNA  |  Jornada integrada: E-mail MKT + ZAP + Intranet"/>
          <p:cNvSpPr txBox="1"/>
          <p:nvPr/>
        </p:nvSpPr>
        <p:spPr>
          <a:xfrm>
            <a:off x="411480" y="5577840"/>
            <a:ext cx="114025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COMUNICAÇÃO INTERNA  |  Jornada integrada: E-mail MKT + ZAP + Intranet</a:t>
            </a:r>
          </a:p>
        </p:txBody>
      </p:sp>
      <p:sp>
        <p:nvSpPr>
          <p:cNvPr id="1212" name="Canal E-MAIL MKT"/>
          <p:cNvSpPr/>
          <p:nvPr/>
        </p:nvSpPr>
        <p:spPr>
          <a:xfrm>
            <a:off x="301752" y="5870448"/>
            <a:ext cx="225856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Canal rótulo E-MAIL MKT"/>
          <p:cNvSpPr txBox="1"/>
          <p:nvPr/>
        </p:nvSpPr>
        <p:spPr>
          <a:xfrm>
            <a:off x="393192" y="5916168"/>
            <a:ext cx="21031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3597E"/>
                </a:solidFill>
                <a:latin typeface="Manrope"/>
              </a:rPr>
              <a:t>E-MAIL MKT</a:t>
            </a:r>
          </a:p>
        </p:txBody>
      </p:sp>
      <p:sp>
        <p:nvSpPr>
          <p:cNvPr id="1214" name="Canal KPI E-MAIL MKT"/>
          <p:cNvSpPr txBox="1"/>
          <p:nvPr/>
        </p:nvSpPr>
        <p:spPr>
          <a:xfrm>
            <a:off x="393192" y="6053327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B52"/>
                </a:solidFill>
                <a:latin typeface="Manrope"/>
              </a:rPr>
              <a:t>16,7%</a:t>
            </a:r>
            <a:r>
              <a:rPr sz="950" b="0">
                <a:solidFill>
                  <a:srgbClr val="6B7894"/>
                </a:solidFill>
                <a:latin typeface="Manrope"/>
              </a:rPr>
              <a:t>  abertura</a:t>
            </a:r>
          </a:p>
        </p:txBody>
      </p:sp>
      <p:sp>
        <p:nvSpPr>
          <p:cNvPr id="1215" name="Canal detalhe E-MAIL MKT"/>
          <p:cNvSpPr txBox="1"/>
          <p:nvPr/>
        </p:nvSpPr>
        <p:spPr>
          <a:xfrm>
            <a:off x="393192" y="638251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4.794 enviados · 50 cliques</a:t>
            </a:r>
          </a:p>
        </p:txBody>
      </p:sp>
      <p:sp>
        <p:nvSpPr>
          <p:cNvPr id="1216" name="Canal ZAP VLI"/>
          <p:cNvSpPr/>
          <p:nvPr/>
        </p:nvSpPr>
        <p:spPr>
          <a:xfrm>
            <a:off x="2633472" y="5870448"/>
            <a:ext cx="225856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Canal rótulo ZAP VLI"/>
          <p:cNvSpPr txBox="1"/>
          <p:nvPr/>
        </p:nvSpPr>
        <p:spPr>
          <a:xfrm>
            <a:off x="2724912" y="5916168"/>
            <a:ext cx="21031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3597E"/>
                </a:solidFill>
                <a:latin typeface="Manrope"/>
              </a:rPr>
              <a:t>ZAP VLI</a:t>
            </a:r>
          </a:p>
        </p:txBody>
      </p:sp>
      <p:sp>
        <p:nvSpPr>
          <p:cNvPr id="1218" name="Canal KPI ZAP VLI"/>
          <p:cNvSpPr txBox="1"/>
          <p:nvPr/>
        </p:nvSpPr>
        <p:spPr>
          <a:xfrm>
            <a:off x="2724912" y="6053327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B52"/>
                </a:solidFill>
                <a:latin typeface="Manrope"/>
              </a:rPr>
              <a:t>56,5%</a:t>
            </a:r>
            <a:r>
              <a:rPr sz="950" b="0">
                <a:solidFill>
                  <a:srgbClr val="6B7894"/>
                </a:solidFill>
                <a:latin typeface="Manrope"/>
              </a:rPr>
              <a:t>  leitura</a:t>
            </a:r>
          </a:p>
        </p:txBody>
      </p:sp>
      <p:sp>
        <p:nvSpPr>
          <p:cNvPr id="1219" name="Canal detalhe ZAP VLI"/>
          <p:cNvSpPr txBox="1"/>
          <p:nvPr/>
        </p:nvSpPr>
        <p:spPr>
          <a:xfrm>
            <a:off x="2724912" y="638251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3.516 recebidas · 181 interações (9,1%)</a:t>
            </a:r>
          </a:p>
        </p:txBody>
      </p:sp>
      <p:sp>
        <p:nvSpPr>
          <p:cNvPr id="1220" name="Canal INTRANET VLI@"/>
          <p:cNvSpPr/>
          <p:nvPr/>
        </p:nvSpPr>
        <p:spPr>
          <a:xfrm>
            <a:off x="4965192" y="5870448"/>
            <a:ext cx="225856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Canal rótulo INTRANET VLI@"/>
          <p:cNvSpPr txBox="1"/>
          <p:nvPr/>
        </p:nvSpPr>
        <p:spPr>
          <a:xfrm>
            <a:off x="5056631" y="5916168"/>
            <a:ext cx="21031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3597E"/>
                </a:solidFill>
                <a:latin typeface="Manrope"/>
              </a:rPr>
              <a:t>INTRANET VLI@</a:t>
            </a:r>
          </a:p>
        </p:txBody>
      </p:sp>
      <p:sp>
        <p:nvSpPr>
          <p:cNvPr id="1222" name="Canal KPI INTRANET VLI@"/>
          <p:cNvSpPr txBox="1"/>
          <p:nvPr/>
        </p:nvSpPr>
        <p:spPr>
          <a:xfrm>
            <a:off x="5056631" y="6053327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B52"/>
                </a:solidFill>
                <a:latin typeface="Manrope"/>
              </a:rPr>
              <a:t>114</a:t>
            </a:r>
            <a:r>
              <a:rPr sz="950" b="0">
                <a:solidFill>
                  <a:srgbClr val="6B7894"/>
                </a:solidFill>
                <a:latin typeface="Manrope"/>
              </a:rPr>
              <a:t>  exibições</a:t>
            </a:r>
          </a:p>
        </p:txBody>
      </p:sp>
      <p:sp>
        <p:nvSpPr>
          <p:cNvPr id="1223" name="Canal detalhe INTRANET VLI@"/>
          <p:cNvSpPr txBox="1"/>
          <p:nvPr/>
        </p:nvSpPr>
        <p:spPr>
          <a:xfrm>
            <a:off x="5056631" y="638251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894"/>
                </a:solidFill>
                <a:latin typeface="Manrope"/>
              </a:rPr>
              <a:t>matéria educativa sobre trânsito</a:t>
            </a:r>
          </a:p>
        </p:txBody>
      </p:sp>
      <p:sp>
        <p:nvSpPr>
          <p:cNvPr id="1224" name="Leitura interna"/>
          <p:cNvSpPr/>
          <p:nvPr/>
        </p:nvSpPr>
        <p:spPr>
          <a:xfrm>
            <a:off x="7296912" y="5870448"/>
            <a:ext cx="4590288" cy="822960"/>
          </a:xfrm>
          <a:prstGeom prst="roundRect">
            <a:avLst>
              <a:gd name="adj" fmla="val 5000"/>
            </a:avLst>
          </a:prstGeom>
          <a:solidFill>
            <a:srgbClr val="E6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Leitura interna texto"/>
          <p:cNvSpPr txBox="1"/>
          <p:nvPr/>
        </p:nvSpPr>
        <p:spPr>
          <a:xfrm>
            <a:off x="7406640" y="5916168"/>
            <a:ext cx="43891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37919"/>
                </a:solidFill>
                <a:latin typeface="Manrope"/>
              </a:rPr>
              <a:t>Leitura: </a:t>
            </a:r>
            <a:r>
              <a:rPr sz="1000" b="0">
                <a:solidFill>
                  <a:srgbClr val="142B52"/>
                </a:solidFill>
                <a:latin typeface="Manrope"/>
              </a:rPr>
              <a:t>ZAP teve 9,1% de interações, contra 24,6% da Virada MFA (mesmo volume).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F37919"/>
                </a:solidFill>
                <a:latin typeface="Manrope"/>
              </a:rPr>
              <a:t>Oportunidade: </a:t>
            </a:r>
            <a:r>
              <a:rPr sz="1000" b="0">
                <a:solidFill>
                  <a:srgbClr val="142B52"/>
                </a:solidFill>
                <a:latin typeface="Manrope"/>
              </a:rPr>
              <a:t>jornada contínua na semana, com depoimentos de empregados.</a:t>
            </a:r>
          </a:p>
        </p:txBody>
      </p:sp>
      <p:sp>
        <p:nvSpPr>
          <p:cNvPr id="1226" name="Rodapé"/>
          <p:cNvSpPr txBox="1"/>
          <p:nvPr/>
        </p:nvSpPr>
        <p:spPr>
          <a:xfrm>
            <a:off x="301752" y="6720840"/>
            <a:ext cx="1158544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894"/>
                </a:solidFill>
                <a:latin typeface="Manrope"/>
              </a:rPr>
              <a:t>Custo: orçado R$ 60 mil, realizado ~R$ 35 mil (−42%); última campanha R$ 115 mil (−70%). Alcances de frentes diferentes não são somáveis. Fontes: ANR SNT e Relatório de Comunicação Interna.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438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Manrope</vt:lpstr>
      <vt:lpstr>Manrope Medium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Joabe Goncalves Vieira</dc:creator>
  <cp:lastModifiedBy>Joabe Goncalves Vieira</cp:lastModifiedBy>
  <cp:revision>1</cp:revision>
  <dcterms:created xsi:type="dcterms:W3CDTF">2026-10-09T15:36:54Z</dcterms:created>
  <dcterms:modified xsi:type="dcterms:W3CDTF">2026-10-09T15:38:48Z</dcterms:modified>
</cp:coreProperties>
</file>