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83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Interações</c:v>
                </c:pt>
              </c:strCache>
            </c:strRef>
          </c:tx>
          <c:dPt>
            <c:idx val="0"/>
            <c:spPr>
              <a:solidFill>
                <a:srgbClr val="7AAAD4"/>
              </a:solidFill>
            </c:spPr>
          </c:dPt>
          <c:dPt>
            <c:idx val="1"/>
            <c:spPr>
              <a:solidFill>
                <a:srgbClr val="7AAAD4"/>
              </a:solidFill>
            </c:spPr>
          </c:dPt>
          <c:dPt>
            <c:idx val="2"/>
            <c:spPr>
              <a:solidFill>
                <a:srgbClr val="F37919"/>
              </a:solidFill>
            </c:spPr>
          </c:dPt>
          <c:cat>
            <c:strRef>
              <c:f>Sheet1!$A$2:$A$4</c:f>
              <c:strCache>
                <c:ptCount val="3"/>
                <c:pt idx="0">
                  <c:v>Virada MFA</c:v>
                </c:pt>
                <c:pt idx="1">
                  <c:v>Semana do Cliente</c:v>
                </c:pt>
                <c:pt idx="2">
                  <c:v>Semana do Trânsito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0.246</c:v>
                </c:pt>
                <c:pt idx="1">
                  <c:v>0.164</c:v>
                </c:pt>
                <c:pt idx="2">
                  <c:v>0.091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42B5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43597E"/>
          </a:solidFill>
          <a:latin typeface="Manrope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C3E15A-FAB1-43A3-8336-CFEFCDE67CF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5A90B8-059A-41BA-BDA8-8EDDDCCD51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27623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h32b996b1233d03f5_28_3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0" name="Google Shape;1120;h32b996b1233d03f5_28_3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One page SNT: Mídia on/off (ANR), Imprensa (69 inserções, 6,3 mi de alcance, recorde) e Comunicação Interna (relatório de setembro).</a:t>
            </a:r>
          </a:p>
        </p:txBody>
      </p:sp>
      <p:sp>
        <p:nvSpPr>
          <p:cNvPr id="1121" name="Google Shape;1121;h32b996b1233d03f5_28_3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0F3D75-9A4A-DBFA-A909-5696E1F6B1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B6646B8-464D-392B-56AD-EAEFDC79B3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4AF1321-46C4-6C10-BEAF-04D7ABC6A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96F0986-D66A-8AEE-F151-AE1262FA2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12370C-14F5-8067-C419-F95331CA8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310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BC7C3C-3E5C-C7CE-96CC-ECB45F503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80FA34-01EA-F3C9-B438-073040089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C74B58F-7E3E-AC40-357A-D22FDB253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B01722-A6C4-65FE-C88F-D71861412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6D62BA-B5B6-CDF9-5CBB-C4CB1A4A8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2688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2458A4-8ABA-6DDB-58FB-CD1717C18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A6FB7B5-17FC-E1EE-295B-22005EFB93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222420E-05CA-5FA2-030D-9EC8FA8AC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86AAF40-561F-2329-B14E-DF2687AF0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BA3EA07-9456-88BB-0A78-3E559A676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1978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08CE2E-2F85-8517-60A5-26BCAAFA8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F6F48FF-8570-404D-880D-D3AF0B9B32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F9E1924-05A2-367F-CDD6-6EFF3D66C8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D8BF7A0-38AC-0D7A-3D6C-D5CE69CE4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733BF8D-5955-68E3-8433-DA02F3870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4CEA8E2-493B-F2D0-4012-B27B869D9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6371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D9B8B6-521F-CC97-C702-EA48405F3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CC9A626-8F84-FEA0-F372-2C60F5E772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04706C9-B7EA-D78B-6E95-9B11769848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461312D-6260-90B7-08D3-03739D082D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47E9310-6649-CCC9-7B06-42DFF122E2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3D6A3E2-78AA-E703-7289-FE22F5259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687529F-5CD2-CCB4-EC3E-4E86FB710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071DF1C6-7B39-AE59-5A1C-1BEF72744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95258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3BA275-2C94-F0B5-8954-84DBAF80E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348B870-291D-EF5F-E128-425E36E6C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84EE70F-02D9-A902-B498-143C398E1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3D0DF1C-C0F1-4041-828C-8A65D0E12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40208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58015FA2-F844-D660-97BD-B346B9D01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A18AE29-4449-D022-B72F-33E4898B7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00523EB-F691-69EF-5632-A271D6FC9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9612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638989-71F1-BAAF-4572-9CC691C9A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A03E44-D99B-1204-A8E5-EB186C5EAB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8B96E15-FE78-EEA9-7D0D-09DB4DE918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468908D-EBED-CB92-0F17-C6D628A20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9BE4A63-9CEF-6CAD-AB1E-237E99519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76840D8-4E55-B346-DF6F-9C7FD4EA4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76681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1CE745-1FFA-BF6C-00A2-4696F5213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1655903F-BC22-5519-8767-49B1BEF407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16B41E4-2428-4862-56E3-83F4B21DDE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942CAAC-875D-FDA6-F930-3C3428EB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D1FD59B-3533-EB4D-7DB4-F2C2B9A8B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A7B968F-73D2-AF6E-8A05-B58E31661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8839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4BB61C-4A8F-CD62-BB02-680DCFD18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F6B4F1A-4DEC-6B48-9A30-E3B5DA6B5F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B4905A-3A22-67AC-6690-F5453A7D8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6DD3F0B-0DA6-DC3F-D4CD-A91C3AA10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4791798-ACAD-1A35-68A2-A32060C8A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4748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BF191FC-E40C-48EC-CCB3-2B7F25AD70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1F90050-E56A-1490-8663-2926E02263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FC71FE5-6D8E-156B-9F9E-924C66AB1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F48D0C5-B62C-4B76-F4EA-2A1E0811F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13932E0-BD04-5DCC-7A72-EBD162E46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52473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47800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B3D9158A-0CCE-AEA0-B1EF-5118A868A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E60D887-A565-84E1-2EAF-6E9D870945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C7FF9B7-4291-474C-3E5F-C04C8186AE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4EE3BE-682A-4A39-93D8-C46E7D90425C}" type="datetimeFigureOut">
              <a:rPr lang="pt-BR" smtClean="0"/>
              <a:t>09/10/2026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0F48096-D8A8-9831-8719-DA7C3C0D0A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B193B2F-1409-6E3B-83B2-A7AF8B5CFA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F324B3-53F6-4C79-8E76-C2E36BC5DC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6317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p31"/>
          <p:cNvSpPr/>
          <p:nvPr/>
        </p:nvSpPr>
        <p:spPr>
          <a:xfrm>
            <a:off x="0" y="0"/>
            <a:ext cx="12191700" cy="960000"/>
          </a:xfrm>
          <a:prstGeom prst="rect">
            <a:avLst/>
          </a:prstGeom>
          <a:solidFill>
            <a:srgbClr val="1971B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1124" name="Google Shape;1124;p3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4048" y="219456"/>
            <a:ext cx="1097283" cy="566929"/>
          </a:xfrm>
          <a:prstGeom prst="rect">
            <a:avLst/>
          </a:prstGeom>
          <a:noFill/>
          <a:ln>
            <a:noFill/>
          </a:ln>
        </p:spPr>
      </p:pic>
      <p:sp>
        <p:nvSpPr>
          <p:cNvPr id="1125" name="Google Shape;1125;p31"/>
          <p:cNvSpPr/>
          <p:nvPr/>
        </p:nvSpPr>
        <p:spPr>
          <a:xfrm>
            <a:off x="1737360" y="228600"/>
            <a:ext cx="13800" cy="567000"/>
          </a:xfrm>
          <a:prstGeom prst="rect">
            <a:avLst/>
          </a:prstGeom>
          <a:solidFill>
            <a:srgbClr val="FFFFFF">
              <a:alpha val="2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6" name="Google Shape;1126;p31"/>
          <p:cNvSpPr txBox="1"/>
          <p:nvPr/>
        </p:nvSpPr>
        <p:spPr>
          <a:xfrm>
            <a:off x="1956816" y="237744"/>
            <a:ext cx="69495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7AAAD4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7AAAD4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ONEPAGE DE CAMPANHA</a:t>
            </a:r>
            <a:endParaRPr sz="1050" i="0" u="none" strike="noStrike" cap="none">
              <a:solidFill>
                <a:schemeClr val="dk1"/>
              </a:solidFill>
              <a:latin typeface="Manrope Medium"/>
              <a:ea typeface="Manrope Medium"/>
              <a:cs typeface="Manrope Medium"/>
              <a:sym typeface="Manrope Medium"/>
            </a:endParaRPr>
          </a:p>
        </p:txBody>
      </p:sp>
      <p:sp>
        <p:nvSpPr>
          <p:cNvPr id="1127" name="Google Shape;1127;p31"/>
          <p:cNvSpPr txBox="1"/>
          <p:nvPr/>
        </p:nvSpPr>
        <p:spPr>
          <a:xfrm>
            <a:off x="1956816" y="475488"/>
            <a:ext cx="74982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lang="en-US" sz="1500" b="1">
                <a:solidFill>
                  <a:srgbClr val="FFFFFF"/>
                </a:solidFill>
                <a:latin typeface="Manrope"/>
                <a:ea typeface="Manrope"/>
                <a:cs typeface="Manrope"/>
                <a:sym typeface="Manrope"/>
              </a:rPr>
              <a:t>SNT | Movimento Nacional pela Segurança Ferroviária</a:t>
            </a:r>
            <a:endParaRPr sz="1500" b="1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1128" name="Google Shape;1128;p3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384048"/>
            <a:ext cx="1097280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129" name="Headline"/>
          <p:cNvSpPr/>
          <p:nvPr/>
        </p:nvSpPr>
        <p:spPr>
          <a:xfrm>
            <a:off x="411480" y="1097280"/>
            <a:ext cx="11521440" cy="502920"/>
          </a:xfrm>
          <a:prstGeom prst="roundRect">
            <a:avLst>
              <a:gd name="adj" fmla="val 6000"/>
            </a:avLst>
          </a:prstGeom>
          <a:solidFill>
            <a:srgbClr val="E6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Headline texto"/>
          <p:cNvSpPr txBox="1"/>
          <p:nvPr/>
        </p:nvSpPr>
        <p:spPr>
          <a:xfrm>
            <a:off x="594360" y="1097280"/>
            <a:ext cx="11155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37919"/>
                </a:solidFill>
                <a:latin typeface="Manrope"/>
              </a:rPr>
              <a:t>SNT em síntese: </a:t>
            </a:r>
            <a:r>
              <a:rPr sz="1250" b="0">
                <a:solidFill>
                  <a:srgbClr val="142B52"/>
                </a:solidFill>
                <a:latin typeface="Manrope"/>
              </a:rPr>
              <a:t>uma mensagem, quatro frentes — e a imprensa entregou o maior alcance já registrado (6,3 mi), enquanto a Comunicação Interna foi o elo menos explorado.</a:t>
            </a:r>
          </a:p>
        </p:txBody>
      </p:sp>
      <p:sp>
        <p:nvSpPr>
          <p:cNvPr id="1131" name="Card IMPRENSA"/>
          <p:cNvSpPr/>
          <p:nvPr/>
        </p:nvSpPr>
        <p:spPr>
          <a:xfrm>
            <a:off x="411480" y="1783080"/>
            <a:ext cx="274320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379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Título IMPRENSA"/>
          <p:cNvSpPr txBox="1"/>
          <p:nvPr/>
        </p:nvSpPr>
        <p:spPr>
          <a:xfrm>
            <a:off x="576072" y="1911095"/>
            <a:ext cx="241401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37919"/>
                </a:solidFill>
                <a:latin typeface="Manrope"/>
              </a:rPr>
              <a:t>IMPRENSA</a:t>
            </a:r>
          </a:p>
        </p:txBody>
      </p:sp>
      <p:sp>
        <p:nvSpPr>
          <p:cNvPr id="1133" name="KPI alcance imprensa"/>
          <p:cNvSpPr txBox="1"/>
          <p:nvPr/>
        </p:nvSpPr>
        <p:spPr>
          <a:xfrm>
            <a:off x="576072" y="2167128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37919"/>
                </a:solidFill>
                <a:latin typeface="Manrope"/>
              </a:rPr>
              <a:t>6,3 mi</a:t>
            </a:r>
          </a:p>
        </p:txBody>
      </p:sp>
      <p:sp>
        <p:nvSpPr>
          <p:cNvPr id="1134" name="Rótulo alcance"/>
          <p:cNvSpPr txBox="1"/>
          <p:nvPr/>
        </p:nvSpPr>
        <p:spPr>
          <a:xfrm>
            <a:off x="576072" y="2770632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894"/>
                </a:solidFill>
                <a:latin typeface="Manrope"/>
              </a:rPr>
              <a:t>de alcance em veículos</a:t>
            </a:r>
          </a:p>
        </p:txBody>
      </p:sp>
      <p:sp>
        <p:nvSpPr>
          <p:cNvPr id="1135" name="Chip RECORDE HISTÓRICO"/>
          <p:cNvSpPr/>
          <p:nvPr/>
        </p:nvSpPr>
        <p:spPr>
          <a:xfrm>
            <a:off x="576072" y="3044952"/>
            <a:ext cx="1737360" cy="201168"/>
          </a:xfrm>
          <a:prstGeom prst="roundRect">
            <a:avLst>
              <a:gd name="adj" fmla="val 50000"/>
            </a:avLst>
          </a:prstGeom>
          <a:solidFill>
            <a:srgbClr val="F37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Chip texto"/>
          <p:cNvSpPr txBox="1"/>
          <p:nvPr/>
        </p:nvSpPr>
        <p:spPr>
          <a:xfrm>
            <a:off x="576072" y="3044952"/>
            <a:ext cx="17373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nrope"/>
              </a:rPr>
              <a:t>RECORDE HISTÓRICO</a:t>
            </a:r>
          </a:p>
        </p:txBody>
      </p:sp>
      <p:sp>
        <p:nvSpPr>
          <p:cNvPr id="1137" name="KPI inserções"/>
          <p:cNvSpPr txBox="1"/>
          <p:nvPr/>
        </p:nvSpPr>
        <p:spPr>
          <a:xfrm>
            <a:off x="576072" y="335584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2B52"/>
                </a:solidFill>
                <a:latin typeface="Manrope"/>
              </a:rPr>
              <a:t>69</a:t>
            </a:r>
          </a:p>
        </p:txBody>
      </p:sp>
      <p:sp>
        <p:nvSpPr>
          <p:cNvPr id="1138" name="Rótulo inserções"/>
          <p:cNvSpPr txBox="1"/>
          <p:nvPr/>
        </p:nvSpPr>
        <p:spPr>
          <a:xfrm>
            <a:off x="576072" y="3703320"/>
            <a:ext cx="11887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894"/>
                </a:solidFill>
                <a:latin typeface="Manrope"/>
              </a:rPr>
              <a:t>inserções</a:t>
            </a:r>
          </a:p>
        </p:txBody>
      </p:sp>
      <p:sp>
        <p:nvSpPr>
          <p:cNvPr id="1139" name="KPI potencial"/>
          <p:cNvSpPr txBox="1"/>
          <p:nvPr/>
        </p:nvSpPr>
        <p:spPr>
          <a:xfrm>
            <a:off x="1783080" y="335584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2B52"/>
                </a:solidFill>
                <a:latin typeface="Manrope"/>
              </a:rPr>
              <a:t>10,8 mi</a:t>
            </a:r>
          </a:p>
        </p:txBody>
      </p:sp>
      <p:sp>
        <p:nvSpPr>
          <p:cNvPr id="1140" name="Rótulo potencial"/>
          <p:cNvSpPr txBox="1"/>
          <p:nvPr/>
        </p:nvSpPr>
        <p:spPr>
          <a:xfrm>
            <a:off x="1783080" y="370332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894"/>
                </a:solidFill>
                <a:latin typeface="Manrope"/>
              </a:rPr>
              <a:t>alcance potencial em redes públicas</a:t>
            </a:r>
          </a:p>
        </p:txBody>
      </p:sp>
      <p:sp>
        <p:nvSpPr>
          <p:cNvPr id="1141" name="Card MÍDIA ON"/>
          <p:cNvSpPr/>
          <p:nvPr/>
        </p:nvSpPr>
        <p:spPr>
          <a:xfrm>
            <a:off x="3337560" y="1783080"/>
            <a:ext cx="274320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Título MÍDIA ON"/>
          <p:cNvSpPr txBox="1"/>
          <p:nvPr/>
        </p:nvSpPr>
        <p:spPr>
          <a:xfrm>
            <a:off x="3502152" y="1911095"/>
            <a:ext cx="241401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43597E"/>
                </a:solidFill>
                <a:latin typeface="Manrope"/>
              </a:rPr>
              <a:t>MÍDIA ON</a:t>
            </a:r>
          </a:p>
        </p:txBody>
      </p:sp>
      <p:sp>
        <p:nvSpPr>
          <p:cNvPr id="1143" name="KPI Alcance"/>
          <p:cNvSpPr txBox="1"/>
          <p:nvPr/>
        </p:nvSpPr>
        <p:spPr>
          <a:xfrm>
            <a:off x="3502152" y="2167128"/>
            <a:ext cx="1234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42B52"/>
                </a:solidFill>
                <a:latin typeface="Manrope"/>
              </a:rPr>
              <a:t>1,36 mi</a:t>
            </a:r>
          </a:p>
        </p:txBody>
      </p:sp>
      <p:sp>
        <p:nvSpPr>
          <p:cNvPr id="1144" name="Rótulo Alcance"/>
          <p:cNvSpPr txBox="1"/>
          <p:nvPr/>
        </p:nvSpPr>
        <p:spPr>
          <a:xfrm>
            <a:off x="3502152" y="2468880"/>
            <a:ext cx="12344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894"/>
                </a:solidFill>
                <a:latin typeface="Manrope"/>
              </a:rPr>
              <a:t>Alcance</a:t>
            </a:r>
          </a:p>
        </p:txBody>
      </p:sp>
      <p:sp>
        <p:nvSpPr>
          <p:cNvPr id="1145" name="Delta Alcance"/>
          <p:cNvSpPr txBox="1"/>
          <p:nvPr/>
        </p:nvSpPr>
        <p:spPr>
          <a:xfrm>
            <a:off x="3502152" y="2642616"/>
            <a:ext cx="12344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B7F4E"/>
                </a:solidFill>
                <a:latin typeface="Manrope"/>
              </a:rPr>
              <a:t>+15% vs proj.</a:t>
            </a:r>
          </a:p>
        </p:txBody>
      </p:sp>
      <p:sp>
        <p:nvSpPr>
          <p:cNvPr id="1146" name="KPI Impressões"/>
          <p:cNvSpPr txBox="1"/>
          <p:nvPr/>
        </p:nvSpPr>
        <p:spPr>
          <a:xfrm>
            <a:off x="4782312" y="2167128"/>
            <a:ext cx="1234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42B52"/>
                </a:solidFill>
                <a:latin typeface="Manrope"/>
              </a:rPr>
              <a:t>2,45 mi</a:t>
            </a:r>
          </a:p>
        </p:txBody>
      </p:sp>
      <p:sp>
        <p:nvSpPr>
          <p:cNvPr id="1147" name="Rótulo Impressões"/>
          <p:cNvSpPr txBox="1"/>
          <p:nvPr/>
        </p:nvSpPr>
        <p:spPr>
          <a:xfrm>
            <a:off x="4782312" y="2468880"/>
            <a:ext cx="12344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894"/>
                </a:solidFill>
                <a:latin typeface="Manrope"/>
              </a:rPr>
              <a:t>Impressões</a:t>
            </a:r>
          </a:p>
        </p:txBody>
      </p:sp>
      <p:sp>
        <p:nvSpPr>
          <p:cNvPr id="1148" name="Delta Impressões"/>
          <p:cNvSpPr txBox="1"/>
          <p:nvPr/>
        </p:nvSpPr>
        <p:spPr>
          <a:xfrm>
            <a:off x="4782312" y="2642616"/>
            <a:ext cx="12344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37919"/>
                </a:solidFill>
                <a:latin typeface="Manrope"/>
              </a:rPr>
              <a:t>−33% vs proj.</a:t>
            </a:r>
          </a:p>
        </p:txBody>
      </p:sp>
      <p:sp>
        <p:nvSpPr>
          <p:cNvPr id="1149" name="KPI Cliques"/>
          <p:cNvSpPr txBox="1"/>
          <p:nvPr/>
        </p:nvSpPr>
        <p:spPr>
          <a:xfrm>
            <a:off x="3502152" y="3035808"/>
            <a:ext cx="1234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42B52"/>
                </a:solidFill>
                <a:latin typeface="Manrope"/>
              </a:rPr>
              <a:t>29.233</a:t>
            </a:r>
          </a:p>
        </p:txBody>
      </p:sp>
      <p:sp>
        <p:nvSpPr>
          <p:cNvPr id="1150" name="Rótulo Cliques"/>
          <p:cNvSpPr txBox="1"/>
          <p:nvPr/>
        </p:nvSpPr>
        <p:spPr>
          <a:xfrm>
            <a:off x="3502152" y="3337560"/>
            <a:ext cx="12344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894"/>
                </a:solidFill>
                <a:latin typeface="Manrope"/>
              </a:rPr>
              <a:t>Cliques</a:t>
            </a:r>
          </a:p>
        </p:txBody>
      </p:sp>
      <p:sp>
        <p:nvSpPr>
          <p:cNvPr id="1151" name="Delta Cliques"/>
          <p:cNvSpPr txBox="1"/>
          <p:nvPr/>
        </p:nvSpPr>
        <p:spPr>
          <a:xfrm>
            <a:off x="3502152" y="3511296"/>
            <a:ext cx="12344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B7F4E"/>
                </a:solidFill>
                <a:latin typeface="Manrope"/>
              </a:rPr>
              <a:t>+26% vs proj.</a:t>
            </a:r>
          </a:p>
        </p:txBody>
      </p:sp>
      <p:sp>
        <p:nvSpPr>
          <p:cNvPr id="1152" name="KPI Novos seguidores"/>
          <p:cNvSpPr txBox="1"/>
          <p:nvPr/>
        </p:nvSpPr>
        <p:spPr>
          <a:xfrm>
            <a:off x="4782312" y="3035808"/>
            <a:ext cx="1234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42B52"/>
                </a:solidFill>
                <a:latin typeface="Manrope"/>
              </a:rPr>
              <a:t>137</a:t>
            </a:r>
          </a:p>
        </p:txBody>
      </p:sp>
      <p:sp>
        <p:nvSpPr>
          <p:cNvPr id="1153" name="Rótulo Novos seguidores"/>
          <p:cNvSpPr txBox="1"/>
          <p:nvPr/>
        </p:nvSpPr>
        <p:spPr>
          <a:xfrm>
            <a:off x="4782312" y="3337560"/>
            <a:ext cx="12344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894"/>
                </a:solidFill>
                <a:latin typeface="Manrope"/>
              </a:rPr>
              <a:t>Novos seguidores</a:t>
            </a:r>
          </a:p>
        </p:txBody>
      </p:sp>
      <p:sp>
        <p:nvSpPr>
          <p:cNvPr id="1154" name="Delta Novos seguidores"/>
          <p:cNvSpPr txBox="1"/>
          <p:nvPr/>
        </p:nvSpPr>
        <p:spPr>
          <a:xfrm>
            <a:off x="4782312" y="3511296"/>
            <a:ext cx="12344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B7F4E"/>
                </a:solidFill>
                <a:latin typeface="Manrope"/>
              </a:rPr>
              <a:t>+2.640% vs proj.</a:t>
            </a:r>
          </a:p>
        </p:txBody>
      </p:sp>
      <p:sp>
        <p:nvSpPr>
          <p:cNvPr id="1155" name="Invest ON"/>
          <p:cNvSpPr txBox="1"/>
          <p:nvPr/>
        </p:nvSpPr>
        <p:spPr>
          <a:xfrm>
            <a:off x="3502152" y="3931920"/>
            <a:ext cx="2468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894"/>
                </a:solidFill>
                <a:latin typeface="Manrope"/>
              </a:rPr>
              <a:t>Investimento líquido  </a:t>
            </a:r>
            <a:r>
              <a:rPr sz="950" b="1">
                <a:solidFill>
                  <a:srgbClr val="142B52"/>
                </a:solidFill>
                <a:latin typeface="Manrope"/>
              </a:rPr>
              <a:t>R$ 10.539,60</a:t>
            </a:r>
          </a:p>
        </p:txBody>
      </p:sp>
      <p:sp>
        <p:nvSpPr>
          <p:cNvPr id="1156" name="Card MÍDIA OFF | OOH BETIM (MG)"/>
          <p:cNvSpPr/>
          <p:nvPr/>
        </p:nvSpPr>
        <p:spPr>
          <a:xfrm>
            <a:off x="6263640" y="1783080"/>
            <a:ext cx="274320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Título MÍDIA OFF | OOH BETIM (MG)"/>
          <p:cNvSpPr txBox="1"/>
          <p:nvPr/>
        </p:nvSpPr>
        <p:spPr>
          <a:xfrm>
            <a:off x="6428232" y="1911095"/>
            <a:ext cx="241401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43597E"/>
                </a:solidFill>
                <a:latin typeface="Manrope"/>
              </a:rPr>
              <a:t>MÍDIA OFF | OOH BETIM (MG)</a:t>
            </a:r>
          </a:p>
        </p:txBody>
      </p:sp>
      <p:sp>
        <p:nvSpPr>
          <p:cNvPr id="1158" name="KPI pontos"/>
          <p:cNvSpPr txBox="1"/>
          <p:nvPr/>
        </p:nvSpPr>
        <p:spPr>
          <a:xfrm>
            <a:off x="6428232" y="216712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42B52"/>
                </a:solidFill>
                <a:latin typeface="Manrope"/>
              </a:rPr>
              <a:t>4</a:t>
            </a:r>
          </a:p>
        </p:txBody>
      </p:sp>
      <p:sp>
        <p:nvSpPr>
          <p:cNvPr id="1159" name="Rótulo pontos"/>
          <p:cNvSpPr txBox="1"/>
          <p:nvPr/>
        </p:nvSpPr>
        <p:spPr>
          <a:xfrm>
            <a:off x="6428232" y="2587752"/>
            <a:ext cx="1188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894"/>
                </a:solidFill>
                <a:latin typeface="Manrope"/>
              </a:rPr>
              <a:t>pontos próximos à passagem em nível</a:t>
            </a:r>
          </a:p>
        </p:txBody>
      </p:sp>
      <p:sp>
        <p:nvSpPr>
          <p:cNvPr id="1160" name="KPI dias"/>
          <p:cNvSpPr txBox="1"/>
          <p:nvPr/>
        </p:nvSpPr>
        <p:spPr>
          <a:xfrm>
            <a:off x="7680960" y="216712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42B52"/>
                </a:solidFill>
                <a:latin typeface="Manrope"/>
              </a:rPr>
              <a:t>20 dias</a:t>
            </a:r>
          </a:p>
        </p:txBody>
      </p:sp>
      <p:sp>
        <p:nvSpPr>
          <p:cNvPr id="1161" name="Rótulo dias"/>
          <p:cNvSpPr txBox="1"/>
          <p:nvPr/>
        </p:nvSpPr>
        <p:spPr>
          <a:xfrm>
            <a:off x="7680960" y="2587752"/>
            <a:ext cx="12801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894"/>
                </a:solidFill>
                <a:latin typeface="Manrope"/>
              </a:rPr>
              <a:t>veiculação 15/09 a 04/10</a:t>
            </a:r>
          </a:p>
        </p:txBody>
      </p:sp>
      <p:sp>
        <p:nvSpPr>
          <p:cNvPr id="1162" name="Formatos OOH"/>
          <p:cNvSpPr txBox="1"/>
          <p:nvPr/>
        </p:nvSpPr>
        <p:spPr>
          <a:xfrm>
            <a:off x="6428232" y="297180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43597E"/>
                </a:solidFill>
                <a:latin typeface="Manrope"/>
              </a:rPr>
              <a:t>Painel de LED, banca de LED e outdoor, cobrindo pré, durante e pós Dia D.</a:t>
            </a:r>
          </a:p>
        </p:txBody>
      </p:sp>
      <p:sp>
        <p:nvSpPr>
          <p:cNvPr id="1163" name="Divisor"/>
          <p:cNvSpPr/>
          <p:nvPr/>
        </p:nvSpPr>
        <p:spPr>
          <a:xfrm>
            <a:off x="6428232" y="3447288"/>
            <a:ext cx="2414016" cy="0"/>
          </a:xfrm>
          <a:prstGeom prst="rect">
            <a:avLst/>
          </a:prstGeom>
          <a:noFill/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Collab"/>
          <p:cNvSpPr txBox="1"/>
          <p:nvPr/>
        </p:nvSpPr>
        <p:spPr>
          <a:xfrm>
            <a:off x="6428232" y="3538728"/>
            <a:ext cx="2468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37919"/>
                </a:solidFill>
                <a:latin typeface="Manrope"/>
              </a:rPr>
              <a:t>155 mil</a:t>
            </a:r>
            <a:r>
              <a:rPr sz="950" b="0">
                <a:solidFill>
                  <a:srgbClr val="43597E"/>
                </a:solidFill>
                <a:latin typeface="Manrope"/>
              </a:rPr>
              <a:t> views orgânicas nos posts Collab com ANTF e operadoras</a:t>
            </a:r>
          </a:p>
        </p:txBody>
      </p:sp>
      <p:sp>
        <p:nvSpPr>
          <p:cNvPr id="1165" name="Invest OFF"/>
          <p:cNvSpPr txBox="1"/>
          <p:nvPr/>
        </p:nvSpPr>
        <p:spPr>
          <a:xfrm>
            <a:off x="6428232" y="3977639"/>
            <a:ext cx="2468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894"/>
                </a:solidFill>
                <a:latin typeface="Manrope"/>
              </a:rPr>
              <a:t>Investimento líquido  </a:t>
            </a:r>
            <a:r>
              <a:rPr sz="950" b="1">
                <a:solidFill>
                  <a:srgbClr val="142B52"/>
                </a:solidFill>
                <a:latin typeface="Manrope"/>
              </a:rPr>
              <a:t>R$ 5.738,01</a:t>
            </a:r>
          </a:p>
        </p:txBody>
      </p:sp>
      <p:sp>
        <p:nvSpPr>
          <p:cNvPr id="1166" name="Card INTERNA"/>
          <p:cNvSpPr/>
          <p:nvPr/>
        </p:nvSpPr>
        <p:spPr>
          <a:xfrm>
            <a:off x="9189720" y="1783080"/>
            <a:ext cx="274320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2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Título INTERNA"/>
          <p:cNvSpPr txBox="1"/>
          <p:nvPr/>
        </p:nvSpPr>
        <p:spPr>
          <a:xfrm>
            <a:off x="9354312" y="1911095"/>
            <a:ext cx="241401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43597E"/>
                </a:solidFill>
                <a:latin typeface="Manrope"/>
              </a:rPr>
              <a:t>INTERNA</a:t>
            </a:r>
          </a:p>
        </p:txBody>
      </p:sp>
      <p:sp>
        <p:nvSpPr>
          <p:cNvPr id="1168" name="Chip JORNADA INTEGRADA"/>
          <p:cNvSpPr/>
          <p:nvPr/>
        </p:nvSpPr>
        <p:spPr>
          <a:xfrm>
            <a:off x="10378440" y="1892807"/>
            <a:ext cx="1389888" cy="201168"/>
          </a:xfrm>
          <a:prstGeom prst="roundRect">
            <a:avLst>
              <a:gd name="adj" fmla="val 50000"/>
            </a:avLst>
          </a:prstGeom>
          <a:solidFill>
            <a:srgbClr val="E6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Chip texto"/>
          <p:cNvSpPr txBox="1"/>
          <p:nvPr/>
        </p:nvSpPr>
        <p:spPr>
          <a:xfrm>
            <a:off x="10378440" y="1892807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43597E"/>
                </a:solidFill>
                <a:latin typeface="Manrope"/>
              </a:rPr>
              <a:t>JORNADA INTEGRADA</a:t>
            </a:r>
          </a:p>
        </p:txBody>
      </p:sp>
      <p:sp>
        <p:nvSpPr>
          <p:cNvPr id="1170" name="Canal E-MAIL MKT"/>
          <p:cNvSpPr txBox="1"/>
          <p:nvPr/>
        </p:nvSpPr>
        <p:spPr>
          <a:xfrm>
            <a:off x="9354312" y="2194560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43597E"/>
                </a:solidFill>
                <a:latin typeface="Manrope"/>
              </a:rPr>
              <a:t>E-MAIL MKT</a:t>
            </a:r>
          </a:p>
        </p:txBody>
      </p:sp>
      <p:sp>
        <p:nvSpPr>
          <p:cNvPr id="1171" name="KPI E-MAIL MKT"/>
          <p:cNvSpPr txBox="1"/>
          <p:nvPr/>
        </p:nvSpPr>
        <p:spPr>
          <a:xfrm>
            <a:off x="9354312" y="2331720"/>
            <a:ext cx="1188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B52"/>
                </a:solidFill>
                <a:latin typeface="Manrope"/>
              </a:rPr>
              <a:t>16,7%</a:t>
            </a:r>
            <a:r>
              <a:rPr sz="900" b="0">
                <a:solidFill>
                  <a:srgbClr val="6B7894"/>
                </a:solidFill>
                <a:latin typeface="Manrope"/>
              </a:rPr>
              <a:t> abertura</a:t>
            </a:r>
          </a:p>
        </p:txBody>
      </p:sp>
      <p:sp>
        <p:nvSpPr>
          <p:cNvPr id="1172" name="Trilho E-MAIL MKT"/>
          <p:cNvSpPr/>
          <p:nvPr/>
        </p:nvSpPr>
        <p:spPr>
          <a:xfrm>
            <a:off x="10671048" y="2423160"/>
            <a:ext cx="1097280" cy="91440"/>
          </a:xfrm>
          <a:prstGeom prst="roundRect">
            <a:avLst>
              <a:gd name="adj" fmla="val 50000"/>
            </a:avLst>
          </a:prstGeom>
          <a:solidFill>
            <a:srgbClr val="E6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Barra E-MAIL MKT"/>
          <p:cNvSpPr/>
          <p:nvPr/>
        </p:nvSpPr>
        <p:spPr>
          <a:xfrm>
            <a:off x="10671048" y="2423160"/>
            <a:ext cx="183245" cy="91440"/>
          </a:xfrm>
          <a:prstGeom prst="roundRect">
            <a:avLst>
              <a:gd name="adj" fmla="val 50000"/>
            </a:avLst>
          </a:prstGeom>
          <a:solidFill>
            <a:srgbClr val="7A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Detalhe E-MAIL MKT"/>
          <p:cNvSpPr txBox="1"/>
          <p:nvPr/>
        </p:nvSpPr>
        <p:spPr>
          <a:xfrm>
            <a:off x="9354312" y="2651760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894"/>
                </a:solidFill>
                <a:latin typeface="Manrope"/>
              </a:rPr>
              <a:t>4.794 enviados · 4.345 entregues · 50 cliques</a:t>
            </a:r>
          </a:p>
        </p:txBody>
      </p:sp>
      <p:sp>
        <p:nvSpPr>
          <p:cNvPr id="1175" name="Canal ZAP VLI"/>
          <p:cNvSpPr txBox="1"/>
          <p:nvPr/>
        </p:nvSpPr>
        <p:spPr>
          <a:xfrm>
            <a:off x="9354312" y="2862072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43597E"/>
                </a:solidFill>
                <a:latin typeface="Manrope"/>
              </a:rPr>
              <a:t>ZAP VLI</a:t>
            </a:r>
          </a:p>
        </p:txBody>
      </p:sp>
      <p:sp>
        <p:nvSpPr>
          <p:cNvPr id="1176" name="KPI ZAP VLI"/>
          <p:cNvSpPr txBox="1"/>
          <p:nvPr/>
        </p:nvSpPr>
        <p:spPr>
          <a:xfrm>
            <a:off x="9354312" y="2999232"/>
            <a:ext cx="1188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B52"/>
                </a:solidFill>
                <a:latin typeface="Manrope"/>
              </a:rPr>
              <a:t>56,5%</a:t>
            </a:r>
            <a:r>
              <a:rPr sz="900" b="0">
                <a:solidFill>
                  <a:srgbClr val="6B7894"/>
                </a:solidFill>
                <a:latin typeface="Manrope"/>
              </a:rPr>
              <a:t> leitura</a:t>
            </a:r>
          </a:p>
        </p:txBody>
      </p:sp>
      <p:sp>
        <p:nvSpPr>
          <p:cNvPr id="1177" name="Trilho ZAP VLI"/>
          <p:cNvSpPr/>
          <p:nvPr/>
        </p:nvSpPr>
        <p:spPr>
          <a:xfrm>
            <a:off x="10671048" y="3090672"/>
            <a:ext cx="1097280" cy="91440"/>
          </a:xfrm>
          <a:prstGeom prst="roundRect">
            <a:avLst>
              <a:gd name="adj" fmla="val 50000"/>
            </a:avLst>
          </a:prstGeom>
          <a:solidFill>
            <a:srgbClr val="E6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Barra ZAP VLI"/>
          <p:cNvSpPr/>
          <p:nvPr/>
        </p:nvSpPr>
        <p:spPr>
          <a:xfrm>
            <a:off x="10671048" y="3090672"/>
            <a:ext cx="619963" cy="91440"/>
          </a:xfrm>
          <a:prstGeom prst="roundRect">
            <a:avLst>
              <a:gd name="adj" fmla="val 50000"/>
            </a:avLst>
          </a:prstGeom>
          <a:solidFill>
            <a:srgbClr val="F37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Detalhe ZAP VLI"/>
          <p:cNvSpPr txBox="1"/>
          <p:nvPr/>
        </p:nvSpPr>
        <p:spPr>
          <a:xfrm>
            <a:off x="9354312" y="3319272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894"/>
                </a:solidFill>
                <a:latin typeface="Manrope"/>
              </a:rPr>
              <a:t>3.516 recebidas · 181 interações (9,1%)</a:t>
            </a:r>
          </a:p>
        </p:txBody>
      </p:sp>
      <p:sp>
        <p:nvSpPr>
          <p:cNvPr id="1180" name="Canal INTRANET VLI@"/>
          <p:cNvSpPr txBox="1"/>
          <p:nvPr/>
        </p:nvSpPr>
        <p:spPr>
          <a:xfrm>
            <a:off x="9354312" y="3529584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43597E"/>
                </a:solidFill>
                <a:latin typeface="Manrope"/>
              </a:rPr>
              <a:t>INTRANET VLI@</a:t>
            </a:r>
          </a:p>
        </p:txBody>
      </p:sp>
      <p:sp>
        <p:nvSpPr>
          <p:cNvPr id="1181" name="KPI INTRANET VLI@"/>
          <p:cNvSpPr txBox="1"/>
          <p:nvPr/>
        </p:nvSpPr>
        <p:spPr>
          <a:xfrm>
            <a:off x="9354312" y="3666744"/>
            <a:ext cx="1188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B52"/>
                </a:solidFill>
                <a:latin typeface="Manrope"/>
              </a:rPr>
              <a:t>114</a:t>
            </a:r>
            <a:r>
              <a:rPr sz="900" b="0">
                <a:solidFill>
                  <a:srgbClr val="6B7894"/>
                </a:solidFill>
                <a:latin typeface="Manrope"/>
              </a:rPr>
              <a:t> exibições</a:t>
            </a:r>
          </a:p>
        </p:txBody>
      </p:sp>
      <p:sp>
        <p:nvSpPr>
          <p:cNvPr id="1182" name="Detalhe INTRANET VLI@"/>
          <p:cNvSpPr txBox="1"/>
          <p:nvPr/>
        </p:nvSpPr>
        <p:spPr>
          <a:xfrm>
            <a:off x="9354312" y="3986783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894"/>
                </a:solidFill>
                <a:latin typeface="Manrope"/>
              </a:rPr>
              <a:t>matéria educativa, com dicas para o trânsito</a:t>
            </a:r>
          </a:p>
        </p:txBody>
      </p:sp>
      <p:sp>
        <p:nvSpPr>
          <p:cNvPr id="1183" name="Título criativos"/>
          <p:cNvSpPr txBox="1"/>
          <p:nvPr/>
        </p:nvSpPr>
        <p:spPr>
          <a:xfrm>
            <a:off x="411480" y="4434840"/>
            <a:ext cx="5029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43597E"/>
                </a:solidFill>
                <a:latin typeface="Manrope"/>
              </a:rPr>
              <a:t>CRIATIVOS DA CAMPANHA</a:t>
            </a:r>
          </a:p>
        </p:txBody>
      </p:sp>
      <p:pic>
        <p:nvPicPr>
          <p:cNvPr id="1184" name="Criativo 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709159"/>
            <a:ext cx="1108858" cy="1737360"/>
          </a:xfrm>
          <a:prstGeom prst="rect">
            <a:avLst/>
          </a:prstGeom>
        </p:spPr>
      </p:pic>
      <p:pic>
        <p:nvPicPr>
          <p:cNvPr id="1185" name="Criativo 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1639" y="4709159"/>
            <a:ext cx="1110478" cy="1737360"/>
          </a:xfrm>
          <a:prstGeom prst="rect">
            <a:avLst/>
          </a:prstGeom>
        </p:spPr>
      </p:pic>
      <p:pic>
        <p:nvPicPr>
          <p:cNvPr id="1186" name="Criativo 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71800" y="4709159"/>
            <a:ext cx="1052011" cy="1737360"/>
          </a:xfrm>
          <a:prstGeom prst="rect">
            <a:avLst/>
          </a:prstGeom>
        </p:spPr>
      </p:pic>
      <p:pic>
        <p:nvPicPr>
          <p:cNvPr id="1187" name="Criativo 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51959" y="4709159"/>
            <a:ext cx="1042416" cy="1737360"/>
          </a:xfrm>
          <a:prstGeom prst="rect">
            <a:avLst/>
          </a:prstGeom>
        </p:spPr>
      </p:pic>
      <p:sp>
        <p:nvSpPr>
          <p:cNvPr id="1188" name="Legenda criativos"/>
          <p:cNvSpPr txBox="1"/>
          <p:nvPr/>
        </p:nvSpPr>
        <p:spPr>
          <a:xfrm>
            <a:off x="411480" y="6537960"/>
            <a:ext cx="5120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894"/>
                </a:solidFill>
                <a:latin typeface="Manrope"/>
              </a:rPr>
              <a:t>Stories do Movimento Nacional pela Segurança Ferroviária</a:t>
            </a:r>
          </a:p>
        </p:txBody>
      </p:sp>
      <p:sp>
        <p:nvSpPr>
          <p:cNvPr id="1189" name="Painel leituras"/>
          <p:cNvSpPr/>
          <p:nvPr/>
        </p:nvSpPr>
        <p:spPr>
          <a:xfrm>
            <a:off x="5806440" y="4434840"/>
            <a:ext cx="6126480" cy="2057400"/>
          </a:xfrm>
          <a:prstGeom prst="roundRect">
            <a:avLst>
              <a:gd name="adj" fmla="val 6000"/>
            </a:avLst>
          </a:prstGeom>
          <a:solidFill>
            <a:srgbClr val="E6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ítulo leituras"/>
          <p:cNvSpPr txBox="1"/>
          <p:nvPr/>
        </p:nvSpPr>
        <p:spPr>
          <a:xfrm>
            <a:off x="5989320" y="4544568"/>
            <a:ext cx="3657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43597E"/>
                </a:solidFill>
                <a:latin typeface="Manrope"/>
              </a:rPr>
              <a:t>O QUE OS DADOS DIZEM</a:t>
            </a:r>
          </a:p>
        </p:txBody>
      </p:sp>
      <p:sp>
        <p:nvSpPr>
          <p:cNvPr id="1191" name="Número 1"/>
          <p:cNvSpPr/>
          <p:nvPr/>
        </p:nvSpPr>
        <p:spPr>
          <a:xfrm>
            <a:off x="5989320" y="4818888"/>
            <a:ext cx="237744" cy="237744"/>
          </a:xfrm>
          <a:prstGeom prst="ellipse">
            <a:avLst/>
          </a:prstGeom>
          <a:solidFill>
            <a:srgbClr val="F379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Num texto 1"/>
          <p:cNvSpPr txBox="1"/>
          <p:nvPr/>
        </p:nvSpPr>
        <p:spPr>
          <a:xfrm>
            <a:off x="5989320" y="48188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anrope"/>
              </a:rPr>
              <a:t>1</a:t>
            </a:r>
          </a:p>
        </p:txBody>
      </p:sp>
      <p:sp>
        <p:nvSpPr>
          <p:cNvPr id="1193" name="Leitura 1"/>
          <p:cNvSpPr txBox="1"/>
          <p:nvPr/>
        </p:nvSpPr>
        <p:spPr>
          <a:xfrm>
            <a:off x="6336792" y="480060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42B52"/>
                </a:solidFill>
                <a:latin typeface="Manrope"/>
              </a:rPr>
              <a:t>Imprensa foi o grande ganho. </a:t>
            </a:r>
            <a:r>
              <a:rPr sz="900" b="0">
                <a:solidFill>
                  <a:srgbClr val="43597E"/>
                </a:solidFill>
                <a:latin typeface="Manrope"/>
              </a:rPr>
              <a:t>Simulado e dados de segurança mobilizaram imprensa e comunidades locais, fortalecendo o IR da VLI em setembro.</a:t>
            </a:r>
          </a:p>
        </p:txBody>
      </p:sp>
      <p:sp>
        <p:nvSpPr>
          <p:cNvPr id="1194" name="Número 2"/>
          <p:cNvSpPr/>
          <p:nvPr/>
        </p:nvSpPr>
        <p:spPr>
          <a:xfrm>
            <a:off x="5989320" y="5367527"/>
            <a:ext cx="237744" cy="237744"/>
          </a:xfrm>
          <a:prstGeom prst="ellipse">
            <a:avLst/>
          </a:prstGeom>
          <a:solidFill>
            <a:srgbClr val="435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Num texto 2"/>
          <p:cNvSpPr txBox="1"/>
          <p:nvPr/>
        </p:nvSpPr>
        <p:spPr>
          <a:xfrm>
            <a:off x="5989320" y="536752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anrope"/>
              </a:rPr>
              <a:t>2</a:t>
            </a:r>
          </a:p>
        </p:txBody>
      </p:sp>
      <p:sp>
        <p:nvSpPr>
          <p:cNvPr id="1196" name="Leitura 2"/>
          <p:cNvSpPr txBox="1"/>
          <p:nvPr/>
        </p:nvSpPr>
        <p:spPr>
          <a:xfrm>
            <a:off x="6336792" y="534924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42B52"/>
                </a:solidFill>
                <a:latin typeface="Manrope"/>
              </a:rPr>
              <a:t>Mídia paga: eficiência em cliques. </a:t>
            </a:r>
            <a:r>
              <a:rPr sz="900" b="0">
                <a:solidFill>
                  <a:srgbClr val="43597E"/>
                </a:solidFill>
                <a:latin typeface="Manrope"/>
              </a:rPr>
              <a:t>Cliques +26% e seguidores acima do projetado, mesmo com impressões −33%. Público 45+ foi quase metade do alcance.</a:t>
            </a:r>
          </a:p>
        </p:txBody>
      </p:sp>
      <p:sp>
        <p:nvSpPr>
          <p:cNvPr id="1197" name="Número 3"/>
          <p:cNvSpPr/>
          <p:nvPr/>
        </p:nvSpPr>
        <p:spPr>
          <a:xfrm>
            <a:off x="5989320" y="5916167"/>
            <a:ext cx="237744" cy="237744"/>
          </a:xfrm>
          <a:prstGeom prst="ellipse">
            <a:avLst/>
          </a:prstGeom>
          <a:solidFill>
            <a:srgbClr val="435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Num texto 3"/>
          <p:cNvSpPr txBox="1"/>
          <p:nvPr/>
        </p:nvSpPr>
        <p:spPr>
          <a:xfrm>
            <a:off x="5989320" y="591616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Manrope"/>
              </a:rPr>
              <a:t>3</a:t>
            </a:r>
          </a:p>
        </p:txBody>
      </p:sp>
      <p:sp>
        <p:nvSpPr>
          <p:cNvPr id="1199" name="Leitura 3"/>
          <p:cNvSpPr txBox="1"/>
          <p:nvPr/>
        </p:nvSpPr>
        <p:spPr>
          <a:xfrm>
            <a:off x="6336792" y="5897879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42B52"/>
                </a:solidFill>
                <a:latin typeface="Manrope"/>
              </a:rPr>
              <a:t>Interna: tema forte, execução pontual. </a:t>
            </a:r>
            <a:r>
              <a:rPr sz="900" b="0">
                <a:solidFill>
                  <a:srgbClr val="43597E"/>
                </a:solidFill>
                <a:latin typeface="Manrope"/>
              </a:rPr>
              <a:t>No ZAP, mesmo volume de envios (4.046): 9,1% de interações contra 24,6% da Virada MFA. Faltou jornada contínua.</a:t>
            </a:r>
          </a:p>
        </p:txBody>
      </p:sp>
      <p:sp>
        <p:nvSpPr>
          <p:cNvPr id="1200" name="Título gráfico"/>
          <p:cNvSpPr txBox="1"/>
          <p:nvPr/>
        </p:nvSpPr>
        <p:spPr>
          <a:xfrm>
            <a:off x="9646920" y="4544568"/>
            <a:ext cx="2148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43597E"/>
                </a:solidFill>
                <a:latin typeface="Manrope"/>
              </a:rPr>
              <a:t>ZAP: % de interações por disparo</a:t>
            </a:r>
          </a:p>
        </p:txBody>
      </p:sp>
      <p:graphicFrame>
        <p:nvGraphicFramePr>
          <p:cNvPr id="1201" name="Gráfico ZAP"/>
          <p:cNvGraphicFramePr>
            <a:graphicFrameLocks noGrp="1"/>
          </p:cNvGraphicFramePr>
          <p:nvPr/>
        </p:nvGraphicFramePr>
        <p:xfrm>
          <a:off x="9555480" y="4892040"/>
          <a:ext cx="2286000" cy="1508760"/>
        </p:xfrm>
        <a:graphic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1202" name="Fonte"/>
          <p:cNvSpPr txBox="1"/>
          <p:nvPr/>
        </p:nvSpPr>
        <p:spPr>
          <a:xfrm>
            <a:off x="5806440" y="6537960"/>
            <a:ext cx="6126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6B7894"/>
                </a:solidFill>
                <a:latin typeface="Manrope"/>
              </a:rPr>
              <a:t>Fontes: ANR SNT (Komuh) e Relatório de Comunicação Interna, setembro. Projeções referem-se ao planejado da campanha.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438</Words>
  <Application>Microsoft Office PowerPoint</Application>
  <PresentationFormat>Widescreen</PresentationFormat>
  <Paragraphs>52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Manrope</vt:lpstr>
      <vt:lpstr>Manrope Medium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Joabe Goncalves Vieira</dc:creator>
  <cp:lastModifiedBy>Joabe Goncalves Vieira</cp:lastModifiedBy>
  <cp:revision>1</cp:revision>
  <dcterms:created xsi:type="dcterms:W3CDTF">2026-10-09T15:36:54Z</dcterms:created>
  <dcterms:modified xsi:type="dcterms:W3CDTF">2026-10-09T15:38:48Z</dcterms:modified>
</cp:coreProperties>
</file>